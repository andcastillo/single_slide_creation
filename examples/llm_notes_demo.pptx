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comments/comment1.xml" ContentType="application/vnd.openxmlformats-officedocument.presentationml.comment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presentation.xml" ContentType="application/vnd.openxmlformats-officedocument.presentationml.presentation.main+xml"/>
  <Override PartName="/ppt/commentAuthors.xml" ContentType="application/vnd.openxmlformats-officedocument.presentationml.commentAuthor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9144000" cy="6858000"/>
  <p:notesSz cx="7559675" cy="10691813"/>
</p:presentation>
</file>

<file path=ppt/commentAuthors.xml><?xml version="1.0" encoding="utf-8"?>
<p:cmAuthorLst xmlns:p="http://schemas.openxmlformats.org/presentationml/2006/main">
  <p:cmAuthor id="0" name="slidebuilder" initials="S" lastIdx="1" clrIdx="0"/>
</p:cmAuthorLst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<Relationship Id="rId6" Type="http://schemas.openxmlformats.org/officeDocument/2006/relationships/commentAuthors" Target="commentAuthors.xml"/>
</Relationships>
</file>

<file path=ppt/comments/comment1.xml><?xml version="1.0" encoding="utf-8"?>
<p:cmLst xmlns:p="http://schemas.openxmlformats.org/presentationml/2006/main">
  <p:cm authorId="0" dt="2026-09-23T21:51:46.000000000" idx="1">
    <p:pos x="5420" y="113"/>
    <p:text>1. Título: visible desde el inicio.
2. Subtítulo: aparecer con fundido tras el título.
3. Óvalos de atributos de CLIENTE (id_cliente, nombre): aparecer juntos.
4. Líneas que conectan esos óvalos con CLIENTE: aparecer.
5. Rectángulo CLIENTE: aparecer.
6. Línea de CLIENTE al rombo y etiqueta 1: aparecer.
7. Rombo realiza: aparecer.
8. Línea del rombo a PEDIDO y etiqueta N: aparecer.
9. Rectángulo PEDIDO: aparecer.
10. Óvalos de atributos de PEDIDO (id_pedido, fecha, total): aparecer juntos.
11. Líneas que conectan esos óvalos con PEDIDO: aparecer.
12. Caja inferior con la regla práctica: aparecer con fundido al final.</p:text>
  </p:cm>
</p:cmLst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EA67B05-E4E1-4B59-8BE8-7B460E2D335E}" type="slidenum"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Esta diapositiva introduce la relación uno a muchos, la más común en bases de datos relacionales.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El ejemplo es un cliente que realiza muchos pedidos. La clave es entender la asimetría: un cliente puede tener muchos pedidos, pero cada pedido pertenece a un único cliente. Por eso el lado CLIENTE lleva la cardinalidad 1 y el lado PEDIDO lleva N.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 el diagrama, los rectángulos son las entidades, el rombo es la relación y los óvalos son los atributos. Fíjate en que la clave de cada entidad está en negrita: id_cliente y id_pedido.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 regla práctica que aparece abajo es la que más se pregunta en el examen: la clave del lado uno viaja como clave foránea a la tabla del lado muchos. Es decir, la tabla PEDIDO contendrá una columna id_cliente que referencia a CLIENTE.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Pregunta a la clase: ¿dónde iría la clave foránea, en CLIENTE o en PEDIDO? Debería responderse que en PEDIDO, el lado N.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Pasemos ahora a ver cómo se traduce esto a tablas reales.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90C530-CE5A-4449-91DE-921B5F49F32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1776EFF-B59A-4725-8854-8BD68321B9C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6D44C3C-F508-48BA-9EDD-360FC10886D5}" type="slidenum"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1.xml"/><Relationship Id="rId3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solidFill>
            <a:srgbClr val="1F4E7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square" lIns="90000" tIns="45000" rIns="90000" bIns="45000" anchor="ctr">
            <a:noAutofit/>
          </a:bodyPr>
          <a:p>
            <a:pPr algn="ctr"/>
            <a:r>
              <a:rPr lang="en-GB" sz="3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RELACIÓN UNO A MUCHOS (1:N)</a:t>
            </a:r>
            <a:endParaRPr lang="en-GB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457200" y="1051560"/>
            <a:ext cx="8229600" cy="719280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5000" rIns="90000" bIns="45000" anchor="t" anchorCtr="1">
            <a:noAutofit/>
          </a:bodyPr>
          <a:p>
            <a:pPr algn="ctr"/>
            <a:r>
              <a:rPr lang="en-GB" sz="2000" b="1" u="none" strike="noStrike">
                <a:solidFill>
                  <a:srgbClr val="1F4E79"/>
                </a:solidFill>
                <a:effectLst/>
                <a:uFillTx/>
                <a:latin typeface="Arial"/>
              </a:rPr>
              <a:t>Un cliente realiza muchos pedidos; cada pedido pertenece a un solo cliente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548640" y="1828800"/>
            <a:ext cx="1463040" cy="548640"/>
          </a:xfrm>
          <a:prstGeom prst="ellipse">
            <a:avLst/>
          </a:prstGeom>
          <a:solidFill>
            <a:srgbClr val="FFFFFF"/>
          </a:solidFill>
          <a:ln w="12600">
            <a:solidFill>
              <a:srgbClr val="1F4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square" lIns="96120" tIns="51120" rIns="96120" bIns="51120" anchor="t">
            <a:noAutofit/>
          </a:bodyPr>
          <a:p>
            <a:pPr algn="ctr"/>
            <a:r>
              <a:rPr lang="en-GB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id_cliente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2194560" y="1828800"/>
            <a:ext cx="1463040" cy="548640"/>
          </a:xfrm>
          <a:prstGeom prst="ellipse">
            <a:avLst/>
          </a:prstGeom>
          <a:solidFill>
            <a:srgbClr val="FFFFFF"/>
          </a:solidFill>
          <a:ln w="12600">
            <a:solidFill>
              <a:srgbClr val="1F4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square" lIns="96120" tIns="51120" rIns="96120" bIns="51120" anchor="t">
            <a:noAutofit/>
          </a:bodyPr>
          <a:p>
            <a:pPr algn="ctr"/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nombre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1280160" y="2377440"/>
            <a:ext cx="457200" cy="640080"/>
          </a:xfrm>
          <a:prstGeom prst="line">
            <a:avLst/>
          </a:prstGeom>
          <a:ln w="19080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square" lIns="99360" tIns="54360" rIns="99360" bIns="54360" anchor="ctr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 flipH="1">
            <a:off x="2286000" y="2377440"/>
            <a:ext cx="640080" cy="640080"/>
          </a:xfrm>
          <a:prstGeom prst="line">
            <a:avLst/>
          </a:prstGeom>
          <a:ln w="19080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square" lIns="99360" tIns="54360" rIns="99360" bIns="54360" anchor="ctr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914400" y="3017520"/>
            <a:ext cx="2011680" cy="914400"/>
          </a:xfrm>
          <a:prstGeom prst="rect">
            <a:avLst/>
          </a:prstGeom>
          <a:solidFill>
            <a:srgbClr val="FFFFFF"/>
          </a:solidFill>
          <a:ln w="19080">
            <a:solidFill>
              <a:srgbClr val="1F4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square" lIns="99360" tIns="54360" rIns="99360" bIns="54360" anchor="ctr">
            <a:noAutofit/>
          </a:bodyPr>
          <a:p>
            <a:pPr algn="ctr"/>
            <a:r>
              <a:rPr lang="en-GB" sz="1400" b="1" u="none" strike="noStrike">
                <a:solidFill>
                  <a:srgbClr val="1F4E79"/>
                </a:solidFill>
                <a:effectLst/>
                <a:uFillTx/>
                <a:latin typeface="Arial"/>
              </a:rPr>
              <a:t>CLIENTE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2926080" y="3474720"/>
            <a:ext cx="1005840" cy="0"/>
          </a:xfrm>
          <a:prstGeom prst="line">
            <a:avLst/>
          </a:prstGeom>
          <a:ln w="19080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square" lIns="99360" tIns="-54360" rIns="99360" bIns="-54360" anchor="ctr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3063240" y="3154680"/>
            <a:ext cx="457200" cy="322920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5000" rIns="90000" bIns="45000" anchor="t" anchorCtr="1">
            <a:noAutofit/>
          </a:bodyPr>
          <a:p>
            <a:pPr algn="ctr"/>
            <a:r>
              <a:rPr lang="en-GB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3931920" y="3017520"/>
            <a:ext cx="1280160" cy="914400"/>
          </a:xfrm>
          <a:prstGeom prst="diamond">
            <a:avLst/>
          </a:prstGeom>
          <a:solidFill>
            <a:srgbClr val="FFFFFF"/>
          </a:solidFill>
          <a:ln w="19080">
            <a:solidFill>
              <a:srgbClr val="1F4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square" lIns="99360" tIns="54360" rIns="99360" bIns="54360" anchor="ctr">
            <a:noAutofit/>
          </a:bodyPr>
          <a:p>
            <a:pPr algn="ctr"/>
            <a:r>
              <a:rPr lang="en-GB" sz="1400" b="1" u="none" strike="noStrike">
                <a:solidFill>
                  <a:srgbClr val="1F4E79"/>
                </a:solidFill>
                <a:effectLst/>
                <a:uFillTx/>
                <a:latin typeface="Arial"/>
              </a:rPr>
              <a:t>realiza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5212080" y="3474720"/>
            <a:ext cx="1005840" cy="0"/>
          </a:xfrm>
          <a:prstGeom prst="line">
            <a:avLst/>
          </a:prstGeom>
          <a:ln w="19080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square" lIns="99360" tIns="-54360" rIns="99360" bIns="-54360" anchor="ctr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5623560" y="3154680"/>
            <a:ext cx="457200" cy="322920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5000" rIns="90000" bIns="45000" anchor="t" anchorCtr="1">
            <a:noAutofit/>
          </a:bodyPr>
          <a:p>
            <a:pPr algn="ctr"/>
            <a:r>
              <a:rPr lang="en-GB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6217920" y="3017520"/>
            <a:ext cx="2011680" cy="914400"/>
          </a:xfrm>
          <a:prstGeom prst="rect">
            <a:avLst/>
          </a:prstGeom>
          <a:solidFill>
            <a:srgbClr val="FFFFFF"/>
          </a:solidFill>
          <a:ln w="19080">
            <a:solidFill>
              <a:srgbClr val="1F4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square" lIns="99360" tIns="54360" rIns="99360" bIns="54360" anchor="ctr">
            <a:noAutofit/>
          </a:bodyPr>
          <a:p>
            <a:pPr algn="ctr"/>
            <a:r>
              <a:rPr lang="en-GB" sz="1400" b="1" u="none" strike="noStrike">
                <a:solidFill>
                  <a:srgbClr val="1F4E79"/>
                </a:solidFill>
                <a:effectLst/>
                <a:uFillTx/>
                <a:latin typeface="Arial"/>
              </a:rPr>
              <a:t>PEDIDO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 flipH="1">
            <a:off x="6035040" y="3931920"/>
            <a:ext cx="731520" cy="640080"/>
          </a:xfrm>
          <a:prstGeom prst="line">
            <a:avLst/>
          </a:prstGeom>
          <a:ln w="19080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square" lIns="99360" tIns="54360" rIns="99360" bIns="54360" anchor="ctr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7223760" y="3931920"/>
            <a:ext cx="0" cy="640080"/>
          </a:xfrm>
          <a:prstGeom prst="line">
            <a:avLst/>
          </a:prstGeom>
          <a:ln w="19080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square" lIns="99360" tIns="54360" rIns="99360" bIns="54360" anchor="ctr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7680960" y="3931920"/>
            <a:ext cx="731520" cy="640080"/>
          </a:xfrm>
          <a:prstGeom prst="line">
            <a:avLst/>
          </a:prstGeom>
          <a:ln w="19080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square" lIns="99360" tIns="54360" rIns="99360" bIns="54360" anchor="ctr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5303520" y="4572000"/>
            <a:ext cx="1463040" cy="548640"/>
          </a:xfrm>
          <a:prstGeom prst="ellipse">
            <a:avLst/>
          </a:prstGeom>
          <a:solidFill>
            <a:srgbClr val="FFFFFF"/>
          </a:solidFill>
          <a:ln w="12600">
            <a:solidFill>
              <a:srgbClr val="1F4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square" lIns="96120" tIns="51120" rIns="96120" bIns="51120" anchor="t">
            <a:noAutofit/>
          </a:bodyPr>
          <a:p>
            <a:pPr algn="ctr"/>
            <a:r>
              <a:rPr lang="en-GB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id_pedido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6492240" y="4572000"/>
            <a:ext cx="1463040" cy="548640"/>
          </a:xfrm>
          <a:prstGeom prst="ellipse">
            <a:avLst/>
          </a:prstGeom>
          <a:solidFill>
            <a:srgbClr val="FFFFFF"/>
          </a:solidFill>
          <a:ln w="12600">
            <a:solidFill>
              <a:srgbClr val="1F4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square" lIns="96120" tIns="51120" rIns="96120" bIns="51120" anchor="t">
            <a:noAutofit/>
          </a:bodyPr>
          <a:p>
            <a:pPr algn="ctr"/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fecha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7680960" y="4572000"/>
            <a:ext cx="1463040" cy="548640"/>
          </a:xfrm>
          <a:prstGeom prst="ellipse">
            <a:avLst/>
          </a:prstGeom>
          <a:solidFill>
            <a:srgbClr val="FFFFFF"/>
          </a:solidFill>
          <a:ln w="12600">
            <a:solidFill>
              <a:srgbClr val="1F4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square" lIns="96120" tIns="51120" rIns="96120" bIns="51120" anchor="t">
            <a:noAutofit/>
          </a:bodyPr>
          <a:p>
            <a:pPr algn="ctr"/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total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457200" y="5577840"/>
            <a:ext cx="8229600" cy="822960"/>
          </a:xfrm>
          <a:prstGeom prst="rect">
            <a:avLst/>
          </a:prstGeom>
          <a:solidFill>
            <a:srgbClr val="70AD47"/>
          </a:solidFill>
          <a:ln w="12600">
            <a:solidFill>
              <a:srgbClr val="70AD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square" lIns="96120" tIns="51120" rIns="96120" bIns="51120" anchor="ctr">
            <a:noAutofit/>
          </a:bodyPr>
          <a:p>
            <a:pPr algn="ctr"/>
            <a:r>
              <a:rPr lang="en-GB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Regla práctica: la clave del lado 1 (id_cliente) viaja como clave foránea a la tabla del lado N (PEDIDO).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LibreOffice/26.2.6.3$Linux_X86_64 LibreOffice_project/620$Build-3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2026-09-23T21:51:46Z</dcterms:created>
  <dc:creator/>
  <dc:description/>
  <dc:language>en-GB</dc:language>
  <cp:lastModifiedBy/>
  <dcterms:modified xsi:type="dcterms:W3CDTF">2026-09-23T21:51:46Z</dcterms:modified>
  <cp:revision>1</cp:revision>
  <dc:subject/>
  <dc:title/>
</cp:coreProperties>
</file>