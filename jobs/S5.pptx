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s/comment13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6.xml" ContentType="application/vnd.openxmlformats-officedocument.presentationml.comments+xml"/>
  <Override PartName="/ppt/comments/comment21.xml" ContentType="application/vnd.openxmlformats-officedocument.presentationml.comments+xml"/>
  <Override PartName="/ppt/comments/comment9.xml" ContentType="application/vnd.openxmlformats-officedocument.presentationml.comments+xml"/>
  <Override PartName="/ppt/comments/comment4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20.xml" ContentType="application/vnd.openxmlformats-officedocument.presentationml.comments+xml"/>
  <Override PartName="/ppt/comments/comment2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7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.xml" ContentType="application/vnd.openxmlformats-officedocument.presentationml.comments+xml"/>
  <Override PartName="/ppt/comments/comment3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5.xml" ContentType="application/vnd.openxmlformats-officedocument.presentationml.comment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Claude" initials="CL" lastIdx="20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<Relationship Id="rId34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9-18T02:33:14.000000000" idx="1">
    <p:pos x="0" y="0"/>
    <p:text>[portada · 20s]
ANIMACIÓN:
1. GOLPE sobre el kicker + el H1 (aparecen juntos).
2. CORTE sobre el subtítulo y el pie.</p:text>
  </p:cm>
</p:cmLst>
</file>

<file path=ppt/comments/comment2.xml><?xml version="1.0" encoding="utf-8"?>
<p:cmLst xmlns:p="http://schemas.openxmlformats.org/presentationml/2006/main">
  <p:cm authorId="0" dt="2026-09-18T02:33:14.000000000" idx="2">
    <p:pos x="0" y="0"/>
    <p:text>[objetivos · 55s]
ANIMACIÓN: RESALTAR-Y-ATENUAR objetivo por objetivo (6 clics; cada uno vuelve a `ink` normal al pasar al siguiente).</p:text>
  </p:cm>
</p:cmLst>
</file>

<file path=ppt/comments/comment3.xml><?xml version="1.0" encoding="utf-8"?>
<p:cmLst xmlns:p="http://schemas.openxmlformats.org/presentationml/2006/main">
  <p:cm authorId="0" dt="2026-09-18T02:33:14.000000000" idx="3">
    <p:pos x="0" y="0"/>
    <p:text>[conceptual · 35s]
ANIMACIÓN: 1. CORTE del H2. 2. CORTE de la viñeta (con "antes de tipos de datos, claves primarias o normalización" ya resaltado en el estado final mostrado aquí). 3. CORTE de la etiqueta de pie.</p:text>
  </p:cm>
</p:cmLst>
</file>

<file path=ppt/comments/comment4.xml><?xml version="1.0" encoding="utf-8"?>
<p:cmLst xmlns:p="http://schemas.openxmlformats.org/presentationml/2006/main">
  <p:cm authorId="0" dt="2026-09-18T02:33:14.000000000" idx="4">
    <p:pos x="0" y="0"/>
    <p:text>[ejemplo · 45s]
ANIMACIÓN:
1. CORTE del bloque izquierdo (código SQL).
2. MARCAR-ERROR sobre las columnas `curso_actual` y `profesor_curso`, con la etiqueta en accent-problema debajo (ya mostrada en el estado final aquí).
3. CORTE del bloque derecho (diagrama de 3 cajas).
4. CORTE de la etiqueta en accent-solucion debajo del bloque derecho.</p:text>
  </p:cm>
</p:cmLst>
</file>

<file path=ppt/comments/comment5.xml><?xml version="1.0" encoding="utf-8"?>
<p:cmLst xmlns:p="http://schemas.openxmlformats.org/presentationml/2006/main">
  <p:cm authorId="0" dt="2026-09-18T02:33:14.000000000" idx="5">
    <p:pos x="0" y="0"/>
    <p:text>[conceptual · 30s]
ANIMACIÓN: 1. CORTE de la definición de "entidad". 2. CORTE de la definición de "conjunto de entidades". 3. CORTE de la etiqueta de pie.</p:text>
  </p:cm>
</p:cmLst>
</file>

<file path=ppt/comments/comment6.xml><?xml version="1.0" encoding="utf-8"?>
<p:cmLst xmlns:p="http://schemas.openxmlformats.org/presentationml/2006/main">
  <p:cm authorId="0" dt="2026-09-18T02:33:14.000000000" idx="6">
    <p:pos x="0" y="0"/>
    <p:text>[ejemplo · 35s]
ANIMACIÓN: 1. GOLPE de la caja ESTUDIANTE + su etiqueta. 2. CORTE de la tarjeta "Ana Pérez". 3. CORTE de la tarjeta "Luis Gómez" + la etiqueta final.</p:text>
  </p:cm>
</p:cmLst>
</file>

<file path=ppt/comments/comment7.xml><?xml version="1.0" encoding="utf-8"?>
<p:cmLst xmlns:p="http://schemas.openxmlformats.org/presentationml/2006/main">
  <p:cm authorId="0" dt="2026-09-18T02:33:14.000000000" idx="7">
    <p:pos x="0" y="0"/>
    <p:text>[conceptual · 25s]
ANIMACIÓN: 1. CORTE de la definición. 2. CORTE de la etiqueta (con "tres ejes independientes" ya resaltado en el estado final mostrado aquí).</p:text>
  </p:cm>
</p:cmLst>
</file>

<file path=ppt/comments/comment9.xml><?xml version="1.0" encoding="utf-8"?>
<p:cmLst xmlns:p="http://schemas.openxmlformats.org/presentationml/2006/main">
  <p:cm authorId="0" dt="2026-09-18T02:33:14.000000000" idx="8">
    <p:pos x="0" y="0"/>
    <p:text>[ejemplo · 35s]
ANIMACIÓN: 1. CORTE del bloque izquierdo (edad + etiqueta SIMPLE). 2. CORTE de "nombre_completo" solo. 3. CORTE de la apertura en "nombre" + "apellido", con la etiqueta COMPUESTO.</p:text>
  </p:cm>
</p:cmLst>
</file>

<file path=ppt/comments/comment10.xml><?xml version="1.0" encoding="utf-8"?>
<p:cmLst xmlns:p="http://schemas.openxmlformats.org/presentationml/2006/main">
  <p:cm authorId="0" dt="2026-09-18T02:33:14.000000000" idx="9">
    <p:pos x="0" y="0"/>
    <p:text>[ejemplo · 35s]
ANIMACIÓN: 1. CORTE del bloque izquierdo (fecha_nacimiento + etiqueta MONOVALUADO). 2. CORTE de "telefonos" con el primer valor (300-111-2233). 3. CORTE del segundo valor (601-444-5566) apareciendo junto al primero, con la etiqueta MULTIVALUADO.</p:text>
  </p:cm>
</p:cmLst>
</file>

<file path=ppt/comments/comment11.xml><?xml version="1.0" encoding="utf-8"?>
<p:cmLst xmlns:p="http://schemas.openxmlformats.org/presentationml/2006/main">
  <p:cm authorId="0" dt="2026-09-18T02:33:14.000000000" idx="10">
    <p:pos x="0" y="0"/>
    <p:text>[ejemplo · 35s]
ANIMACIÓN: 1. CORTE del bloque izquierdo (fecha_nacimiento + etiqueta ALMACENADO). 2. CORTE del bloque derecho (edad + flecha desde fecha_nacimiento). 3. CORTE de la etiqueta DERIVADO, con marco accent-problema sobre "no se debería almacenar por separado, porque se desactualiza" (ya mostrado en el estado final aquí).</p:text>
  </p:cm>
</p:cmLst>
</file>

<file path=ppt/comments/comment12.xml><?xml version="1.0" encoding="utf-8"?>
<p:cmLst xmlns:p="http://schemas.openxmlformats.org/presentationml/2006/main">
  <p:cm authorId="0" dt="2026-09-18T02:33:14.000000000" idx="11">
    <p:pos x="0" y="0"/>
    <p:text>[tabla-comparativa · 45s]
ANIMACIÓN: DESLIZAR-COMPARATIVO fila por fila (3 clics) + CORTE de la etiqueta pie con "independientes" resaltado.</p:text>
  </p:cm>
</p:cmLst>
</file>

<file path=ppt/comments/comment13.xml><?xml version="1.0" encoding="utf-8"?>
<p:cmLst xmlns:p="http://schemas.openxmlformats.org/presentationml/2006/main">
  <p:cm authorId="0" dt="2026-09-18T02:33:14.000000000" idx="12">
    <p:pos x="0" y="0"/>
    <p:text>[pregunta-ejercicio · 15s]
ANIMACIÓN: Ninguna — aparece completa. Es la primera de un par de 2 diapositivas: el avance a la siguiente es lo que revela la respuesta.</p:text>
  </p:cm>
</p:cmLst>
</file>

<file path=ppt/comments/comment14.xml><?xml version="1.0" encoding="utf-8"?>
<p:cmLst xmlns:p="http://schemas.openxmlformats.org/presentationml/2006/main">
  <p:cm authorId="0" dt="2026-09-18T02:33:14.000000000" idx="13">
    <p:pos x="0" y="0"/>
    <p:text>[pregunta-ejercicio · 25s]
ANIMACIÓN: Ninguna — aparece completa (pregunta + respuesta juntas). El "revelar" ya ocurrió al avanzar desde la diapositiva anterior.</p:text>
  </p:cm>
</p:cmLst>
</file>

<file path=ppt/comments/comment15.xml><?xml version="1.0" encoding="utf-8"?>
<p:cmLst xmlns:p="http://schemas.openxmlformats.org/presentationml/2006/main">
  <p:cm authorId="0" dt="2026-09-18T02:33:14.000000000" idx="14">
    <p:pos x="0" y="0"/>
    <p:text>[conceptual · 25s]
ANIMACIÓN: 1. CORTE de la definición. 2. CORTE de la etiqueta.</p:text>
  </p:cm>
</p:cmLst>
</file>

<file path=ppt/comments/comment16.xml><?xml version="1.0" encoding="utf-8"?>
<p:cmLst xmlns:p="http://schemas.openxmlformats.org/presentationml/2006/main">
  <p:cm authorId="0" dt="2026-09-18T02:33:14.000000000" idx="15">
    <p:pos x="0" y="0"/>
    <p:text>[ejemplo · 35s]
ANIMACIÓN: 1. CORTE del bloque izquierdo (nota, dominio 0.0–5.0). 2. CORTE del bloque derecho (email, dominio con formato de correo).</p:text>
  </p:cm>
</p:cmLst>
</file>

<file path=ppt/comments/comment17.xml><?xml version="1.0" encoding="utf-8"?>
<p:cmLst xmlns:p="http://schemas.openxmlformats.org/presentationml/2006/main">
  <p:cm authorId="0" dt="2026-09-18T02:33:14.000000000" idx="16">
    <p:pos x="0" y="0"/>
    <p:text>[conceptual · 30s]
ANIMACIÓN: 1. CORTE de la definición (con "identificar de forma única" ya resaltado en el estado final aquí). 2. CORTE de la etiqueta.</p:text>
  </p:cm>
</p:cmLst>
</file>

<file path=ppt/comments/comment18.xml><?xml version="1.0" encoding="utf-8"?>
<p:cmLst xmlns:p="http://schemas.openxmlformats.org/presentationml/2006/main">
  <p:cm authorId="0" dt="2026-09-18T02:33:14.000000000" idx="17">
    <p:pos x="0" y="0"/>
    <p:text>[ejemplo · 35s]
ANIMACIÓN: 1. CORTE de la tabla completa (3 filas). 2. MARCAR-ERROR sobre la columna "nombre" (las dos filas "Ana Pérez" ya resaltadas en el estado final aquí) + su etiqueta. 3. RESALTAR con marco accent-solucion sobre la columna "id_estudiante" + su etiqueta.</p:text>
  </p:cm>
</p:cmLst>
</file>

<file path=ppt/comments/comment19.xml><?xml version="1.0" encoding="utf-8"?>
<p:cmLst xmlns:p="http://schemas.openxmlformats.org/presentationml/2006/main">
  <p:cm authorId="0" dt="2026-09-18T02:33:14.000000000" idx="18">
    <p:pos x="0" y="0"/>
    <p:text>[diagrama · 45s]
ANIMACIÓN (CONSTRUIR-DIAGRAMA):
1. GOLPE del rectángulo ESTUDIANTE.
2. GOLPE de los óvalos id_estudiante (subrayado) y nombre_completo (con sus sub-óvalos nombre/apellido) + sus líneas de conexión.
3. GOLPE de los óvalos fecha_nacimiento, edad (derivado), telefonos (multivaluado) y email + sus líneas de conexión + la etiqueta pie.</p:text>
  </p:cm>
</p:cmLst>
</file>

<file path=ppt/comments/comment20.xml><?xml version="1.0" encoding="utf-8"?>
<p:cmLst xmlns:p="http://schemas.openxmlformats.org/presentationml/2006/main">
  <p:cm authorId="0" dt="2026-09-18T02:33:14.000000000" idx="19">
    <p:pos x="0" y="0"/>
    <p:text>[diagrama · 40s]
ANIMACIÓN (CONSTRUIR-DIAGRAMA):
1. GOLPE del rectángulo ESTUDIANTE (vacío, solo el encabezado).
2. CORTE de las filas "id_estudiante (clave)", "nombre" y "apellido", apareciendo juntas dentro de la caja.
3. CORTE de las filas "fecha_nacimiento", "edad", "telefonos" y "email", apareciendo juntas + la etiqueta pie.</p:text>
  </p:cm>
</p:cmLst>
</file>

<file path=ppt/comments/comment21.xml><?xml version="1.0" encoding="utf-8"?>
<p:cmLst xmlns:p="http://schemas.openxmlformats.org/presentationml/2006/main">
  <p:cm authorId="0" dt="2026-09-18T02:33:14.000000000" idx="20">
    <p:pos x="0" y="0"/>
    <p:text>[tabla-comparativa · 35s]
ANIMACIÓN: DESLIZAR-COMPARATIVO fila por fila (3 clics).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B259B1-3AEF-4003-BF31-40AA03FEA6D5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Bienvenidos a la sesión 5, la primera del módulo de modelado entidad-relación.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Hoy vemos las piezas básicas del modelo E-R: entidades, atributos y dominios — antes de entrar a relaciones y cardinalidad, que es tema de la próxima sesión.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Esta sesión es magistral y asíncrona: la ves antes de la clase, y el tiempo sincrónico se usa para resolver dudas puntuales.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E49A38-615E-4458-B60E-52A51C1F737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Seis objetivos para hoy. Vamos uno por uno.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Primero: vas a poder explicar por qué se modela conceptualmente antes de crear tablas.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Segundo: vas a poder definir conjunto de entidades, entidad y atributo, con ejemplos propios tuyos.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Tercero: vas a poder clasificar un atributo en sus tres ejes: simple/compuesto, monovaluado/multivaluado, almacenado/derivado.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Cuarto: vas a poder explicar qué es el dominio de un atributo.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Quinto: vas a poder identificar el atributo, o la combinación de atributos, que identifica de forma única a una entidad.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sexto: vas a poder leer y dibujar el mismo conjunto de entidades en notación de Chen y en notación de pata de gallo.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59CD37-54B9-4294-9C8D-C0D594F0A3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entrar en las piezas del modelo E-R, vale la pena responder una pregunta: ¿para qué modelar, si al final todo termina en tablas SQL?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Diseñar directamente en SQL, a punta de CREATE TABLE, suele terminar en un esquema que refleja cómo se le fue ocurriendo al programador — no necesariamente lo que el negocio realmente necesita representar.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El modelo conceptual es un paso intermedio, independiente de cualquier motor de base de datos, que sirve para pensar qué información necesito guardar y cómo se relaciona, antes de preocuparse por tipos de datos, claves primarias o normalización.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Esta herramienta la propuso Peter Chen en 1976, y el modelo entidad-relación sigue siendo la más usada para este primer paso.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C7CC56-9A9C-441D-B05F-1605CD69956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Veamos ese problema con un ejemplo concreto.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Si alguien diseña la tabla Estudiante directamente en SQL, es fácil terminar metiendo ahí columnas como curso_actual o profesor_curso.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Pero eso no aguanta la realidad: ¿y si el estudiante toma tres cursos a la vez? ¿Y si dos estudiantes distintos comparten el mismo profesor? Esa tabla no tiene dónde poner esa información sin duplicar filas o inventar columnas nuevas.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Modelando primero, en cambio, Estudiante, Curso y Profesor son conceptos separados, cada uno con sus propias relaciones.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Cada relación se piensa por separado, antes de escribir una sola línea de SQL — y de esas relaciones hablamos en la próxima sesión.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1B43E4-13C6-47AA-B026-62D21EF1D9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Dos términos que se usan todo el tiempo y conviene distinguir bien: entidad y conjunto de entidades.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Una entidad es un objeto del mundo real que se puede distinguir de otros y que interesa representar — un estudiante particular, un curso particular.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Un conjunto de entidades es el conjunto de todas las entidades del mismo tipo que comparten las mismas propiedades — todos los estudiantes, todos los cursos.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En los diagramas se dibuja el conjunto, por ejemplo Estudiante, no cada entidad individual — cada fila futura de la tabla será una entidad.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F64B42-ED8C-413B-BAC3-2B3B45281F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Bajemos eso a un ejemplo concreto.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Estudiante es el conjunto de entidades — es lo que se dibuja una sola vez en el diagrama.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Ana Pérez es una entidad: un estudiante particular, distinguible de cualquier otro.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Luis Gómez es otra entidad distinta, del mismo conjunto. Cuando lleguemos a SQL, cada una de estas será una fila de la tabla Estudiante.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7B4706D-3ED0-4AEB-BC06-D33CA3C916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Ya tenemos entidad y conjunto de entidades. Falta la tercera pieza: el atributo.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Un atributo es una propiedad que describe a las entidades de un conjunto.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Se clasifican en tres ejes independientes, y los vemos uno por uno a continuación.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B4FE450-8C38-4E97-AB30-234000D5E0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primer eje: simple contra compuesto.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edad es un atributo simple: no se puede dividir en partes más pequeñas que tengan sentido por separado.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nombre_completo, en cambio, sí se puede dividir.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Se abre en nombre y apellido — eso lo hace compuesto. Otro ejemplo clásico es dirección, que se divide en calle, ciudad y código postal.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84F5FD6-59C5-459D-A4A3-C527875A74A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segundo eje: monovaluado contra multivaluado.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fecha_nacimiento es monovaluado: cada estudiante tiene un solo valor.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telefonos, en cambio, puede tener el celular...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...y también el fijo — dos valores para la misma entidad. Eso lo hace multivaluado.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018F6D-48B6-4649-9C91-5C2331ABA93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 el tercer eje: almacenado contra derivado.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fecha_nacimiento es un atributo almacenado: se guarda directamente en la base de datos.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edad, en cambio, se calcula a partir de fecha_nacimiento.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Por eso es derivado — y la guía es clara en un punto: no se debería almacenar por separado, porque en cuanto pasa un año se desactualiza.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BC123C-B87E-4A32-8CA7-04F5F8438D2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Juntemos los tres ejes en una sola tabla.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Simple contra compuesto: edad es simple; nombre_completo, que se abre en nombre y apellido, es compuesto.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Monovaluado contra multivaluado: fecha_nacimiento tiene un solo valor; telefonos puede tener varios.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Almacenado contra derivado: fecha_nacimiento se guarda directamente; edad se calcula a partir de ella.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un punto importante: los tres ejes son independientes entre sí. Un mismo atributo puede ser, por ejemplo, compuesto y multivaluado a la vez — lo vamos a comprobar en la siguiente pregunta.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3B66B4-54D2-44D9-816B-BB38C112BB4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Una pausa para pensar antes de seguir. El atributo dirección de un cliente se divide en calle, ciudad y código postal. ¿Cómo se clasifica en el eje simple/compuesto? Y si además el cliente puede registrar varias direcciones, casa y trabajo, ¿qué cambia? Dales unos segundos antes de avanzar a la respuesta.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0E548F-6E16-43B5-9AB0-C03DDBB63C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respuesta: es compuesto, porque se divide en partes con sentido propio — calle, ciudad, código postal. Y si el cliente puede tener varias direcciones registradas, además es multivaluado. Como los dos ejes son independientes, un mismo atributo puede ser compuesto y multivaluado a la vez.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AFEF81-4EE1-45EA-A8B5-D997D237354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Una pieza más: el dominio de un atributo.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Es el conjunto de valores permitidos para ese atributo.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Definir el dominio desde el modelo conceptual anticipa restricciones que, más adelante en el curso, se van a implementar como tipos de datos y constraints en SQL.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14E7A72-AD2C-40A6-BF94-4C79692D22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Dos ejemplos de dominio.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El dominio de nota podría ser un número decimal entre 0.0 y 5.0 — cualquier otro valor queda fuera del dominio.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el dominio de email podría restringirse a cadenas con formato de correo, como nombre arroba dominio punto com.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C7A278-08FB-4903-A5AB-091D4B9101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última pieza antes de las notaciones: el atributo clave.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Al menos un atributo, o una combinación de atributos, de cada conjunto de entidades debe identificar de forma única a cada entidad.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Aquí basta con reconocer eso: qué distingue a una entidad de otra. La distinción formal entre clave primaria, candidata y foránea la retomamos con más rigor en el módulo 3, ya en el modelo relacional.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E96EEF-DFA7-43FC-BED4-04FAE206D0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Veámoslo con la tabla Estudiante.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Tenemos tres estudiantes: Ana Pérez, Luis Gómez, y... otra Ana Pérez.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nombre no sirve como clave: hay dos estudiantes distintos que se llaman exactamente igual, así que no los distingue.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id_estudiante sí identifica de forma única a cada uno — es el atributo clave de este conjunto de entidades.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5D694A-989C-4CD0-9FB3-F237CFC7548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 todas las piezas ya definidas, dibujemos el mismo ejemplo en la notación clásica: la de Chen.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La entidad Estudiante se dibuja como un rectángulo.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Sus atributos se dibujan como óvalos conectados por una línea. id_estudiante va subrayado porque es la clave, y nombre_completo se abre en dos óvalos más pequeños, nombre y apellido, porque es compuesto.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fecha_nacimiento es un óvalo simple; edad se marca como derivado; telefonos se marca como multivaluado; y email cierra la lista. Esta es la notación clásica de Chen, de 1976 — la que más vas a ver en libros de texto y en exámenes escritos.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1EEA91-EAB4-45CD-BC3E-F7C40D7355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mismo ejemplo, ahora en pata de gallo.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La entidad sigue siendo un rectángulo, pero aquí los atributos no van aparte en óvalos: se listan dentro del mismo rectángulo, con id_estudiante marcado como la clave, seguido de nombre y apellido.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el resto de atributos, fecha_nacimiento, edad, telefonos y email, en la misma caja.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Esta es la notación de pata de gallo o IE: más compacta, y la que usan las herramientas CASE modernas como dbdiagram.io — la que vas a usar en la práctica en S7 y S8.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7B7B1F-0D93-4B17-BA53-B240EE907CC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 dos notaciones, lado a lado.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En Chen, los atributos son óvalos conectados a la entidad; en pata de gallo, van listados dentro del mismo rectángulo.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Chen se usa más en libros de texto y exámenes escritos; pata de gallo, en herramientas CASE como dbdiagram.io, y es la que domina en la industria.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En este curso vas a poder leer ambas, pero de aquí en adelante vamos a trabajar mayoritariamente con pata de gallo, porque es la que vas a usar en la práctica desde S7 y S8.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ED9702-EA92-479F-AF98-E207D92429D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Hasta ahora hemos hablado de entidades y atributos, cada uno por su lado. Pero un conjunto de entidades rara vez existe aislado.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Casi siempre se conecta con otros mediante una relación.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Por ejemplo: un Estudiante se matricula en un Curso — eso es una relación.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En Chen se dibuja como un rombo; en pata de gallo, como una línea directa entre las entidades. Veámoslo.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6503B1-405C-4046-8ADC-F6FB1C011D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Dibujemos esa relación en notación de Chen.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La entidad Estudiante, como ya sabemos, es un rectángulo.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La relación matricula se dibuja como un rombo, conectado por una línea a Estudiante.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del otro lado del rombo, conectado por otra línea, la entidad Curso. Así se ve una relación completa en notación de Chen.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E9697F-D749-48E7-8A4B-6380DCA6CE7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relación tiene una cardinalidad: cuántas entidades de un conjunto se pueden asociar con cuántas del otro.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1:1 — un Empleado dirige a lo sumo un Departamento.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1:N — un Programa tiene muchos Estudiante, pero cada estudiante pertenece a un solo programa.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N:M — un Estudiante se matricula en varios Curso, y cada Curso tiene varios Estudiante. Estas son las tres cardinalidades básicas de una relación binaria.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9A0444-9459-4E73-9B1F-9599F242EC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Chen, la cardinalidad se anota como una etiqueta sobre cada línea.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Del lado de Estudiante, la etiqueta N: muchos estudiantes se matriculan.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del lado de Curso, la etiqueta M: en muchos cursos. Por eso decimos que esta relación es N:M.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1FB75E-3E8F-41F4-AD2C-0B48A9EA8B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mismo N:M, ahora en pata de gallo.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Estudiante y Curso, conectados por una línea directa — sin rombo aparte.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en cada extremo, el símbolo de "muchos": el tridente que le da nombre a esta notación, "pata de gallo". Como los dos extremos tienen ese símbolo, se lee de inmediato que es una relación N:M.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14BAFA-450E-4753-A8EE-7435152F27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Resumamos las dos notaciones para relaciones.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La relación: en Chen es un rombo conectado por líneas; en pata de gallo, una línea directa entre las entidades.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Y la cardinalidad: en Chen, una etiqueta sobre la línea; en pata de gallo, símbolos en los extremos — barra para uno, tridente para muchos. Esto fue solo una introducción: en S6 vas a practicar determinar la cardinalidad a partir de descripciones, y vas a sumar participación y entidades débiles.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F42CEA-1081-4EE5-B64E-2AD0D356964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cerrar, un resumen rápido.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Hoy vimos los componentes del modelo E-R: entidades, atributos con sus tres ejes de clasificación, dominios, el atributo clave, las dos notaciones para representarlos, y una primera vista de relaciones y cardinalidad. No olvides resolver el quiz de cierre antes de la próxima clase.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 En S6 damos el siguiente paso: cómo determinar la cardinalidad a partir de una descripción, la participación de cada entidad, y las entidades débiles — en un taller sincrónico, trabajando sobre un caso de matrículas universitarias.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5C4A9ED-2A51-4021-B16D-20ABF12BD0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465840"/>
            <a:ext cx="10970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6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0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5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6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7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8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9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0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37560" y="1839240"/>
            <a:ext cx="2397240" cy="360720"/>
          </a:xfrm>
          <a:custGeom>
            <a:avLst/>
            <a:gdLst>
              <a:gd name="textAreaLeft" fmla="*/ 0 w 2397240"/>
              <a:gd name="textAreaRight" fmla="*/ 2398680 w 2397240"/>
              <a:gd name="textAreaTop" fmla="*/ 0 h 360720"/>
              <a:gd name="textAreaBottom" fmla="*/ 362160 h 360720"/>
            </a:gdLst>
            <a:ahLst/>
            <a:cxnLst/>
            <a:rect l="textAreaLeft" t="textAreaTop" r="textAreaRight" b="textAreaBottom"/>
            <a:pathLst>
              <a:path w="6663" h="1006">
                <a:moveTo>
                  <a:pt x="0" y="0"/>
                </a:moveTo>
                <a:lnTo>
                  <a:pt x="6663" y="0"/>
                </a:lnTo>
                <a:lnTo>
                  <a:pt x="66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637560" y="379044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753840" y="1899720"/>
            <a:ext cx="18831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MÓDULO 2 · SESIÓN 5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39360" y="2502000"/>
            <a:ext cx="83746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40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COMPONENTES DEL MODELO</a:t>
            </a:r>
            <a:endParaRPr lang="en-GB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39360" y="3092040"/>
            <a:ext cx="5705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40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ENTIDAD-RELACIÓN</a:t>
            </a:r>
            <a:endParaRPr lang="en-GB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639360" y="4089600"/>
            <a:ext cx="77482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9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Entidades, atributos y dominios · Magistral (consumo asíncrono)</a:t>
            </a:r>
            <a:endParaRPr lang="en-GB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39360" y="4745880"/>
            <a:ext cx="47484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750006C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Bases de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Datos ·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Universidad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del Valle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639360" y="650880"/>
            <a:ext cx="844956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A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L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 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T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R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M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I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N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A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R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 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S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T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A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 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S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S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I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Ó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N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, 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P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O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D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R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Á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S</a:t>
            </a: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: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40080" y="1471680"/>
            <a:ext cx="70365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1.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x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li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q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é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el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al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b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40080" y="1766880"/>
            <a:ext cx="75412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2. Definir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conjunto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de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entidades,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entidad y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atributo,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con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ejemplos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propios.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40080" y="2061720"/>
            <a:ext cx="102639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3.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Cl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as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ifi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at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ri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b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ut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si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pl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e/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es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to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,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ov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al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o/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ul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ti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va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lu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y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al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ac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o/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er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iv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40080" y="2347200"/>
            <a:ext cx="44226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4. Explicar qué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es el dominio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de un atributo.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40080" y="2642400"/>
            <a:ext cx="9942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5. Identificar el atributo (o combinación de atributos) que identifica de forma única a una entidad.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40080" y="2937600"/>
            <a:ext cx="101646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6. Leer y dibujar el mismo conjunto de entidades en notación de Chen y en notación de pata de gallo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69760" y="3232440"/>
            <a:ext cx="17355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(crow's foot / IE).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37560" y="2106000"/>
            <a:ext cx="46440" cy="1045800"/>
          </a:xfrm>
          <a:custGeom>
            <a:avLst/>
            <a:gdLst>
              <a:gd name="textAreaLeft" fmla="*/ 0 w 46440"/>
              <a:gd name="textAreaRight" fmla="*/ 47880 w 46440"/>
              <a:gd name="textAreaTop" fmla="*/ 0 h 1045800"/>
              <a:gd name="textAreaBottom" fmla="*/ 1047240 h 1045800"/>
            </a:gdLst>
            <a:ahLst/>
            <a:cxnLst/>
            <a:rect l="textAreaLeft" t="textAreaTop" r="textAreaRight" b="textAreaBottom"/>
            <a:pathLst>
              <a:path w="133" h="2909">
                <a:moveTo>
                  <a:pt x="0" y="0"/>
                </a:moveTo>
                <a:lnTo>
                  <a:pt x="133" y="0"/>
                </a:lnTo>
                <a:lnTo>
                  <a:pt x="133" y="2909"/>
                </a:lnTo>
                <a:lnTo>
                  <a:pt x="0" y="290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637560" y="1458720"/>
            <a:ext cx="2473560" cy="360360"/>
          </a:xfrm>
          <a:custGeom>
            <a:avLst/>
            <a:gdLst>
              <a:gd name="textAreaLeft" fmla="*/ 0 w 2473560"/>
              <a:gd name="textAreaRight" fmla="*/ 2475000 w 2473560"/>
              <a:gd name="textAreaTop" fmla="*/ 0 h 360360"/>
              <a:gd name="textAreaBottom" fmla="*/ 361800 h 360360"/>
            </a:gdLst>
            <a:ahLst/>
            <a:cxnLst/>
            <a:rect l="textAreaLeft" t="textAreaTop" r="textAreaRight" b="textAreaBottom"/>
            <a:pathLst>
              <a:path w="6875" h="1005">
                <a:moveTo>
                  <a:pt x="0" y="0"/>
                </a:moveTo>
                <a:lnTo>
                  <a:pt x="6875" y="0"/>
                </a:lnTo>
                <a:lnTo>
                  <a:pt x="6875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639360" y="650880"/>
            <a:ext cx="1029096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POR QUÉ MODELAR ANTES DE CREAR TABLAS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53840" y="1518840"/>
            <a:ext cx="1992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MODELO CONCEPTUAL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812520" y="2347200"/>
            <a:ext cx="100425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Diseñar directamente en SQL suele terminar en un esquema que refleja cómo se le fue ocurriendo al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12520" y="2642400"/>
            <a:ext cx="67705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programador, no lo que el negocio realmente necesita representar.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39360" y="3375360"/>
            <a:ext cx="103914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El modelo conceptual es un paso intermedio, independiente de cualquier motor de base de datos, para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356960" y="3666600"/>
            <a:ext cx="4148640" cy="265680"/>
          </a:xfrm>
          <a:custGeom>
            <a:avLst/>
            <a:gdLst>
              <a:gd name="textAreaLeft" fmla="*/ 0 w 4148640"/>
              <a:gd name="textAreaRight" fmla="*/ 4150080 w 4148640"/>
              <a:gd name="textAreaTop" fmla="*/ 0 h 265680"/>
              <a:gd name="textAreaBottom" fmla="*/ 267120 h 265680"/>
            </a:gdLst>
            <a:ahLst/>
            <a:cxnLst/>
            <a:rect l="textAreaLeft" t="textAreaTop" r="textAreaRight" b="textAreaBottom"/>
            <a:pathLst>
              <a:path w="11528" h="742">
                <a:moveTo>
                  <a:pt x="0" y="0"/>
                </a:moveTo>
                <a:lnTo>
                  <a:pt x="11528" y="0"/>
                </a:lnTo>
                <a:lnTo>
                  <a:pt x="115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37560" y="3961800"/>
            <a:ext cx="1616760" cy="265320"/>
          </a:xfrm>
          <a:custGeom>
            <a:avLst/>
            <a:gdLst>
              <a:gd name="textAreaLeft" fmla="*/ 0 w 1616760"/>
              <a:gd name="textAreaRight" fmla="*/ 1618200 w 1616760"/>
              <a:gd name="textAreaTop" fmla="*/ 0 h 265320"/>
              <a:gd name="textAreaBottom" fmla="*/ 266760 h 265320"/>
            </a:gdLst>
            <a:ahLst/>
            <a:cxnLst/>
            <a:rect l="textAreaLeft" t="textAreaTop" r="textAreaRight" b="textAreaBottom"/>
            <a:pathLst>
              <a:path w="4495" h="741">
                <a:moveTo>
                  <a:pt x="0" y="0"/>
                </a:moveTo>
                <a:lnTo>
                  <a:pt x="4495" y="0"/>
                </a:lnTo>
                <a:lnTo>
                  <a:pt x="4495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39360" y="3670200"/>
            <a:ext cx="109432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pensar "¿qué información necesito guardar y cómo se relaciona?"  antes de tipos de datos, claves primarias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39360" y="3965400"/>
            <a:ext cx="1698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o normalización 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90840" y="4460400"/>
            <a:ext cx="10511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Propuesto por Peter Chen en 1976 — el modelo E-R sigue siendo la herramienta más usada para esto.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37560" y="165852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32600" y="2514960"/>
            <a:ext cx="10906560" cy="1978920"/>
          </a:xfrm>
          <a:custGeom>
            <a:avLst/>
            <a:gdLst>
              <a:gd name="textAreaLeft" fmla="*/ 0 w 10906560"/>
              <a:gd name="textAreaRight" fmla="*/ 10908000 w 10906560"/>
              <a:gd name="textAreaTop" fmla="*/ 0 h 1978920"/>
              <a:gd name="textAreaBottom" fmla="*/ 1980360 h 1978920"/>
            </a:gdLst>
            <a:ahLst/>
            <a:cxnLst/>
            <a:rect l="textAreaLeft" t="textAreaTop" r="textAreaRight" b="textAreaBottom"/>
            <a:pathLst>
              <a:path w="30300" h="5501">
                <a:moveTo>
                  <a:pt x="30009" y="5210"/>
                </a:moveTo>
                <a:lnTo>
                  <a:pt x="30009" y="0"/>
                </a:lnTo>
                <a:lnTo>
                  <a:pt x="30300" y="0"/>
                </a:lnTo>
                <a:lnTo>
                  <a:pt x="30300" y="5501"/>
                </a:lnTo>
                <a:lnTo>
                  <a:pt x="0" y="5501"/>
                </a:lnTo>
                <a:lnTo>
                  <a:pt x="0" y="5210"/>
                </a:lnTo>
                <a:lnTo>
                  <a:pt x="30009" y="521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37560" y="2419920"/>
            <a:ext cx="10906200" cy="19785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1978560"/>
              <a:gd name="textAreaBottom" fmla="*/ 1980000 h 1978560"/>
            </a:gdLst>
            <a:ahLst/>
            <a:cxnLst/>
            <a:rect l="textAreaLeft" t="textAreaTop" r="textAreaRight" b="textAreaBottom"/>
            <a:pathLst>
              <a:path w="30299" h="5500">
                <a:moveTo>
                  <a:pt x="0" y="0"/>
                </a:moveTo>
                <a:lnTo>
                  <a:pt x="30299" y="0"/>
                </a:lnTo>
                <a:lnTo>
                  <a:pt x="30299" y="5500"/>
                </a:lnTo>
                <a:lnTo>
                  <a:pt x="0" y="5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56640" y="2439000"/>
            <a:ext cx="10868040" cy="194040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1940400"/>
              <a:gd name="textAreaBottom" fmla="*/ 1941840 h 1940400"/>
            </a:gdLst>
            <a:ahLst/>
            <a:cxnLst/>
            <a:rect l="textAreaLeft" t="textAreaTop" r="textAreaRight" b="textAreaBottom"/>
            <a:pathLst>
              <a:path w="30193" h="5394">
                <a:moveTo>
                  <a:pt x="0" y="0"/>
                </a:moveTo>
                <a:lnTo>
                  <a:pt x="30193" y="0"/>
                </a:lnTo>
                <a:lnTo>
                  <a:pt x="30193" y="5394"/>
                </a:lnTo>
                <a:lnTo>
                  <a:pt x="0" y="5394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39360" y="650880"/>
            <a:ext cx="97804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A PUNTA DE CREATE TABLE VS. MODELADO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39360" y="1107720"/>
            <a:ext cx="20620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PRIMERO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28000" y="2562840"/>
            <a:ext cx="3139560" cy="274680"/>
          </a:xfrm>
          <a:custGeom>
            <a:avLst/>
            <a:gdLst>
              <a:gd name="textAreaLeft" fmla="*/ 0 w 3139560"/>
              <a:gd name="textAreaRight" fmla="*/ 3141000 w 3139560"/>
              <a:gd name="textAreaTop" fmla="*/ 0 h 274680"/>
              <a:gd name="textAreaBottom" fmla="*/ 276120 h 274680"/>
            </a:gdLst>
            <a:ahLst/>
            <a:cxnLst/>
            <a:rect l="textAreaLeft" t="textAreaTop" r="textAreaRight" b="textAreaBottom"/>
            <a:pathLst>
              <a:path w="8725" h="767">
                <a:moveTo>
                  <a:pt x="0" y="0"/>
                </a:moveTo>
                <a:lnTo>
                  <a:pt x="8725" y="0"/>
                </a:lnTo>
                <a:lnTo>
                  <a:pt x="8725" y="767"/>
                </a:lnTo>
                <a:lnTo>
                  <a:pt x="0" y="7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39360" y="1928520"/>
            <a:ext cx="26370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 PUNTA DE CREATE TABLE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28000" y="2848320"/>
            <a:ext cx="1121760" cy="274680"/>
          </a:xfrm>
          <a:custGeom>
            <a:avLst/>
            <a:gdLst>
              <a:gd name="textAreaLeft" fmla="*/ 0 w 1121760"/>
              <a:gd name="textAreaRight" fmla="*/ 1123200 w 1121760"/>
              <a:gd name="textAreaTop" fmla="*/ 0 h 274680"/>
              <a:gd name="textAreaBottom" fmla="*/ 276120 h 274680"/>
            </a:gdLst>
            <a:ahLst/>
            <a:cxnLst/>
            <a:rect l="textAreaLeft" t="textAreaTop" r="textAreaRight" b="textAreaBottom"/>
            <a:pathLst>
              <a:path w="3120" h="767">
                <a:moveTo>
                  <a:pt x="0" y="0"/>
                </a:moveTo>
                <a:lnTo>
                  <a:pt x="3120" y="0"/>
                </a:lnTo>
                <a:lnTo>
                  <a:pt x="3120" y="767"/>
                </a:lnTo>
                <a:lnTo>
                  <a:pt x="0" y="7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824040" y="2567160"/>
            <a:ext cx="313128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CREATE TABLE Estudiante (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28000" y="3124080"/>
            <a:ext cx="2130840" cy="275040"/>
          </a:xfrm>
          <a:custGeom>
            <a:avLst/>
            <a:gdLst>
              <a:gd name="textAreaLeft" fmla="*/ 0 w 2130840"/>
              <a:gd name="textAreaRight" fmla="*/ 2132280 w 2130840"/>
              <a:gd name="textAreaTop" fmla="*/ 0 h 275040"/>
              <a:gd name="textAreaBottom" fmla="*/ 276480 h 275040"/>
            </a:gdLst>
            <a:ahLst/>
            <a:cxnLst/>
            <a:rect l="textAreaLeft" t="textAreaTop" r="textAreaRight" b="textAreaBottom"/>
            <a:pathLst>
              <a:path w="5923" h="768">
                <a:moveTo>
                  <a:pt x="0" y="0"/>
                </a:moveTo>
                <a:lnTo>
                  <a:pt x="5923" y="0"/>
                </a:lnTo>
                <a:lnTo>
                  <a:pt x="592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824040" y="2852640"/>
            <a:ext cx="11268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  id INT,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828000" y="3409920"/>
            <a:ext cx="2882520" cy="274680"/>
          </a:xfrm>
          <a:custGeom>
            <a:avLst/>
            <a:gdLst>
              <a:gd name="textAreaLeft" fmla="*/ 0 w 2882520"/>
              <a:gd name="textAreaRight" fmla="*/ 2883960 w 2882520"/>
              <a:gd name="textAreaTop" fmla="*/ 0 h 274680"/>
              <a:gd name="textAreaBottom" fmla="*/ 276120 h 274680"/>
            </a:gdLst>
            <a:ahLst/>
            <a:cxnLst/>
            <a:rect l="textAreaLeft" t="textAreaTop" r="textAreaRight" b="textAreaBottom"/>
            <a:pathLst>
              <a:path w="8011" h="767">
                <a:moveTo>
                  <a:pt x="0" y="0"/>
                </a:moveTo>
                <a:lnTo>
                  <a:pt x="8011" y="0"/>
                </a:lnTo>
                <a:lnTo>
                  <a:pt x="8011" y="767"/>
                </a:lnTo>
                <a:lnTo>
                  <a:pt x="0" y="7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824040" y="3128760"/>
            <a:ext cx="21290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  nombre VARCHAR,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828000" y="3695400"/>
            <a:ext cx="3006360" cy="274680"/>
          </a:xfrm>
          <a:custGeom>
            <a:avLst/>
            <a:gdLst>
              <a:gd name="textAreaLeft" fmla="*/ 0 w 3006360"/>
              <a:gd name="textAreaRight" fmla="*/ 3007800 w 3006360"/>
              <a:gd name="textAreaTop" fmla="*/ 0 h 274680"/>
              <a:gd name="textAreaBottom" fmla="*/ 276120 h 274680"/>
            </a:gdLst>
            <a:ahLst/>
            <a:cxnLst/>
            <a:rect l="textAreaLeft" t="textAreaTop" r="textAreaRight" b="textAreaBottom"/>
            <a:pathLst>
              <a:path w="8355" h="767">
                <a:moveTo>
                  <a:pt x="0" y="0"/>
                </a:moveTo>
                <a:lnTo>
                  <a:pt x="8355" y="0"/>
                </a:lnTo>
                <a:lnTo>
                  <a:pt x="8355" y="767"/>
                </a:lnTo>
                <a:lnTo>
                  <a:pt x="0" y="7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824040" y="3414240"/>
            <a:ext cx="288072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  curso_actual VARCHAR,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828000" y="3980880"/>
            <a:ext cx="246240" cy="275040"/>
          </a:xfrm>
          <a:custGeom>
            <a:avLst/>
            <a:gdLst>
              <a:gd name="textAreaLeft" fmla="*/ 0 w 246240"/>
              <a:gd name="textAreaRight" fmla="*/ 247680 w 246240"/>
              <a:gd name="textAreaTop" fmla="*/ 0 h 275040"/>
              <a:gd name="textAreaBottom" fmla="*/ 276480 h 275040"/>
            </a:gdLst>
            <a:ahLst/>
            <a:cxnLst/>
            <a:rect l="textAreaLeft" t="textAreaTop" r="textAreaRight" b="textAreaBottom"/>
            <a:pathLst>
              <a:path w="688" h="768">
                <a:moveTo>
                  <a:pt x="0" y="0"/>
                </a:moveTo>
                <a:lnTo>
                  <a:pt x="688" y="0"/>
                </a:lnTo>
                <a:lnTo>
                  <a:pt x="68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24040" y="3699720"/>
            <a:ext cx="30060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  profesor_curso VARCHAR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37560" y="4618440"/>
            <a:ext cx="8736120" cy="265680"/>
          </a:xfrm>
          <a:custGeom>
            <a:avLst/>
            <a:gdLst>
              <a:gd name="textAreaLeft" fmla="*/ 0 w 8736120"/>
              <a:gd name="textAreaRight" fmla="*/ 8737560 w 8736120"/>
              <a:gd name="textAreaTop" fmla="*/ 0 h 265680"/>
              <a:gd name="textAreaBottom" fmla="*/ 267120 h 265680"/>
            </a:gdLst>
            <a:ahLst/>
            <a:cxnLst/>
            <a:rect l="textAreaLeft" t="textAreaTop" r="textAreaRight" b="textAreaBottom"/>
            <a:pathLst>
              <a:path w="24271" h="742">
                <a:moveTo>
                  <a:pt x="0" y="0"/>
                </a:moveTo>
                <a:lnTo>
                  <a:pt x="24271" y="0"/>
                </a:lnTo>
                <a:lnTo>
                  <a:pt x="24271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E838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24040" y="3985200"/>
            <a:ext cx="2498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);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70680" y="4622040"/>
            <a:ext cx="86961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¿Y si el estudiante toma 3 cursos a la vez? ¿Y si dos estudiantes comparten profesor?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23240" y="5636880"/>
            <a:ext cx="2054520" cy="541440"/>
          </a:xfrm>
          <a:custGeom>
            <a:avLst/>
            <a:gdLst>
              <a:gd name="textAreaLeft" fmla="*/ 0 w 2054520"/>
              <a:gd name="textAreaRight" fmla="*/ 2055960 w 2054520"/>
              <a:gd name="textAreaTop" fmla="*/ 0 h 541440"/>
              <a:gd name="textAreaBottom" fmla="*/ 542880 h 541440"/>
            </a:gdLst>
            <a:ahLst/>
            <a:cxnLst/>
            <a:rect l="textAreaLeft" t="textAreaTop" r="textAreaRight" b="textAreaBottom"/>
            <a:pathLst>
              <a:path w="5711" h="1508">
                <a:moveTo>
                  <a:pt x="0" y="0"/>
                </a:moveTo>
                <a:lnTo>
                  <a:pt x="5711" y="0"/>
                </a:lnTo>
                <a:lnTo>
                  <a:pt x="5711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639360" y="5126400"/>
            <a:ext cx="20386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MODELADO PRIMERO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928440" y="5769720"/>
            <a:ext cx="16498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867400" y="5769720"/>
            <a:ext cx="20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2921040" y="5786280"/>
            <a:ext cx="2080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273840" y="5636880"/>
            <a:ext cx="1302840" cy="541440"/>
          </a:xfrm>
          <a:custGeom>
            <a:avLst/>
            <a:gdLst>
              <a:gd name="textAreaLeft" fmla="*/ 0 w 1302840"/>
              <a:gd name="textAreaRight" fmla="*/ 1304280 w 1302840"/>
              <a:gd name="textAreaTop" fmla="*/ 0 h 541440"/>
              <a:gd name="textAreaBottom" fmla="*/ 542880 h 541440"/>
            </a:gdLst>
            <a:ahLst/>
            <a:cxnLst/>
            <a:rect l="textAreaLeft" t="textAreaTop" r="textAreaRight" b="textAreaBottom"/>
            <a:pathLst>
              <a:path w="3623" h="1508">
                <a:moveTo>
                  <a:pt x="0" y="0"/>
                </a:moveTo>
                <a:lnTo>
                  <a:pt x="3623" y="0"/>
                </a:lnTo>
                <a:lnTo>
                  <a:pt x="3623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130560" y="5769720"/>
            <a:ext cx="20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473280" y="5769720"/>
            <a:ext cx="90072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CURSO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663440" y="5769720"/>
            <a:ext cx="20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717080" y="5786280"/>
            <a:ext cx="2080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063400" y="5636880"/>
            <a:ext cx="1788120" cy="541440"/>
          </a:xfrm>
          <a:custGeom>
            <a:avLst/>
            <a:gdLst>
              <a:gd name="textAreaLeft" fmla="*/ 0 w 1788120"/>
              <a:gd name="textAreaRight" fmla="*/ 1789560 w 1788120"/>
              <a:gd name="textAreaTop" fmla="*/ 0 h 541440"/>
              <a:gd name="textAreaBottom" fmla="*/ 542880 h 541440"/>
            </a:gdLst>
            <a:ahLst/>
            <a:cxnLst/>
            <a:rect l="textAreaLeft" t="textAreaTop" r="textAreaRight" b="textAreaBottom"/>
            <a:pathLst>
              <a:path w="4971" h="1508">
                <a:moveTo>
                  <a:pt x="0" y="0"/>
                </a:moveTo>
                <a:lnTo>
                  <a:pt x="4971" y="0"/>
                </a:lnTo>
                <a:lnTo>
                  <a:pt x="4971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926600" y="5769720"/>
            <a:ext cx="20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56640" y="6427080"/>
            <a:ext cx="7993800" cy="370080"/>
          </a:xfrm>
          <a:custGeom>
            <a:avLst/>
            <a:gdLst>
              <a:gd name="textAreaLeft" fmla="*/ 0 w 7993800"/>
              <a:gd name="textAreaRight" fmla="*/ 7995240 w 7993800"/>
              <a:gd name="textAreaTop" fmla="*/ 0 h 370080"/>
              <a:gd name="textAreaBottom" fmla="*/ 371520 h 370080"/>
            </a:gdLst>
            <a:ahLst/>
            <a:cxnLst/>
            <a:rect l="textAreaLeft" t="textAreaTop" r="textAreaRight" b="textAreaBottom"/>
            <a:pathLst>
              <a:path w="22209" h="1032">
                <a:moveTo>
                  <a:pt x="0" y="0"/>
                </a:moveTo>
                <a:lnTo>
                  <a:pt x="22209" y="0"/>
                </a:lnTo>
                <a:lnTo>
                  <a:pt x="2220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2AA87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269680" y="5769720"/>
            <a:ext cx="13834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PROFESOR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61400" y="6478200"/>
            <a:ext cx="78102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Cada relación se piensa por separado, antes de escribir una sola línea de SQL.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37560" y="2106000"/>
            <a:ext cx="46440" cy="750600"/>
          </a:xfrm>
          <a:custGeom>
            <a:avLst/>
            <a:gdLst>
              <a:gd name="textAreaLeft" fmla="*/ 0 w 46440"/>
              <a:gd name="textAreaRight" fmla="*/ 47880 w 46440"/>
              <a:gd name="textAreaTop" fmla="*/ 0 h 750600"/>
              <a:gd name="textAreaBottom" fmla="*/ 752040 h 750600"/>
            </a:gdLst>
            <a:ahLst/>
            <a:cxnLst/>
            <a:rect l="textAreaLeft" t="textAreaTop" r="textAreaRight" b="textAreaBottom"/>
            <a:pathLst>
              <a:path w="133" h="2089">
                <a:moveTo>
                  <a:pt x="0" y="0"/>
                </a:moveTo>
                <a:lnTo>
                  <a:pt x="133" y="0"/>
                </a:lnTo>
                <a:lnTo>
                  <a:pt x="133" y="2089"/>
                </a:lnTo>
                <a:lnTo>
                  <a:pt x="0" y="208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37560" y="2943360"/>
            <a:ext cx="46440" cy="1045800"/>
          </a:xfrm>
          <a:custGeom>
            <a:avLst/>
            <a:gdLst>
              <a:gd name="textAreaLeft" fmla="*/ 0 w 46440"/>
              <a:gd name="textAreaRight" fmla="*/ 47880 w 46440"/>
              <a:gd name="textAreaTop" fmla="*/ 0 h 1045800"/>
              <a:gd name="textAreaBottom" fmla="*/ 1047240 h 1045800"/>
            </a:gdLst>
            <a:ahLst/>
            <a:cxnLst/>
            <a:rect l="textAreaLeft" t="textAreaTop" r="textAreaRight" b="textAreaBottom"/>
            <a:pathLst>
              <a:path w="133" h="2909">
                <a:moveTo>
                  <a:pt x="0" y="0"/>
                </a:moveTo>
                <a:lnTo>
                  <a:pt x="133" y="0"/>
                </a:lnTo>
                <a:lnTo>
                  <a:pt x="133" y="2909"/>
                </a:lnTo>
                <a:lnTo>
                  <a:pt x="0" y="290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37560" y="1458720"/>
            <a:ext cx="3910680" cy="360360"/>
          </a:xfrm>
          <a:custGeom>
            <a:avLst/>
            <a:gdLst>
              <a:gd name="textAreaLeft" fmla="*/ 0 w 3910680"/>
              <a:gd name="textAreaRight" fmla="*/ 3912120 w 3910680"/>
              <a:gd name="textAreaTop" fmla="*/ 0 h 360360"/>
              <a:gd name="textAreaBottom" fmla="*/ 361800 h 360360"/>
            </a:gdLst>
            <a:ahLst/>
            <a:cxnLst/>
            <a:rect l="textAreaLeft" t="textAreaTop" r="textAreaRight" b="textAreaBottom"/>
            <a:pathLst>
              <a:path w="10867" h="1005">
                <a:moveTo>
                  <a:pt x="0" y="0"/>
                </a:moveTo>
                <a:lnTo>
                  <a:pt x="10867" y="0"/>
                </a:lnTo>
                <a:lnTo>
                  <a:pt x="10867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39360" y="650880"/>
            <a:ext cx="85384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CONJUNTO DE ENTIDADES Y ENTIDAD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53840" y="1518840"/>
            <a:ext cx="32104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ENTIDAD · CONJUNTO DE ENTIDADES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812520" y="2347200"/>
            <a:ext cx="102369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Una entidad es un objeto del mundo real que se puede distinguir de otros y que interesa representar.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12520" y="3184920"/>
            <a:ext cx="9926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 conjunto de entidades es el conjunto de todas las entidades del mismo tipo que comparten las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812520" y="3479760"/>
            <a:ext cx="21330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mismas propiedades.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90840" y="4212720"/>
            <a:ext cx="86029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 los diagramas se dibuja el conjunto (ej. Estudiante), no cada entidad individual.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23240" y="1477800"/>
            <a:ext cx="2054520" cy="541440"/>
          </a:xfrm>
          <a:custGeom>
            <a:avLst/>
            <a:gdLst>
              <a:gd name="textAreaLeft" fmla="*/ 0 w 2054520"/>
              <a:gd name="textAreaRight" fmla="*/ 2055960 w 2054520"/>
              <a:gd name="textAreaTop" fmla="*/ 0 h 541440"/>
              <a:gd name="textAreaBottom" fmla="*/ 542880 h 541440"/>
            </a:gdLst>
            <a:ahLst/>
            <a:cxnLst/>
            <a:rect l="textAreaLeft" t="textAreaTop" r="textAreaRight" b="textAreaBottom"/>
            <a:pathLst>
              <a:path w="5711" h="1508">
                <a:moveTo>
                  <a:pt x="0" y="0"/>
                </a:moveTo>
                <a:lnTo>
                  <a:pt x="5711" y="0"/>
                </a:lnTo>
                <a:lnTo>
                  <a:pt x="5711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39360" y="650880"/>
            <a:ext cx="85384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CONJUNTO DE ENTIDADES Y ENTIDAD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28440" y="1620000"/>
            <a:ext cx="16498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37560" y="2496240"/>
            <a:ext cx="1312200" cy="360360"/>
          </a:xfrm>
          <a:custGeom>
            <a:avLst/>
            <a:gdLst>
              <a:gd name="textAreaLeft" fmla="*/ 0 w 1312200"/>
              <a:gd name="textAreaRight" fmla="*/ 1313640 w 1312200"/>
              <a:gd name="textAreaTop" fmla="*/ 0 h 360360"/>
              <a:gd name="textAreaBottom" fmla="*/ 361800 h 360360"/>
            </a:gdLst>
            <a:ahLst/>
            <a:cxnLst/>
            <a:rect l="textAreaLeft" t="textAreaTop" r="textAreaRight" b="textAreaBottom"/>
            <a:pathLst>
              <a:path w="3649" h="1005">
                <a:moveTo>
                  <a:pt x="0" y="0"/>
                </a:moveTo>
                <a:lnTo>
                  <a:pt x="3649" y="0"/>
                </a:lnTo>
                <a:lnTo>
                  <a:pt x="3649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51960" y="2510280"/>
            <a:ext cx="1283760" cy="332280"/>
          </a:xfrm>
          <a:custGeom>
            <a:avLst/>
            <a:gdLst>
              <a:gd name="textAreaLeft" fmla="*/ 0 w 1283760"/>
              <a:gd name="textAreaRight" fmla="*/ 1285200 w 1283760"/>
              <a:gd name="textAreaTop" fmla="*/ 0 h 332280"/>
              <a:gd name="textAreaBottom" fmla="*/ 333720 h 332280"/>
            </a:gdLst>
            <a:ahLst/>
            <a:cxnLst/>
            <a:rect l="textAreaLeft" t="textAreaTop" r="textAreaRight" b="textAreaBottom"/>
            <a:pathLst>
              <a:path w="3570" h="927">
                <a:moveTo>
                  <a:pt x="0" y="0"/>
                </a:moveTo>
                <a:lnTo>
                  <a:pt x="3570" y="0"/>
                </a:lnTo>
                <a:lnTo>
                  <a:pt x="3570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90840" y="2052360"/>
            <a:ext cx="60602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el conjunto de entidades (lo que se dibuja en el diagrama)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30800" y="2539440"/>
            <a:ext cx="11268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Ana Pérez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103120" y="2496240"/>
            <a:ext cx="1436400" cy="360360"/>
          </a:xfrm>
          <a:custGeom>
            <a:avLst/>
            <a:gdLst>
              <a:gd name="textAreaLeft" fmla="*/ 0 w 1436400"/>
              <a:gd name="textAreaRight" fmla="*/ 1437840 w 1436400"/>
              <a:gd name="textAreaTop" fmla="*/ 0 h 360360"/>
              <a:gd name="textAreaBottom" fmla="*/ 361800 h 360360"/>
            </a:gdLst>
            <a:ahLst/>
            <a:cxnLst/>
            <a:rect l="textAreaLeft" t="textAreaTop" r="textAreaRight" b="textAreaBottom"/>
            <a:pathLst>
              <a:path w="3994" h="1005">
                <a:moveTo>
                  <a:pt x="0" y="0"/>
                </a:moveTo>
                <a:lnTo>
                  <a:pt x="3994" y="0"/>
                </a:lnTo>
                <a:lnTo>
                  <a:pt x="3994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117520" y="2510280"/>
            <a:ext cx="1407600" cy="332280"/>
          </a:xfrm>
          <a:custGeom>
            <a:avLst/>
            <a:gdLst>
              <a:gd name="textAreaLeft" fmla="*/ 0 w 1407600"/>
              <a:gd name="textAreaRight" fmla="*/ 1409040 w 1407600"/>
              <a:gd name="textAreaTop" fmla="*/ 0 h 332280"/>
              <a:gd name="textAreaBottom" fmla="*/ 333720 h 332280"/>
            </a:gdLst>
            <a:ahLst/>
            <a:cxnLst/>
            <a:rect l="textAreaLeft" t="textAreaTop" r="textAreaRight" b="textAreaBottom"/>
            <a:pathLst>
              <a:path w="3914" h="927">
                <a:moveTo>
                  <a:pt x="0" y="0"/>
                </a:moveTo>
                <a:lnTo>
                  <a:pt x="3914" y="0"/>
                </a:lnTo>
                <a:lnTo>
                  <a:pt x="3914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953000" y="2556720"/>
            <a:ext cx="20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·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191320" y="2539440"/>
            <a:ext cx="125208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Luis Gómez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90840" y="2842200"/>
            <a:ext cx="47019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entidades individuales (lo que serán las filas)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37560" y="1449000"/>
            <a:ext cx="46440" cy="750960"/>
          </a:xfrm>
          <a:custGeom>
            <a:avLst/>
            <a:gdLst>
              <a:gd name="textAreaLeft" fmla="*/ 0 w 46440"/>
              <a:gd name="textAreaRight" fmla="*/ 47880 w 46440"/>
              <a:gd name="textAreaTop" fmla="*/ 0 h 750960"/>
              <a:gd name="textAreaBottom" fmla="*/ 752400 h 750960"/>
            </a:gdLst>
            <a:ahLst/>
            <a:cxnLst/>
            <a:rect l="textAreaLeft" t="textAreaTop" r="textAreaRight" b="textAreaBottom"/>
            <a:pathLst>
              <a:path w="133" h="2090">
                <a:moveTo>
                  <a:pt x="0" y="0"/>
                </a:moveTo>
                <a:lnTo>
                  <a:pt x="133" y="0"/>
                </a:lnTo>
                <a:lnTo>
                  <a:pt x="133" y="2090"/>
                </a:lnTo>
                <a:lnTo>
                  <a:pt x="0" y="209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39360" y="650880"/>
            <a:ext cx="23284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ATRIBUTO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812520" y="1690560"/>
            <a:ext cx="75625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 atributo es una propiedad que describe a las entidades de un conjunto.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461320" y="2505240"/>
            <a:ext cx="2578320" cy="265320"/>
          </a:xfrm>
          <a:custGeom>
            <a:avLst/>
            <a:gdLst>
              <a:gd name="textAreaLeft" fmla="*/ 0 w 2578320"/>
              <a:gd name="textAreaRight" fmla="*/ 2579760 w 2578320"/>
              <a:gd name="textAreaTop" fmla="*/ 0 h 265320"/>
              <a:gd name="textAreaBottom" fmla="*/ 266760 h 265320"/>
            </a:gdLst>
            <a:ahLst/>
            <a:cxnLst/>
            <a:rect l="textAreaLeft" t="textAreaTop" r="textAreaRight" b="textAreaBottom"/>
            <a:pathLst>
              <a:path w="7166" h="741">
                <a:moveTo>
                  <a:pt x="0" y="0"/>
                </a:moveTo>
                <a:lnTo>
                  <a:pt x="7166" y="0"/>
                </a:lnTo>
                <a:lnTo>
                  <a:pt x="7166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90840" y="2495520"/>
            <a:ext cx="87429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Se clasifican en  tres ejes independientes  — los vemos uno por uno a continuación.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565200" y="644040"/>
            <a:ext cx="1127700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3150" b="0" u="none" strike="noStrike">
                <a:solidFill>
                  <a:srgbClr val="111111"/>
                </a:solidFill>
                <a:effectLst/>
                <a:uFillTx/>
                <a:latin typeface="Archivo Black"/>
              </a:rPr>
              <a:t>ATRIBUTOS DE ESTUDIANTE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48000" y="1188000"/>
            <a:ext cx="10917360" cy="360"/>
          </a:xfrm>
          <a:prstGeom prst="line">
            <a:avLst/>
          </a:prstGeom>
          <a:ln w="475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3760" tIns="-68760" rIns="113760" bIns="-687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956120" y="3714480"/>
            <a:ext cx="2285640" cy="1188360"/>
          </a:xfrm>
          <a:prstGeom prst="rect">
            <a:avLst/>
          </a:prstGeom>
          <a:noFill/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2000" b="0" u="none" strike="noStrike">
                <a:solidFill>
                  <a:srgbClr val="111111"/>
                </a:solidFill>
                <a:effectLst/>
                <a:uFillTx/>
                <a:latin typeface="Archivo Black"/>
                <a:ea typeface="DejaVu Sans"/>
              </a:rPr>
              <a:t>ESTUDIANTE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184720" y="2160000"/>
            <a:ext cx="1828440" cy="8226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nombre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914400" y="3851640"/>
            <a:ext cx="2742840" cy="9140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fecha_nacimiento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961120" y="3851640"/>
            <a:ext cx="2011320" cy="9140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email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099120" y="2982960"/>
            <a:ext cx="360" cy="731520"/>
          </a:xfrm>
          <a:prstGeom prst="line">
            <a:avLst/>
          </a:prstGeom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657600" y="4308840"/>
            <a:ext cx="1298520" cy="360"/>
          </a:xfrm>
          <a:prstGeom prst="line">
            <a:avLst/>
          </a:prstGeom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 flipH="1">
            <a:off x="7242120" y="4308840"/>
            <a:ext cx="1719000" cy="360"/>
          </a:xfrm>
          <a:prstGeom prst="line">
            <a:avLst/>
          </a:prstGeom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-64080" rIns="109080" bIns="-64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37560" y="1458720"/>
            <a:ext cx="3406320" cy="360360"/>
          </a:xfrm>
          <a:custGeom>
            <a:avLst/>
            <a:gdLst>
              <a:gd name="textAreaLeft" fmla="*/ 0 w 3406320"/>
              <a:gd name="textAreaRight" fmla="*/ 3407760 w 3406320"/>
              <a:gd name="textAreaTop" fmla="*/ 0 h 360360"/>
              <a:gd name="textAreaBottom" fmla="*/ 361800 h 360360"/>
            </a:gdLst>
            <a:ahLst/>
            <a:cxnLst/>
            <a:rect l="textAreaLeft" t="textAreaTop" r="textAreaRight" b="textAreaBottom"/>
            <a:pathLst>
              <a:path w="9466" h="1005">
                <a:moveTo>
                  <a:pt x="0" y="0"/>
                </a:moveTo>
                <a:lnTo>
                  <a:pt x="9466" y="0"/>
                </a:lnTo>
                <a:lnTo>
                  <a:pt x="9466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39360" y="650880"/>
            <a:ext cx="549900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SIMPLE VS. COMPUESTO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53840" y="1518840"/>
            <a:ext cx="27561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EJE 1 · SIMPLE VS. COMPUESTO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371600" y="2720880"/>
            <a:ext cx="3200040" cy="11883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2000" b="1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edad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57200" y="3931920"/>
            <a:ext cx="502884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</a:rPr>
              <a:t>No se puede dividir en partes más pequeñas con sentido propio.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705720" y="2720880"/>
            <a:ext cx="3200040" cy="118836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800" b="1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nombre_completo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 flipH="1">
            <a:off x="7258320" y="3873600"/>
            <a:ext cx="457200" cy="640080"/>
          </a:xfrm>
          <a:prstGeom prst="line">
            <a:avLst/>
          </a:prstGeom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8953920" y="3873600"/>
            <a:ext cx="586080" cy="698400"/>
          </a:xfrm>
          <a:prstGeom prst="line">
            <a:avLst/>
          </a:prstGeom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115320" y="4513680"/>
            <a:ext cx="2285640" cy="9140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800" b="1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nombre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8737920" y="4513680"/>
            <a:ext cx="2285640" cy="9140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800" b="1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apellido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130800" y="5580000"/>
            <a:ext cx="5028840" cy="61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</a:rPr>
              <a:t>Sí se puede dividir. 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</a:rPr>
              <a:t>Otro ejemplo: dirección → calle + ciudad + código_postal.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57560" y="203508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2250" b="0" u="none" strike="noStrike">
                <a:solidFill>
                  <a:srgbClr val="111111"/>
                </a:solidFill>
                <a:effectLst/>
                <a:uFillTx/>
                <a:latin typeface="Space Grotesk"/>
              </a:rPr>
              <a:t>SIMPLE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5914080" y="203508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2250" b="0" u="none" strike="noStrike">
                <a:solidFill>
                  <a:srgbClr val="111111"/>
                </a:solidFill>
                <a:effectLst/>
                <a:uFillTx/>
                <a:latin typeface="Space Grotesk"/>
              </a:rPr>
              <a:t>COMPUESTO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37560" y="1458720"/>
            <a:ext cx="4538880" cy="360360"/>
          </a:xfrm>
          <a:custGeom>
            <a:avLst/>
            <a:gdLst>
              <a:gd name="textAreaLeft" fmla="*/ 0 w 4538880"/>
              <a:gd name="textAreaRight" fmla="*/ 4540320 w 4538880"/>
              <a:gd name="textAreaTop" fmla="*/ 0 h 360360"/>
              <a:gd name="textAreaBottom" fmla="*/ 361800 h 360360"/>
            </a:gdLst>
            <a:ahLst/>
            <a:cxnLst/>
            <a:rect l="textAreaLeft" t="textAreaTop" r="textAreaRight" b="textAreaBottom"/>
            <a:pathLst>
              <a:path w="12612" h="1005">
                <a:moveTo>
                  <a:pt x="0" y="0"/>
                </a:moveTo>
                <a:lnTo>
                  <a:pt x="12612" y="0"/>
                </a:lnTo>
                <a:lnTo>
                  <a:pt x="12612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39360" y="650880"/>
            <a:ext cx="813960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MONOVALUADO VS. MULTIVALUADO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37560" y="2067840"/>
            <a:ext cx="3701160" cy="351000"/>
          </a:xfrm>
          <a:custGeom>
            <a:avLst/>
            <a:gdLst>
              <a:gd name="textAreaLeft" fmla="*/ 0 w 3701160"/>
              <a:gd name="textAreaRight" fmla="*/ 3702600 w 370116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10285" h="979">
                <a:moveTo>
                  <a:pt x="0" y="0"/>
                </a:moveTo>
                <a:lnTo>
                  <a:pt x="10285" y="0"/>
                </a:lnTo>
                <a:lnTo>
                  <a:pt x="10285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51960" y="2081880"/>
            <a:ext cx="3672720" cy="322560"/>
          </a:xfrm>
          <a:custGeom>
            <a:avLst/>
            <a:gdLst>
              <a:gd name="textAreaLeft" fmla="*/ 0 w 3672720"/>
              <a:gd name="textAreaRight" fmla="*/ 3674160 w 367272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10206" h="900">
                <a:moveTo>
                  <a:pt x="0" y="0"/>
                </a:moveTo>
                <a:lnTo>
                  <a:pt x="10206" y="0"/>
                </a:lnTo>
                <a:lnTo>
                  <a:pt x="10206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753840" y="1518840"/>
            <a:ext cx="38062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EJE 2 · MONOVALUADO VS. MULTIVALUADO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30800" y="2111040"/>
            <a:ext cx="350676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fecha_nacimiento: 14/03/2004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37560" y="2572200"/>
            <a:ext cx="4834080" cy="351000"/>
          </a:xfrm>
          <a:custGeom>
            <a:avLst/>
            <a:gdLst>
              <a:gd name="textAreaLeft" fmla="*/ 0 w 4834080"/>
              <a:gd name="textAreaRight" fmla="*/ 4835520 w 483408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13432" h="979">
                <a:moveTo>
                  <a:pt x="0" y="0"/>
                </a:moveTo>
                <a:lnTo>
                  <a:pt x="13432" y="0"/>
                </a:lnTo>
                <a:lnTo>
                  <a:pt x="13432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51960" y="2586600"/>
            <a:ext cx="4805280" cy="322560"/>
          </a:xfrm>
          <a:custGeom>
            <a:avLst/>
            <a:gdLst>
              <a:gd name="textAreaLeft" fmla="*/ 0 w 4805280"/>
              <a:gd name="textAreaRight" fmla="*/ 4806720 w 480528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13352" h="900">
                <a:moveTo>
                  <a:pt x="0" y="0"/>
                </a:moveTo>
                <a:lnTo>
                  <a:pt x="13352" y="0"/>
                </a:lnTo>
                <a:lnTo>
                  <a:pt x="13352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339800" y="2118960"/>
            <a:ext cx="45072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— MONOVALUADO: un solo valor por entidad.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30800" y="2615760"/>
            <a:ext cx="463428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telefonos: 300-111-2233, 601-444-5566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5470560" y="2623320"/>
            <a:ext cx="61347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— MULTIVALUADO: puede tener varios valores (celular y fijo).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 rot="3600">
            <a:off x="914040" y="3417120"/>
            <a:ext cx="4571640" cy="1279800"/>
          </a:xfrm>
          <a:prstGeom prst="ellipse">
            <a:avLst/>
          </a:prstGeom>
          <a:noFill/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2000" b="0" u="none" strike="noStrike">
                <a:solidFill>
                  <a:srgbClr val="111111"/>
                </a:solidFill>
                <a:effectLst/>
                <a:uFillTx/>
                <a:latin typeface="Archivo Black"/>
                <a:ea typeface="DejaVu Sans"/>
              </a:rPr>
              <a:t>fecha_nacimiento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706080" y="3420000"/>
            <a:ext cx="4571640" cy="1279800"/>
          </a:xfrm>
          <a:prstGeom prst="ellipse">
            <a:avLst/>
          </a:prstGeom>
          <a:noFill/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88960" y="3557160"/>
            <a:ext cx="4205880" cy="1023840"/>
          </a:xfrm>
          <a:prstGeom prst="ellipse">
            <a:avLst/>
          </a:prstGeom>
          <a:noFill/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2000" b="0" u="none" strike="noStrike">
                <a:solidFill>
                  <a:srgbClr val="111111"/>
                </a:solidFill>
                <a:effectLst/>
                <a:uFillTx/>
                <a:latin typeface="Archivo Black"/>
                <a:ea typeface="DejaVu Sans"/>
              </a:rPr>
              <a:t>telefonos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914000" y="5220000"/>
            <a:ext cx="2285640" cy="1188360"/>
          </a:xfrm>
          <a:prstGeom prst="rect">
            <a:avLst/>
          </a:prstGeom>
          <a:noFill/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2000" b="0" u="none" strike="noStrike">
                <a:solidFill>
                  <a:srgbClr val="111111"/>
                </a:solidFill>
                <a:effectLst/>
                <a:uFillTx/>
                <a:latin typeface="Archivo Black"/>
                <a:ea typeface="DejaVu Sans"/>
              </a:rPr>
              <a:t>ESTUDIANTE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 flipH="1" flipV="1">
            <a:off x="3060000" y="4700160"/>
            <a:ext cx="1854000" cy="105984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59400" rIns="104400" bIns="594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 flipV="1">
            <a:off x="7200000" y="4700160"/>
            <a:ext cx="1800000" cy="123984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59400" rIns="104400" bIns="594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37560" y="1458720"/>
            <a:ext cx="3834720" cy="360360"/>
          </a:xfrm>
          <a:custGeom>
            <a:avLst/>
            <a:gdLst>
              <a:gd name="textAreaLeft" fmla="*/ 0 w 3834720"/>
              <a:gd name="textAreaRight" fmla="*/ 3836160 w 3834720"/>
              <a:gd name="textAreaTop" fmla="*/ 0 h 360360"/>
              <a:gd name="textAreaBottom" fmla="*/ 361800 h 360360"/>
            </a:gdLst>
            <a:ahLst/>
            <a:cxnLst/>
            <a:rect l="textAreaLeft" t="textAreaTop" r="textAreaRight" b="textAreaBottom"/>
            <a:pathLst>
              <a:path w="10656" h="1005">
                <a:moveTo>
                  <a:pt x="0" y="0"/>
                </a:moveTo>
                <a:lnTo>
                  <a:pt x="10656" y="0"/>
                </a:lnTo>
                <a:lnTo>
                  <a:pt x="10656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39360" y="650880"/>
            <a:ext cx="647640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ALMACENADO VS. DERIVADO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37560" y="2067840"/>
            <a:ext cx="3701160" cy="351000"/>
          </a:xfrm>
          <a:custGeom>
            <a:avLst/>
            <a:gdLst>
              <a:gd name="textAreaLeft" fmla="*/ 0 w 3701160"/>
              <a:gd name="textAreaRight" fmla="*/ 3702600 w 370116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10285" h="979">
                <a:moveTo>
                  <a:pt x="0" y="0"/>
                </a:moveTo>
                <a:lnTo>
                  <a:pt x="10285" y="0"/>
                </a:lnTo>
                <a:lnTo>
                  <a:pt x="10285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51960" y="2081880"/>
            <a:ext cx="3672720" cy="322560"/>
          </a:xfrm>
          <a:custGeom>
            <a:avLst/>
            <a:gdLst>
              <a:gd name="textAreaLeft" fmla="*/ 0 w 3672720"/>
              <a:gd name="textAreaRight" fmla="*/ 3674160 w 367272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10206" h="900">
                <a:moveTo>
                  <a:pt x="0" y="0"/>
                </a:moveTo>
                <a:lnTo>
                  <a:pt x="10206" y="0"/>
                </a:lnTo>
                <a:lnTo>
                  <a:pt x="10206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753840" y="1518840"/>
            <a:ext cx="3147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EJE 3 · ALMACENADO VS. DERIVADO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30800" y="2111040"/>
            <a:ext cx="350676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fecha_nacimiento: 14/03/2004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37560" y="2572200"/>
            <a:ext cx="1188720" cy="351000"/>
          </a:xfrm>
          <a:custGeom>
            <a:avLst/>
            <a:gdLst>
              <a:gd name="textAreaLeft" fmla="*/ 0 w 1188720"/>
              <a:gd name="textAreaRight" fmla="*/ 1190160 w 118872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3306" h="979">
                <a:moveTo>
                  <a:pt x="0" y="0"/>
                </a:moveTo>
                <a:lnTo>
                  <a:pt x="3306" y="0"/>
                </a:lnTo>
                <a:lnTo>
                  <a:pt x="3306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51960" y="2586600"/>
            <a:ext cx="1159920" cy="322560"/>
          </a:xfrm>
          <a:custGeom>
            <a:avLst/>
            <a:gdLst>
              <a:gd name="textAreaLeft" fmla="*/ 0 w 1159920"/>
              <a:gd name="textAreaRight" fmla="*/ 1161360 w 115992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3226" h="900">
                <a:moveTo>
                  <a:pt x="0" y="0"/>
                </a:moveTo>
                <a:lnTo>
                  <a:pt x="3226" y="0"/>
                </a:lnTo>
                <a:lnTo>
                  <a:pt x="3226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339800" y="2118960"/>
            <a:ext cx="42555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— ALMACENADO: se guarda directamente.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30800" y="2615760"/>
            <a:ext cx="100152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edad: 21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664080" y="2572200"/>
            <a:ext cx="2197800" cy="351000"/>
          </a:xfrm>
          <a:custGeom>
            <a:avLst/>
            <a:gdLst>
              <a:gd name="textAreaLeft" fmla="*/ 0 w 2197800"/>
              <a:gd name="textAreaRight" fmla="*/ 2199240 w 219780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6109" h="979">
                <a:moveTo>
                  <a:pt x="0" y="0"/>
                </a:moveTo>
                <a:lnTo>
                  <a:pt x="6109" y="0"/>
                </a:lnTo>
                <a:lnTo>
                  <a:pt x="6109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678480" y="2586600"/>
            <a:ext cx="2169000" cy="322560"/>
          </a:xfrm>
          <a:custGeom>
            <a:avLst/>
            <a:gdLst>
              <a:gd name="textAreaLeft" fmla="*/ 0 w 2169000"/>
              <a:gd name="textAreaRight" fmla="*/ 2170440 w 216900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6029" h="900">
                <a:moveTo>
                  <a:pt x="0" y="0"/>
                </a:moveTo>
                <a:lnTo>
                  <a:pt x="6029" y="0"/>
                </a:lnTo>
                <a:lnTo>
                  <a:pt x="6029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827360" y="2623320"/>
            <a:ext cx="18388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(calculada desde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758760" y="2615760"/>
            <a:ext cx="200376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fecha_nacimiento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1059560" y="2619720"/>
            <a:ext cx="284400" cy="265680"/>
          </a:xfrm>
          <a:custGeom>
            <a:avLst/>
            <a:gdLst>
              <a:gd name="textAreaLeft" fmla="*/ 0 w 284400"/>
              <a:gd name="textAreaRight" fmla="*/ 285840 w 284400"/>
              <a:gd name="textAreaTop" fmla="*/ 0 h 265680"/>
              <a:gd name="textAreaBottom" fmla="*/ 267120 h 265680"/>
            </a:gdLst>
            <a:ahLst/>
            <a:cxnLst/>
            <a:rect l="textAreaLeft" t="textAreaTop" r="textAreaRight" b="textAreaBottom"/>
            <a:pathLst>
              <a:path w="794" h="742">
                <a:moveTo>
                  <a:pt x="0" y="0"/>
                </a:moveTo>
                <a:lnTo>
                  <a:pt x="794" y="0"/>
                </a:lnTo>
                <a:lnTo>
                  <a:pt x="794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E838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37560" y="2914920"/>
            <a:ext cx="6033240" cy="265320"/>
          </a:xfrm>
          <a:custGeom>
            <a:avLst/>
            <a:gdLst>
              <a:gd name="textAreaLeft" fmla="*/ 0 w 6033240"/>
              <a:gd name="textAreaRight" fmla="*/ 6034680 w 6033240"/>
              <a:gd name="textAreaTop" fmla="*/ 0 h 265320"/>
              <a:gd name="textAreaBottom" fmla="*/ 266760 h 265320"/>
            </a:gdLst>
            <a:ahLst/>
            <a:cxnLst/>
            <a:rect l="textAreaLeft" t="textAreaTop" r="textAreaRight" b="textAreaBottom"/>
            <a:pathLst>
              <a:path w="16763" h="741">
                <a:moveTo>
                  <a:pt x="0" y="0"/>
                </a:moveTo>
                <a:lnTo>
                  <a:pt x="16763" y="0"/>
                </a:lnTo>
                <a:lnTo>
                  <a:pt x="16763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E838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860440" y="2623320"/>
            <a:ext cx="55548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) — DERIVADO: se calcula a partir de otro atributo — </a:t>
            </a: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 no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39360" y="2918520"/>
            <a:ext cx="6126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se debería almacenar por separado, porque se desactualiza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4727520" y="3571920"/>
            <a:ext cx="2742840" cy="1096920"/>
          </a:xfrm>
          <a:prstGeom prst="rect">
            <a:avLst/>
          </a:prstGeom>
          <a:noFill/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2000" b="0" u="none" strike="noStrike">
                <a:solidFill>
                  <a:srgbClr val="111111"/>
                </a:solidFill>
                <a:effectLst/>
                <a:uFillTx/>
                <a:latin typeface="Archivo Black"/>
                <a:ea typeface="DejaVu Sans"/>
              </a:rPr>
              <a:t>ESTUDIANTE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463040" y="4852080"/>
            <a:ext cx="2377080" cy="914040"/>
          </a:xfrm>
          <a:prstGeom prst="ellipse">
            <a:avLst/>
          </a:prstGeom>
          <a:noFill/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fecha_nacimiento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8348400" y="4852080"/>
            <a:ext cx="2377080" cy="914040"/>
          </a:xfrm>
          <a:prstGeom prst="ellipse">
            <a:avLst/>
          </a:prstGeom>
          <a:noFill/>
          <a:ln cap="rnd" w="38160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edad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 flipH="1">
            <a:off x="3600000" y="4120560"/>
            <a:ext cx="1127520" cy="919440"/>
          </a:xfrm>
          <a:prstGeom prst="line">
            <a:avLst/>
          </a:prstGeom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7470720" y="4120560"/>
            <a:ext cx="1529280" cy="739440"/>
          </a:xfrm>
          <a:prstGeom prst="line">
            <a:avLst/>
          </a:prstGeom>
          <a:ln w="381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7988400" y="5913000"/>
            <a:ext cx="3351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500" b="0" u="none" strike="noStrike">
                <a:solidFill>
                  <a:srgbClr val="BDB8AC"/>
                </a:solidFill>
                <a:effectLst/>
                <a:uFillTx/>
                <a:latin typeface="Space Grotesk"/>
              </a:rPr>
              <a:t>atributo derivado (línea punteada)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39360" y="650880"/>
            <a:ext cx="78292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LOS TRES EJES DE CLASIFICACIÓN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2484720" y="5044680"/>
            <a:ext cx="1654920" cy="265320"/>
          </a:xfrm>
          <a:custGeom>
            <a:avLst/>
            <a:gdLst>
              <a:gd name="textAreaLeft" fmla="*/ 0 w 1654920"/>
              <a:gd name="textAreaRight" fmla="*/ 1656360 w 1654920"/>
              <a:gd name="textAreaTop" fmla="*/ 0 h 265320"/>
              <a:gd name="textAreaBottom" fmla="*/ 266760 h 265320"/>
            </a:gdLst>
            <a:ahLst/>
            <a:cxnLst/>
            <a:rect l="textAreaLeft" t="textAreaTop" r="textAreaRight" b="textAreaBottom"/>
            <a:pathLst>
              <a:path w="4601" h="741">
                <a:moveTo>
                  <a:pt x="0" y="0"/>
                </a:moveTo>
                <a:lnTo>
                  <a:pt x="4601" y="0"/>
                </a:lnTo>
                <a:lnTo>
                  <a:pt x="4601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18840" y="5044680"/>
            <a:ext cx="113580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Los tres ejes son  independientes : un mismo atributo puede ser, por ejemplo, compuesto y multivaluado a la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18840" y="5339520"/>
            <a:ext cx="4154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vez.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7" name=""/>
          <p:cNvGraphicFramePr/>
          <p:nvPr/>
        </p:nvGraphicFramePr>
        <p:xfrm>
          <a:off x="925560" y="1737720"/>
          <a:ext cx="10342440" cy="2303280"/>
        </p:xfrm>
        <a:graphic>
          <a:graphicData uri="http://schemas.openxmlformats.org/drawingml/2006/table">
            <a:tbl>
              <a:tblPr/>
              <a:tblGrid>
                <a:gridCol w="3130560"/>
                <a:gridCol w="3762720"/>
                <a:gridCol w="3449520"/>
              </a:tblGrid>
              <a:tr h="515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pace Grotesk"/>
                        </a:rPr>
                        <a:t>Representación</a:t>
                      </a:r>
                      <a:endParaRPr lang="en-GB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pace Grotesk"/>
                        </a:rPr>
                        <a:t>Atributo</a:t>
                      </a:r>
                      <a:endParaRPr lang="en-GB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pace Grotesk"/>
                        </a:rPr>
                        <a:t>Ejemplo</a:t>
                      </a:r>
                      <a:endParaRPr lang="en-GB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5872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Space Grotesk"/>
                        </a:rPr>
                        <a:t>Simple / Compuesto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7672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Space Grotesk"/>
                        </a:rPr>
                        <a:t>Multivaluado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6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Space Grotesk"/>
                        </a:rPr>
                        <a:t>Derivado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98" name=""/>
          <p:cNvSpPr/>
          <p:nvPr/>
        </p:nvSpPr>
        <p:spPr>
          <a:xfrm>
            <a:off x="9288360" y="3600360"/>
            <a:ext cx="1079640" cy="359640"/>
          </a:xfrm>
          <a:prstGeom prst="ellipse">
            <a:avLst/>
          </a:prstGeom>
          <a:noFill/>
          <a:ln cap="rnd" w="38160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700" b="0" u="none" strike="noStrike">
                <a:solidFill>
                  <a:srgbClr val="111111"/>
                </a:solidFill>
                <a:effectLst/>
                <a:uFillTx/>
                <a:latin typeface="Space Grotesk"/>
                <a:ea typeface="DejaVu Sans"/>
              </a:rPr>
              <a:t>edad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9" name=""/>
          <p:cNvGrpSpPr/>
          <p:nvPr/>
        </p:nvGrpSpPr>
        <p:grpSpPr>
          <a:xfrm>
            <a:off x="8748360" y="2880360"/>
            <a:ext cx="1969560" cy="444240"/>
            <a:chOff x="8748360" y="2880360"/>
            <a:chExt cx="1969560" cy="444240"/>
          </a:xfrm>
        </p:grpSpPr>
        <p:sp>
          <p:nvSpPr>
            <p:cNvPr id="200" name=""/>
            <p:cNvSpPr/>
            <p:nvPr/>
          </p:nvSpPr>
          <p:spPr>
            <a:xfrm>
              <a:off x="8748360" y="2880360"/>
              <a:ext cx="1969560" cy="444240"/>
            </a:xfrm>
            <a:prstGeom prst="ellipse">
              <a:avLst/>
            </a:prstGeom>
            <a:noFill/>
            <a:ln w="19080">
              <a:solidFill>
                <a:srgbClr val="11111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720" tIns="54720" rIns="99720" bIns="54720" anchor="t">
              <a:noAutofit/>
            </a:bodyPr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8827200" y="2927880"/>
              <a:ext cx="1811880" cy="355680"/>
            </a:xfrm>
            <a:prstGeom prst="ellipse">
              <a:avLst/>
            </a:prstGeom>
            <a:noFill/>
            <a:ln w="19080">
              <a:solidFill>
                <a:srgbClr val="11111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720" tIns="54720" rIns="99720" bIns="5472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GB" sz="1400" b="0" u="none" strike="noStrike">
                  <a:solidFill>
                    <a:srgbClr val="111111"/>
                  </a:solidFill>
                  <a:effectLst/>
                  <a:uFillTx/>
                  <a:latin typeface="Archivo Black"/>
                  <a:ea typeface="DejaVu Sans"/>
                </a:rPr>
                <a:t>telefonos</a:t>
              </a:r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2" name=""/>
          <p:cNvSpPr/>
          <p:nvPr/>
        </p:nvSpPr>
        <p:spPr>
          <a:xfrm>
            <a:off x="8758440" y="2304360"/>
            <a:ext cx="1969560" cy="444240"/>
          </a:xfrm>
          <a:prstGeom prst="ellipse">
            <a:avLst/>
          </a:prstGeom>
          <a:noFill/>
          <a:ln w="1908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tIns="54720" rIns="99720" bIns="54720" anchor="t">
            <a:noAutofit/>
          </a:bodyPr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nombre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378440" y="2304360"/>
            <a:ext cx="1969560" cy="444240"/>
          </a:xfrm>
          <a:prstGeom prst="ellipse">
            <a:avLst/>
          </a:prstGeom>
          <a:noFill/>
          <a:ln w="1908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tIns="54720" rIns="99720" bIns="54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728360" y="3600360"/>
            <a:ext cx="1079640" cy="359640"/>
          </a:xfrm>
          <a:prstGeom prst="ellipse">
            <a:avLst/>
          </a:prstGeom>
          <a:noFill/>
          <a:ln cap="rnd" w="38160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5" name=""/>
          <p:cNvGrpSpPr/>
          <p:nvPr/>
        </p:nvGrpSpPr>
        <p:grpSpPr>
          <a:xfrm>
            <a:off x="1368360" y="2880360"/>
            <a:ext cx="1969560" cy="444240"/>
            <a:chOff x="1368360" y="2880360"/>
            <a:chExt cx="1969560" cy="444240"/>
          </a:xfrm>
        </p:grpSpPr>
        <p:sp>
          <p:nvSpPr>
            <p:cNvPr id="206" name=""/>
            <p:cNvSpPr/>
            <p:nvPr/>
          </p:nvSpPr>
          <p:spPr>
            <a:xfrm>
              <a:off x="1368360" y="2880360"/>
              <a:ext cx="1969560" cy="444240"/>
            </a:xfrm>
            <a:prstGeom prst="ellipse">
              <a:avLst/>
            </a:prstGeom>
            <a:noFill/>
            <a:ln w="19080">
              <a:solidFill>
                <a:srgbClr val="11111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720" tIns="54720" rIns="99720" bIns="54720" anchor="t">
              <a:noAutofit/>
            </a:bodyPr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1447200" y="2927880"/>
              <a:ext cx="1811880" cy="355680"/>
            </a:xfrm>
            <a:prstGeom prst="ellipse">
              <a:avLst/>
            </a:prstGeom>
            <a:noFill/>
            <a:ln w="19080">
              <a:solidFill>
                <a:srgbClr val="11111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720" tIns="54720" rIns="99720" bIns="54720"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37560" y="2971800"/>
            <a:ext cx="10906200" cy="4680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800"/>
              <a:gd name="textAreaBottom" fmla="*/ 48240 h 46800"/>
            </a:gdLst>
            <a:ahLst/>
            <a:cxnLst/>
            <a:rect l="textAreaLeft" t="textAreaTop" r="textAreaRight" b="textAreaBottom"/>
            <a:pathLst>
              <a:path w="30299" h="134">
                <a:moveTo>
                  <a:pt x="0" y="0"/>
                </a:moveTo>
                <a:lnTo>
                  <a:pt x="30299" y="0"/>
                </a:lnTo>
                <a:lnTo>
                  <a:pt x="30299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052080" y="2421360"/>
            <a:ext cx="612144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CLASIFICA ESTE ATRIBUTO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669960" y="3224160"/>
            <a:ext cx="1094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El atributo "dirección" de un cliente se divide en calle, ciudad y código_postal.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831960" y="3595320"/>
            <a:ext cx="10592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¿Cómo se clasifica en el eje simple/compuesto? Y si además el cliente puede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2057040" y="3966480"/>
            <a:ext cx="814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registrar varias direcciones (casa y trabajo), ¿qué cambia?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37560" y="248652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589400" y="1935720"/>
            <a:ext cx="90712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CLASIFICA ESTE ATRIBUTO: RESPUESTA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69960" y="2738880"/>
            <a:ext cx="1094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El atributo "dirección" de un cliente se divide en calle, ciudad y código_postal.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831960" y="3110040"/>
            <a:ext cx="10592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¿Cómo se clasifica en el eje simple/compuesto? Y si además el cliente puede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637560" y="3961800"/>
            <a:ext cx="10906200" cy="9698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969840"/>
              <a:gd name="textAreaBottom" fmla="*/ 971280 h 969840"/>
            </a:gdLst>
            <a:ahLst/>
            <a:cxnLst/>
            <a:rect l="textAreaLeft" t="textAreaTop" r="textAreaRight" b="textAreaBottom"/>
            <a:pathLst>
              <a:path w="30299" h="2698">
                <a:moveTo>
                  <a:pt x="0" y="0"/>
                </a:moveTo>
                <a:lnTo>
                  <a:pt x="30299" y="0"/>
                </a:lnTo>
                <a:lnTo>
                  <a:pt x="30299" y="2698"/>
                </a:lnTo>
                <a:lnTo>
                  <a:pt x="0" y="2698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057040" y="3481200"/>
            <a:ext cx="814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registrar varias direcciones (casa y trabajo), ¿qué cambia?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916200" y="4035240"/>
            <a:ext cx="103550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chivoBlack"/>
                <a:ea typeface="ArchivoBlack"/>
              </a:rPr>
              <a:t>ES COMPUESTO: SE DIVIDE EN PARTES CON SENTIDO PROPIO. SI ADEMÁS PUEDE TENER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761840" y="4320720"/>
            <a:ext cx="8697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chivoBlack"/>
                <a:ea typeface="ArchivoBlack"/>
              </a:rPr>
              <a:t>VARIAS DIRECCIONES, ES TAMBIÉN MULTIVALUADO — LOS DOS EJES SON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5020920" y="4606200"/>
            <a:ext cx="21330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chivoBlack"/>
                <a:ea typeface="ArchivoBlack"/>
              </a:rPr>
              <a:t>INDEPENDIENTES.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637560" y="1449000"/>
            <a:ext cx="46440" cy="750960"/>
          </a:xfrm>
          <a:custGeom>
            <a:avLst/>
            <a:gdLst>
              <a:gd name="textAreaLeft" fmla="*/ 0 w 46440"/>
              <a:gd name="textAreaRight" fmla="*/ 47880 w 46440"/>
              <a:gd name="textAreaTop" fmla="*/ 0 h 750960"/>
              <a:gd name="textAreaBottom" fmla="*/ 752400 h 750960"/>
            </a:gdLst>
            <a:ahLst/>
            <a:cxnLst/>
            <a:rect l="textAreaLeft" t="textAreaTop" r="textAreaRight" b="textAreaBottom"/>
            <a:pathLst>
              <a:path w="133" h="2090">
                <a:moveTo>
                  <a:pt x="0" y="0"/>
                </a:moveTo>
                <a:lnTo>
                  <a:pt x="133" y="0"/>
                </a:lnTo>
                <a:lnTo>
                  <a:pt x="133" y="2090"/>
                </a:lnTo>
                <a:lnTo>
                  <a:pt x="0" y="209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39360" y="650880"/>
            <a:ext cx="598752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DOMINIO DE UN ATRIBUTO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812520" y="1690560"/>
            <a:ext cx="81140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El dominio de un atributo es el conjunto de valores permitidos para ese atributo.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690840" y="2423520"/>
            <a:ext cx="109288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Definir el dominio desde el modelo conceptual anticipa restricciones que, más adelante, se implementan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90840" y="2718360"/>
            <a:ext cx="36788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como tipos de datos y constraints.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637560" y="1420560"/>
            <a:ext cx="684000" cy="351000"/>
          </a:xfrm>
          <a:custGeom>
            <a:avLst/>
            <a:gdLst>
              <a:gd name="textAreaLeft" fmla="*/ 0 w 684000"/>
              <a:gd name="textAreaRight" fmla="*/ 685440 w 68400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1904" h="979">
                <a:moveTo>
                  <a:pt x="0" y="0"/>
                </a:moveTo>
                <a:lnTo>
                  <a:pt x="1904" y="0"/>
                </a:lnTo>
                <a:lnTo>
                  <a:pt x="1904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651960" y="1434960"/>
            <a:ext cx="655560" cy="322560"/>
          </a:xfrm>
          <a:custGeom>
            <a:avLst/>
            <a:gdLst>
              <a:gd name="textAreaLeft" fmla="*/ 0 w 655560"/>
              <a:gd name="textAreaRight" fmla="*/ 657000 w 65556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1825" h="900">
                <a:moveTo>
                  <a:pt x="0" y="0"/>
                </a:moveTo>
                <a:lnTo>
                  <a:pt x="1825" y="0"/>
                </a:lnTo>
                <a:lnTo>
                  <a:pt x="1825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39360" y="650880"/>
            <a:ext cx="689832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DOMINIO CON RESTRICCIONES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30800" y="1464120"/>
            <a:ext cx="500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nota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4777920" y="1420560"/>
            <a:ext cx="560160" cy="351000"/>
          </a:xfrm>
          <a:custGeom>
            <a:avLst/>
            <a:gdLst>
              <a:gd name="textAreaLeft" fmla="*/ 0 w 560160"/>
              <a:gd name="textAreaRight" fmla="*/ 561600 w 56016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1560" h="979">
                <a:moveTo>
                  <a:pt x="0" y="0"/>
                </a:moveTo>
                <a:lnTo>
                  <a:pt x="1560" y="0"/>
                </a:lnTo>
                <a:lnTo>
                  <a:pt x="1560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791960" y="1434960"/>
            <a:ext cx="532080" cy="322560"/>
          </a:xfrm>
          <a:custGeom>
            <a:avLst/>
            <a:gdLst>
              <a:gd name="textAreaLeft" fmla="*/ 0 w 532080"/>
              <a:gd name="textAreaRight" fmla="*/ 533520 w 53208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1482" h="900">
                <a:moveTo>
                  <a:pt x="0" y="0"/>
                </a:moveTo>
                <a:lnTo>
                  <a:pt x="1482" y="0"/>
                </a:lnTo>
                <a:lnTo>
                  <a:pt x="1482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324800" y="1471680"/>
            <a:ext cx="34700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— dominio: número decimal entre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4870800" y="1464120"/>
            <a:ext cx="37512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0.0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5577120" y="1420560"/>
            <a:ext cx="560520" cy="351000"/>
          </a:xfrm>
          <a:custGeom>
            <a:avLst/>
            <a:gdLst>
              <a:gd name="textAreaLeft" fmla="*/ 0 w 560520"/>
              <a:gd name="textAreaRight" fmla="*/ 561960 w 56052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1561" h="979">
                <a:moveTo>
                  <a:pt x="0" y="0"/>
                </a:moveTo>
                <a:lnTo>
                  <a:pt x="1561" y="0"/>
                </a:lnTo>
                <a:lnTo>
                  <a:pt x="1561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591520" y="1434960"/>
            <a:ext cx="532080" cy="322560"/>
          </a:xfrm>
          <a:custGeom>
            <a:avLst/>
            <a:gdLst>
              <a:gd name="textAreaLeft" fmla="*/ 0 w 532080"/>
              <a:gd name="textAreaRight" fmla="*/ 533520 w 53208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1482" h="900">
                <a:moveTo>
                  <a:pt x="0" y="0"/>
                </a:moveTo>
                <a:lnTo>
                  <a:pt x="1482" y="0"/>
                </a:lnTo>
                <a:lnTo>
                  <a:pt x="1482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339160" y="1471680"/>
            <a:ext cx="2340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y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5666040" y="1464120"/>
            <a:ext cx="37512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5.0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37560" y="1924920"/>
            <a:ext cx="807840" cy="351000"/>
          </a:xfrm>
          <a:custGeom>
            <a:avLst/>
            <a:gdLst>
              <a:gd name="textAreaLeft" fmla="*/ 0 w 807840"/>
              <a:gd name="textAreaRight" fmla="*/ 809280 w 80784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2248" h="979">
                <a:moveTo>
                  <a:pt x="0" y="0"/>
                </a:moveTo>
                <a:lnTo>
                  <a:pt x="2248" y="0"/>
                </a:lnTo>
                <a:lnTo>
                  <a:pt x="224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51960" y="1939320"/>
            <a:ext cx="779040" cy="322560"/>
          </a:xfrm>
          <a:custGeom>
            <a:avLst/>
            <a:gdLst>
              <a:gd name="textAreaLeft" fmla="*/ 0 w 779040"/>
              <a:gd name="textAreaRight" fmla="*/ 780480 w 77904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2168" h="900">
                <a:moveTo>
                  <a:pt x="0" y="0"/>
                </a:moveTo>
                <a:lnTo>
                  <a:pt x="2168" y="0"/>
                </a:lnTo>
                <a:lnTo>
                  <a:pt x="2168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6134400" y="1471680"/>
            <a:ext cx="20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730800" y="1968480"/>
            <a:ext cx="62568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email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6243480" y="1924920"/>
            <a:ext cx="2445120" cy="351000"/>
          </a:xfrm>
          <a:custGeom>
            <a:avLst/>
            <a:gdLst>
              <a:gd name="textAreaLeft" fmla="*/ 0 w 2445120"/>
              <a:gd name="textAreaRight" fmla="*/ 2446560 w 2445120"/>
              <a:gd name="textAreaTop" fmla="*/ 0 h 351000"/>
              <a:gd name="textAreaBottom" fmla="*/ 352440 h 351000"/>
            </a:gdLst>
            <a:ahLst/>
            <a:cxnLst/>
            <a:rect l="textAreaLeft" t="textAreaTop" r="textAreaRight" b="textAreaBottom"/>
            <a:pathLst>
              <a:path w="6796" h="979">
                <a:moveTo>
                  <a:pt x="0" y="0"/>
                </a:moveTo>
                <a:lnTo>
                  <a:pt x="6796" y="0"/>
                </a:lnTo>
                <a:lnTo>
                  <a:pt x="6796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6257880" y="1939320"/>
            <a:ext cx="2416320" cy="322560"/>
          </a:xfrm>
          <a:custGeom>
            <a:avLst/>
            <a:gdLst>
              <a:gd name="textAreaLeft" fmla="*/ 0 w 2416320"/>
              <a:gd name="textAreaRight" fmla="*/ 2417760 w 2416320"/>
              <a:gd name="textAreaTop" fmla="*/ 0 h 322560"/>
              <a:gd name="textAreaBottom" fmla="*/ 324000 h 322560"/>
            </a:gdLst>
            <a:ahLst/>
            <a:cxnLst/>
            <a:rect l="textAreaLeft" t="textAreaTop" r="textAreaRight" b="textAreaBottom"/>
            <a:pathLst>
              <a:path w="6716" h="900">
                <a:moveTo>
                  <a:pt x="0" y="0"/>
                </a:moveTo>
                <a:lnTo>
                  <a:pt x="6716" y="0"/>
                </a:lnTo>
                <a:lnTo>
                  <a:pt x="6716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450440" y="1976040"/>
            <a:ext cx="48261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— dominio: cadenas con formato de correo (ej.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6336000" y="1968480"/>
            <a:ext cx="225432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nombre@dominio.com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8688960" y="1976040"/>
            <a:ext cx="20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).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637560" y="1449000"/>
            <a:ext cx="46440" cy="1046160"/>
          </a:xfrm>
          <a:custGeom>
            <a:avLst/>
            <a:gdLst>
              <a:gd name="textAreaLeft" fmla="*/ 0 w 46440"/>
              <a:gd name="textAreaRight" fmla="*/ 47880 w 46440"/>
              <a:gd name="textAreaTop" fmla="*/ 0 h 1046160"/>
              <a:gd name="textAreaBottom" fmla="*/ 1047600 h 1046160"/>
            </a:gdLst>
            <a:ahLst/>
            <a:cxnLst/>
            <a:rect l="textAreaLeft" t="textAreaTop" r="textAreaRight" b="textAreaBottom"/>
            <a:pathLst>
              <a:path w="133" h="2910">
                <a:moveTo>
                  <a:pt x="0" y="0"/>
                </a:moveTo>
                <a:lnTo>
                  <a:pt x="133" y="0"/>
                </a:lnTo>
                <a:lnTo>
                  <a:pt x="133" y="2910"/>
                </a:lnTo>
                <a:lnTo>
                  <a:pt x="0" y="291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39360" y="650880"/>
            <a:ext cx="785196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ATRIBUTO CLAVE / IDENTIFICADOR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812520" y="1690560"/>
            <a:ext cx="102981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Al menos un atributo (o combinación de atributos) de cada conjunto de entidades debe identificar de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812520" y="1985760"/>
            <a:ext cx="28306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forma única a cada entidad.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690840" y="2718360"/>
            <a:ext cx="112266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 el modelo conceptual se llama simplemente atributo(s) clave o identificador — la distinción formal entre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90840" y="3013560"/>
            <a:ext cx="83847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clave primaria, candidata y foránea se retoma en M3, ya en el modelo relacional.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56640" y="1458720"/>
            <a:ext cx="6109200" cy="503280"/>
          </a:xfrm>
          <a:custGeom>
            <a:avLst/>
            <a:gdLst>
              <a:gd name="textAreaLeft" fmla="*/ 0 w 6109200"/>
              <a:gd name="textAreaRight" fmla="*/ 6110640 w 610920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16974" h="1402">
                <a:moveTo>
                  <a:pt x="0" y="0"/>
                </a:moveTo>
                <a:lnTo>
                  <a:pt x="16974" y="0"/>
                </a:lnTo>
                <a:lnTo>
                  <a:pt x="16974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6766920" y="1458720"/>
            <a:ext cx="4757760" cy="503280"/>
          </a:xfrm>
          <a:custGeom>
            <a:avLst/>
            <a:gdLst>
              <a:gd name="textAreaLeft" fmla="*/ 0 w 4757760"/>
              <a:gd name="textAreaRight" fmla="*/ 4759200 w 475776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13220" h="1402">
                <a:moveTo>
                  <a:pt x="0" y="0"/>
                </a:moveTo>
                <a:lnTo>
                  <a:pt x="13220" y="0"/>
                </a:lnTo>
                <a:lnTo>
                  <a:pt x="13220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56640" y="1963080"/>
            <a:ext cx="6109200" cy="493920"/>
          </a:xfrm>
          <a:custGeom>
            <a:avLst/>
            <a:gdLst>
              <a:gd name="textAreaLeft" fmla="*/ 0 w 6109200"/>
              <a:gd name="textAreaRight" fmla="*/ 6110640 w 610920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16974" h="1376">
                <a:moveTo>
                  <a:pt x="0" y="0"/>
                </a:moveTo>
                <a:lnTo>
                  <a:pt x="16974" y="0"/>
                </a:lnTo>
                <a:lnTo>
                  <a:pt x="16974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6766920" y="1963080"/>
            <a:ext cx="4757760" cy="493920"/>
          </a:xfrm>
          <a:custGeom>
            <a:avLst/>
            <a:gdLst>
              <a:gd name="textAreaLeft" fmla="*/ 0 w 4757760"/>
              <a:gd name="textAreaRight" fmla="*/ 4759200 w 47577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13220" h="1376">
                <a:moveTo>
                  <a:pt x="0" y="0"/>
                </a:moveTo>
                <a:lnTo>
                  <a:pt x="13220" y="0"/>
                </a:lnTo>
                <a:lnTo>
                  <a:pt x="1322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56640" y="2458080"/>
            <a:ext cx="6109200" cy="493920"/>
          </a:xfrm>
          <a:custGeom>
            <a:avLst/>
            <a:gdLst>
              <a:gd name="textAreaLeft" fmla="*/ 0 w 6109200"/>
              <a:gd name="textAreaRight" fmla="*/ 6110640 w 610920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16974" h="1376">
                <a:moveTo>
                  <a:pt x="0" y="0"/>
                </a:moveTo>
                <a:lnTo>
                  <a:pt x="16974" y="0"/>
                </a:lnTo>
                <a:lnTo>
                  <a:pt x="16974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766920" y="2458080"/>
            <a:ext cx="4757760" cy="493920"/>
          </a:xfrm>
          <a:custGeom>
            <a:avLst/>
            <a:gdLst>
              <a:gd name="textAreaLeft" fmla="*/ 0 w 4757760"/>
              <a:gd name="textAreaRight" fmla="*/ 4759200 w 47577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13220" h="1376">
                <a:moveTo>
                  <a:pt x="0" y="0"/>
                </a:moveTo>
                <a:lnTo>
                  <a:pt x="13220" y="0"/>
                </a:lnTo>
                <a:lnTo>
                  <a:pt x="1322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56640" y="2953080"/>
            <a:ext cx="6109200" cy="493560"/>
          </a:xfrm>
          <a:custGeom>
            <a:avLst/>
            <a:gdLst>
              <a:gd name="textAreaLeft" fmla="*/ 0 w 6109200"/>
              <a:gd name="textAreaRight" fmla="*/ 6110640 w 6109200"/>
              <a:gd name="textAreaTop" fmla="*/ 0 h 493560"/>
              <a:gd name="textAreaBottom" fmla="*/ 495000 h 493560"/>
            </a:gdLst>
            <a:ahLst/>
            <a:cxnLst/>
            <a:rect l="textAreaLeft" t="textAreaTop" r="textAreaRight" b="textAreaBottom"/>
            <a:pathLst>
              <a:path w="16974" h="1375">
                <a:moveTo>
                  <a:pt x="0" y="0"/>
                </a:moveTo>
                <a:lnTo>
                  <a:pt x="16974" y="0"/>
                </a:lnTo>
                <a:lnTo>
                  <a:pt x="16974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6766920" y="2953080"/>
            <a:ext cx="4757760" cy="493560"/>
          </a:xfrm>
          <a:custGeom>
            <a:avLst/>
            <a:gdLst>
              <a:gd name="textAreaLeft" fmla="*/ 0 w 4757760"/>
              <a:gd name="textAreaRight" fmla="*/ 4759200 w 4757760"/>
              <a:gd name="textAreaTop" fmla="*/ 0 h 493560"/>
              <a:gd name="textAreaBottom" fmla="*/ 495000 h 493560"/>
            </a:gdLst>
            <a:ahLst/>
            <a:cxnLst/>
            <a:rect l="textAreaLeft" t="textAreaTop" r="textAreaRight" b="textAreaBottom"/>
            <a:pathLst>
              <a:path w="13220" h="1375">
                <a:moveTo>
                  <a:pt x="0" y="0"/>
                </a:moveTo>
                <a:lnTo>
                  <a:pt x="13220" y="0"/>
                </a:lnTo>
                <a:lnTo>
                  <a:pt x="13220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3756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37560" y="1449000"/>
            <a:ext cx="6138000" cy="27720"/>
          </a:xfrm>
          <a:custGeom>
            <a:avLst/>
            <a:gdLst>
              <a:gd name="textAreaLeft" fmla="*/ 0 w 6138000"/>
              <a:gd name="textAreaRight" fmla="*/ 6139440 w 613800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7054" h="81">
                <a:moveTo>
                  <a:pt x="0" y="0"/>
                </a:moveTo>
                <a:lnTo>
                  <a:pt x="17054" y="0"/>
                </a:lnTo>
                <a:lnTo>
                  <a:pt x="1705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6747840" y="1449000"/>
            <a:ext cx="27720" cy="522360"/>
          </a:xfrm>
          <a:custGeom>
            <a:avLst/>
            <a:gdLst>
              <a:gd name="textAreaLeft" fmla="*/ 0 w 27720"/>
              <a:gd name="textAreaRight" fmla="*/ 29160 w 2772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1" h="1455">
                <a:moveTo>
                  <a:pt x="0" y="0"/>
                </a:moveTo>
                <a:lnTo>
                  <a:pt x="81" y="0"/>
                </a:lnTo>
                <a:lnTo>
                  <a:pt x="81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776640" y="1449000"/>
            <a:ext cx="4767120" cy="27720"/>
          </a:xfrm>
          <a:custGeom>
            <a:avLst/>
            <a:gdLst>
              <a:gd name="textAreaLeft" fmla="*/ 0 w 4767120"/>
              <a:gd name="textAreaRight" fmla="*/ 4768560 w 476712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3246" h="81">
                <a:moveTo>
                  <a:pt x="0" y="0"/>
                </a:moveTo>
                <a:lnTo>
                  <a:pt x="13246" y="0"/>
                </a:lnTo>
                <a:lnTo>
                  <a:pt x="1324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151640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637560" y="1944000"/>
            <a:ext cx="6138000" cy="27360"/>
          </a:xfrm>
          <a:custGeom>
            <a:avLst/>
            <a:gdLst>
              <a:gd name="textAreaLeft" fmla="*/ 0 w 6138000"/>
              <a:gd name="textAreaRight" fmla="*/ 6139440 w 61380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7054" h="80">
                <a:moveTo>
                  <a:pt x="0" y="0"/>
                </a:moveTo>
                <a:lnTo>
                  <a:pt x="17054" y="0"/>
                </a:lnTo>
                <a:lnTo>
                  <a:pt x="1705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776640" y="1944000"/>
            <a:ext cx="4767120" cy="27360"/>
          </a:xfrm>
          <a:custGeom>
            <a:avLst/>
            <a:gdLst>
              <a:gd name="textAreaLeft" fmla="*/ 0 w 4767120"/>
              <a:gd name="textAreaRight" fmla="*/ 4768560 w 476712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3246" h="80">
                <a:moveTo>
                  <a:pt x="0" y="0"/>
                </a:moveTo>
                <a:lnTo>
                  <a:pt x="13246" y="0"/>
                </a:lnTo>
                <a:lnTo>
                  <a:pt x="1324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37560" y="197244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6747840" y="1972440"/>
            <a:ext cx="27720" cy="493920"/>
          </a:xfrm>
          <a:custGeom>
            <a:avLst/>
            <a:gdLst>
              <a:gd name="textAreaLeft" fmla="*/ 0 w 27720"/>
              <a:gd name="textAreaRight" fmla="*/ 29160 w 2772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1" h="1376">
                <a:moveTo>
                  <a:pt x="0" y="0"/>
                </a:moveTo>
                <a:lnTo>
                  <a:pt x="81" y="0"/>
                </a:lnTo>
                <a:lnTo>
                  <a:pt x="81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1516400" y="197244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37560" y="2467440"/>
            <a:ext cx="27360" cy="503280"/>
          </a:xfrm>
          <a:custGeom>
            <a:avLst/>
            <a:gdLst>
              <a:gd name="textAreaLeft" fmla="*/ 0 w 27360"/>
              <a:gd name="textAreaRight" fmla="*/ 28800 w 2736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80" h="1402">
                <a:moveTo>
                  <a:pt x="0" y="0"/>
                </a:moveTo>
                <a:lnTo>
                  <a:pt x="80" y="0"/>
                </a:lnTo>
                <a:lnTo>
                  <a:pt x="80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37560" y="2439000"/>
            <a:ext cx="6138000" cy="27360"/>
          </a:xfrm>
          <a:custGeom>
            <a:avLst/>
            <a:gdLst>
              <a:gd name="textAreaLeft" fmla="*/ 0 w 6138000"/>
              <a:gd name="textAreaRight" fmla="*/ 6139440 w 61380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7054" h="80">
                <a:moveTo>
                  <a:pt x="0" y="0"/>
                </a:moveTo>
                <a:lnTo>
                  <a:pt x="17054" y="0"/>
                </a:lnTo>
                <a:lnTo>
                  <a:pt x="1705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6747840" y="2467440"/>
            <a:ext cx="27720" cy="503280"/>
          </a:xfrm>
          <a:custGeom>
            <a:avLst/>
            <a:gdLst>
              <a:gd name="textAreaLeft" fmla="*/ 0 w 27720"/>
              <a:gd name="textAreaRight" fmla="*/ 29160 w 2772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81" h="1402">
                <a:moveTo>
                  <a:pt x="0" y="0"/>
                </a:moveTo>
                <a:lnTo>
                  <a:pt x="81" y="0"/>
                </a:lnTo>
                <a:lnTo>
                  <a:pt x="81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6776640" y="2439000"/>
            <a:ext cx="4767120" cy="27360"/>
          </a:xfrm>
          <a:custGeom>
            <a:avLst/>
            <a:gdLst>
              <a:gd name="textAreaLeft" fmla="*/ 0 w 4767120"/>
              <a:gd name="textAreaRight" fmla="*/ 4768560 w 476712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3246" h="80">
                <a:moveTo>
                  <a:pt x="0" y="0"/>
                </a:moveTo>
                <a:lnTo>
                  <a:pt x="13246" y="0"/>
                </a:lnTo>
                <a:lnTo>
                  <a:pt x="1324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1516400" y="2467440"/>
            <a:ext cx="27360" cy="503280"/>
          </a:xfrm>
          <a:custGeom>
            <a:avLst/>
            <a:gdLst>
              <a:gd name="textAreaLeft" fmla="*/ 0 w 27360"/>
              <a:gd name="textAreaRight" fmla="*/ 28800 w 2736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80" h="1402">
                <a:moveTo>
                  <a:pt x="0" y="0"/>
                </a:moveTo>
                <a:lnTo>
                  <a:pt x="80" y="0"/>
                </a:lnTo>
                <a:lnTo>
                  <a:pt x="80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37560" y="2971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637560" y="2943360"/>
            <a:ext cx="6138000" cy="27360"/>
          </a:xfrm>
          <a:custGeom>
            <a:avLst/>
            <a:gdLst>
              <a:gd name="textAreaLeft" fmla="*/ 0 w 6138000"/>
              <a:gd name="textAreaRight" fmla="*/ 6139440 w 61380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7054" h="80">
                <a:moveTo>
                  <a:pt x="0" y="0"/>
                </a:moveTo>
                <a:lnTo>
                  <a:pt x="17054" y="0"/>
                </a:lnTo>
                <a:lnTo>
                  <a:pt x="1705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6747840" y="2971800"/>
            <a:ext cx="27720" cy="493920"/>
          </a:xfrm>
          <a:custGeom>
            <a:avLst/>
            <a:gdLst>
              <a:gd name="textAreaLeft" fmla="*/ 0 w 27720"/>
              <a:gd name="textAreaRight" fmla="*/ 29160 w 2772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1" h="1376">
                <a:moveTo>
                  <a:pt x="0" y="0"/>
                </a:moveTo>
                <a:lnTo>
                  <a:pt x="81" y="0"/>
                </a:lnTo>
                <a:lnTo>
                  <a:pt x="81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776640" y="2943360"/>
            <a:ext cx="4767120" cy="27360"/>
          </a:xfrm>
          <a:custGeom>
            <a:avLst/>
            <a:gdLst>
              <a:gd name="textAreaLeft" fmla="*/ 0 w 4767120"/>
              <a:gd name="textAreaRight" fmla="*/ 4768560 w 476712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3246" h="80">
                <a:moveTo>
                  <a:pt x="0" y="0"/>
                </a:moveTo>
                <a:lnTo>
                  <a:pt x="13246" y="0"/>
                </a:lnTo>
                <a:lnTo>
                  <a:pt x="1324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1516400" y="2971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37560" y="3438360"/>
            <a:ext cx="6138000" cy="27360"/>
          </a:xfrm>
          <a:custGeom>
            <a:avLst/>
            <a:gdLst>
              <a:gd name="textAreaLeft" fmla="*/ 0 w 6138000"/>
              <a:gd name="textAreaRight" fmla="*/ 6139440 w 61380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7054" h="80">
                <a:moveTo>
                  <a:pt x="0" y="0"/>
                </a:moveTo>
                <a:lnTo>
                  <a:pt x="17054" y="0"/>
                </a:lnTo>
                <a:lnTo>
                  <a:pt x="1705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6776640" y="3438360"/>
            <a:ext cx="4767120" cy="27360"/>
          </a:xfrm>
          <a:custGeom>
            <a:avLst/>
            <a:gdLst>
              <a:gd name="textAreaLeft" fmla="*/ 0 w 4767120"/>
              <a:gd name="textAreaRight" fmla="*/ 4768560 w 476712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3246" h="80">
                <a:moveTo>
                  <a:pt x="0" y="0"/>
                </a:moveTo>
                <a:lnTo>
                  <a:pt x="13246" y="0"/>
                </a:lnTo>
                <a:lnTo>
                  <a:pt x="1324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639360" y="650880"/>
            <a:ext cx="594396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LA CLAVE DE ESTUDIANTE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804960" y="1557720"/>
            <a:ext cx="1674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ID_ESTUDIANTE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916680" y="1557720"/>
            <a:ext cx="929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NOMBRE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804960" y="2062080"/>
            <a:ext cx="226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1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916680" y="2062080"/>
            <a:ext cx="10864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Ana Pérez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04960" y="2557080"/>
            <a:ext cx="226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2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916680" y="2557080"/>
            <a:ext cx="1240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Luis Gómez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919200" y="3048120"/>
            <a:ext cx="1141200" cy="294120"/>
          </a:xfrm>
          <a:custGeom>
            <a:avLst/>
            <a:gdLst>
              <a:gd name="textAreaLeft" fmla="*/ 0 w 1141200"/>
              <a:gd name="textAreaRight" fmla="*/ 1142640 w 1141200"/>
              <a:gd name="textAreaTop" fmla="*/ 0 h 294120"/>
              <a:gd name="textAreaBottom" fmla="*/ 295560 h 294120"/>
            </a:gdLst>
            <a:ahLst/>
            <a:cxnLst/>
            <a:rect l="textAreaLeft" t="textAreaTop" r="textAreaRight" b="textAreaBottom"/>
            <a:pathLst>
              <a:path w="3174" h="821">
                <a:moveTo>
                  <a:pt x="0" y="0"/>
                </a:moveTo>
                <a:lnTo>
                  <a:pt x="3174" y="0"/>
                </a:lnTo>
                <a:lnTo>
                  <a:pt x="3174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838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804960" y="3052080"/>
            <a:ext cx="226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3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37560" y="3685680"/>
            <a:ext cx="7860600" cy="265680"/>
          </a:xfrm>
          <a:custGeom>
            <a:avLst/>
            <a:gdLst>
              <a:gd name="textAreaLeft" fmla="*/ 0 w 7860600"/>
              <a:gd name="textAreaRight" fmla="*/ 7862040 w 7860600"/>
              <a:gd name="textAreaTop" fmla="*/ 0 h 265680"/>
              <a:gd name="textAreaBottom" fmla="*/ 267120 h 265680"/>
            </a:gdLst>
            <a:ahLst/>
            <a:cxnLst/>
            <a:rect l="textAreaLeft" t="textAreaTop" r="textAreaRight" b="textAreaBottom"/>
            <a:pathLst>
              <a:path w="21839" h="742">
                <a:moveTo>
                  <a:pt x="0" y="0"/>
                </a:moveTo>
                <a:lnTo>
                  <a:pt x="21839" y="0"/>
                </a:lnTo>
                <a:lnTo>
                  <a:pt x="21839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E838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6950880" y="3052080"/>
            <a:ext cx="10864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Ana Pérez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70680" y="3680640"/>
            <a:ext cx="75096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IBMPlexMono"/>
                <a:ea typeface="IBMPlexMono"/>
              </a:rPr>
              <a:t>nombre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56640" y="4190400"/>
            <a:ext cx="6261480" cy="379440"/>
          </a:xfrm>
          <a:custGeom>
            <a:avLst/>
            <a:gdLst>
              <a:gd name="textAreaLeft" fmla="*/ 0 w 6261480"/>
              <a:gd name="textAreaRight" fmla="*/ 6262920 w 6261480"/>
              <a:gd name="textAreaTop" fmla="*/ 0 h 379440"/>
              <a:gd name="textAreaBottom" fmla="*/ 380880 h 379440"/>
            </a:gdLst>
            <a:ahLst/>
            <a:cxnLst/>
            <a:rect l="textAreaLeft" t="textAreaTop" r="textAreaRight" b="textAreaBottom"/>
            <a:pathLst>
              <a:path w="17397" h="1058">
                <a:moveTo>
                  <a:pt x="0" y="0"/>
                </a:moveTo>
                <a:lnTo>
                  <a:pt x="17397" y="0"/>
                </a:lnTo>
                <a:lnTo>
                  <a:pt x="17397" y="1058"/>
                </a:lnTo>
                <a:lnTo>
                  <a:pt x="0" y="1058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2AA87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424520" y="3689280"/>
            <a:ext cx="70704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 no sirve como clave: dos estudiantes distintos pueden llamarse igual.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761400" y="4242240"/>
            <a:ext cx="162792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id_estudiante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2394720" y="4250880"/>
            <a:ext cx="44326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sí identifica de forma única a cada entidad.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7277400" y="3804840"/>
            <a:ext cx="1079640" cy="35964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639360" y="650880"/>
            <a:ext cx="452376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NOTACIÓN DE CHEN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1819080" y="3799080"/>
            <a:ext cx="1426320" cy="398880"/>
          </a:xfrm>
          <a:custGeom>
            <a:avLst/>
            <a:gdLst>
              <a:gd name="textAreaLeft" fmla="*/ 0 w 1426320"/>
              <a:gd name="textAreaRight" fmla="*/ 1427760 w 1426320"/>
              <a:gd name="textAreaTop" fmla="*/ 0 h 398880"/>
              <a:gd name="textAreaBottom" fmla="*/ 400320 h 398880"/>
            </a:gdLst>
            <a:ahLst/>
            <a:cxnLst/>
            <a:rect l="textAreaLeft" t="textAreaTop" r="textAreaRight" b="textAreaBottom"/>
            <a:pathLst>
              <a:path w="3966" h="1112">
                <a:moveTo>
                  <a:pt x="0" y="555"/>
                </a:moveTo>
                <a:cubicBezTo>
                  <a:pt x="0" y="537"/>
                  <a:pt x="3" y="519"/>
                  <a:pt x="9" y="501"/>
                </a:cubicBezTo>
                <a:cubicBezTo>
                  <a:pt x="16" y="483"/>
                  <a:pt x="25" y="465"/>
                  <a:pt x="38" y="447"/>
                </a:cubicBezTo>
                <a:cubicBezTo>
                  <a:pt x="50" y="429"/>
                  <a:pt x="66" y="412"/>
                  <a:pt x="85" y="394"/>
                </a:cubicBezTo>
                <a:cubicBezTo>
                  <a:pt x="103" y="377"/>
                  <a:pt x="125" y="360"/>
                  <a:pt x="150" y="343"/>
                </a:cubicBezTo>
                <a:cubicBezTo>
                  <a:pt x="174" y="326"/>
                  <a:pt x="202" y="310"/>
                  <a:pt x="233" y="294"/>
                </a:cubicBezTo>
                <a:cubicBezTo>
                  <a:pt x="263" y="278"/>
                  <a:pt x="296" y="262"/>
                  <a:pt x="332" y="247"/>
                </a:cubicBezTo>
                <a:cubicBezTo>
                  <a:pt x="368" y="232"/>
                  <a:pt x="406" y="217"/>
                  <a:pt x="447" y="203"/>
                </a:cubicBezTo>
                <a:cubicBezTo>
                  <a:pt x="488" y="189"/>
                  <a:pt x="531" y="176"/>
                  <a:pt x="577" y="163"/>
                </a:cubicBezTo>
                <a:cubicBezTo>
                  <a:pt x="623" y="150"/>
                  <a:pt x="671" y="138"/>
                  <a:pt x="720" y="126"/>
                </a:cubicBezTo>
                <a:cubicBezTo>
                  <a:pt x="770" y="115"/>
                  <a:pt x="822" y="104"/>
                  <a:pt x="876" y="94"/>
                </a:cubicBezTo>
                <a:cubicBezTo>
                  <a:pt x="930" y="84"/>
                  <a:pt x="985" y="74"/>
                  <a:pt x="1042" y="66"/>
                </a:cubicBezTo>
                <a:cubicBezTo>
                  <a:pt x="1099" y="57"/>
                  <a:pt x="1158" y="49"/>
                  <a:pt x="1218" y="42"/>
                </a:cubicBezTo>
                <a:cubicBezTo>
                  <a:pt x="1277" y="35"/>
                  <a:pt x="1338" y="29"/>
                  <a:pt x="1400" y="24"/>
                </a:cubicBezTo>
                <a:cubicBezTo>
                  <a:pt x="1462" y="19"/>
                  <a:pt x="1524" y="14"/>
                  <a:pt x="1588" y="11"/>
                </a:cubicBezTo>
                <a:cubicBezTo>
                  <a:pt x="1651" y="7"/>
                  <a:pt x="1715" y="5"/>
                  <a:pt x="1779" y="3"/>
                </a:cubicBezTo>
                <a:cubicBezTo>
                  <a:pt x="1843" y="1"/>
                  <a:pt x="1908" y="0"/>
                  <a:pt x="1972" y="0"/>
                </a:cubicBezTo>
                <a:lnTo>
                  <a:pt x="1995" y="0"/>
                </a:lnTo>
                <a:cubicBezTo>
                  <a:pt x="2060" y="0"/>
                  <a:pt x="2124" y="1"/>
                  <a:pt x="2188" y="3"/>
                </a:cubicBezTo>
                <a:cubicBezTo>
                  <a:pt x="2252" y="5"/>
                  <a:pt x="2316" y="7"/>
                  <a:pt x="2380" y="11"/>
                </a:cubicBezTo>
                <a:cubicBezTo>
                  <a:pt x="2443" y="14"/>
                  <a:pt x="2505" y="19"/>
                  <a:pt x="2567" y="24"/>
                </a:cubicBezTo>
                <a:cubicBezTo>
                  <a:pt x="2629" y="29"/>
                  <a:pt x="2690" y="35"/>
                  <a:pt x="2749" y="42"/>
                </a:cubicBezTo>
                <a:cubicBezTo>
                  <a:pt x="2809" y="49"/>
                  <a:pt x="2867" y="57"/>
                  <a:pt x="2924" y="66"/>
                </a:cubicBezTo>
                <a:cubicBezTo>
                  <a:pt x="2981" y="74"/>
                  <a:pt x="3037" y="84"/>
                  <a:pt x="3090" y="94"/>
                </a:cubicBezTo>
                <a:cubicBezTo>
                  <a:pt x="3144" y="104"/>
                  <a:pt x="3196" y="115"/>
                  <a:pt x="3246" y="126"/>
                </a:cubicBezTo>
                <a:cubicBezTo>
                  <a:pt x="3296" y="138"/>
                  <a:pt x="3343" y="150"/>
                  <a:pt x="3389" y="163"/>
                </a:cubicBezTo>
                <a:cubicBezTo>
                  <a:pt x="3435" y="176"/>
                  <a:pt x="3478" y="189"/>
                  <a:pt x="3519" y="203"/>
                </a:cubicBezTo>
                <a:cubicBezTo>
                  <a:pt x="3560" y="217"/>
                  <a:pt x="3598" y="232"/>
                  <a:pt x="3634" y="247"/>
                </a:cubicBezTo>
                <a:cubicBezTo>
                  <a:pt x="3670" y="262"/>
                  <a:pt x="3703" y="278"/>
                  <a:pt x="3734" y="294"/>
                </a:cubicBezTo>
                <a:cubicBezTo>
                  <a:pt x="3764" y="310"/>
                  <a:pt x="3792" y="326"/>
                  <a:pt x="3816" y="343"/>
                </a:cubicBezTo>
                <a:cubicBezTo>
                  <a:pt x="3841" y="360"/>
                  <a:pt x="3863" y="377"/>
                  <a:pt x="3882" y="394"/>
                </a:cubicBezTo>
                <a:cubicBezTo>
                  <a:pt x="3900" y="412"/>
                  <a:pt x="3916" y="429"/>
                  <a:pt x="3929" y="447"/>
                </a:cubicBezTo>
                <a:cubicBezTo>
                  <a:pt x="3941" y="465"/>
                  <a:pt x="3951" y="483"/>
                  <a:pt x="3957" y="501"/>
                </a:cubicBezTo>
                <a:cubicBezTo>
                  <a:pt x="3963" y="519"/>
                  <a:pt x="3966" y="537"/>
                  <a:pt x="3966" y="555"/>
                </a:cubicBezTo>
                <a:cubicBezTo>
                  <a:pt x="3966" y="573"/>
                  <a:pt x="3963" y="592"/>
                  <a:pt x="3957" y="610"/>
                </a:cubicBezTo>
                <a:cubicBezTo>
                  <a:pt x="3951" y="628"/>
                  <a:pt x="3941" y="646"/>
                  <a:pt x="3929" y="664"/>
                </a:cubicBezTo>
                <a:cubicBezTo>
                  <a:pt x="3916" y="681"/>
                  <a:pt x="3900" y="699"/>
                  <a:pt x="3882" y="716"/>
                </a:cubicBezTo>
                <a:cubicBezTo>
                  <a:pt x="3863" y="735"/>
                  <a:pt x="3841" y="752"/>
                  <a:pt x="3816" y="769"/>
                </a:cubicBezTo>
                <a:cubicBezTo>
                  <a:pt x="3792" y="786"/>
                  <a:pt x="3764" y="802"/>
                  <a:pt x="3734" y="818"/>
                </a:cubicBezTo>
                <a:cubicBezTo>
                  <a:pt x="3703" y="834"/>
                  <a:pt x="3670" y="850"/>
                  <a:pt x="3634" y="865"/>
                </a:cubicBezTo>
                <a:cubicBezTo>
                  <a:pt x="3598" y="880"/>
                  <a:pt x="3560" y="894"/>
                  <a:pt x="3519" y="909"/>
                </a:cubicBezTo>
                <a:cubicBezTo>
                  <a:pt x="3478" y="923"/>
                  <a:pt x="3435" y="936"/>
                  <a:pt x="3389" y="949"/>
                </a:cubicBezTo>
                <a:cubicBezTo>
                  <a:pt x="3343" y="962"/>
                  <a:pt x="3296" y="974"/>
                  <a:pt x="3246" y="985"/>
                </a:cubicBezTo>
                <a:cubicBezTo>
                  <a:pt x="3196" y="997"/>
                  <a:pt x="3144" y="1008"/>
                  <a:pt x="3090" y="1018"/>
                </a:cubicBezTo>
                <a:cubicBezTo>
                  <a:pt x="3037" y="1028"/>
                  <a:pt x="2981" y="1037"/>
                  <a:pt x="2924" y="1046"/>
                </a:cubicBezTo>
                <a:cubicBezTo>
                  <a:pt x="2867" y="1055"/>
                  <a:pt x="2809" y="1062"/>
                  <a:pt x="2749" y="1069"/>
                </a:cubicBezTo>
                <a:cubicBezTo>
                  <a:pt x="2690" y="1076"/>
                  <a:pt x="2629" y="1082"/>
                  <a:pt x="2567" y="1088"/>
                </a:cubicBezTo>
                <a:cubicBezTo>
                  <a:pt x="2505" y="1093"/>
                  <a:pt x="2443" y="1097"/>
                  <a:pt x="2380" y="1101"/>
                </a:cubicBezTo>
                <a:cubicBezTo>
                  <a:pt x="2316" y="1104"/>
                  <a:pt x="2252" y="1107"/>
                  <a:pt x="2188" y="1109"/>
                </a:cubicBezTo>
                <a:cubicBezTo>
                  <a:pt x="2124" y="1111"/>
                  <a:pt x="2060" y="1112"/>
                  <a:pt x="1995" y="1112"/>
                </a:cubicBezTo>
                <a:lnTo>
                  <a:pt x="1972" y="1112"/>
                </a:lnTo>
                <a:cubicBezTo>
                  <a:pt x="1908" y="1112"/>
                  <a:pt x="1843" y="1111"/>
                  <a:pt x="1779" y="1109"/>
                </a:cubicBezTo>
                <a:cubicBezTo>
                  <a:pt x="1715" y="1107"/>
                  <a:pt x="1651" y="1104"/>
                  <a:pt x="1588" y="1101"/>
                </a:cubicBezTo>
                <a:cubicBezTo>
                  <a:pt x="1524" y="1097"/>
                  <a:pt x="1462" y="1093"/>
                  <a:pt x="1400" y="1088"/>
                </a:cubicBezTo>
                <a:cubicBezTo>
                  <a:pt x="1338" y="1082"/>
                  <a:pt x="1277" y="1076"/>
                  <a:pt x="1218" y="1069"/>
                </a:cubicBezTo>
                <a:cubicBezTo>
                  <a:pt x="1158" y="1062"/>
                  <a:pt x="1099" y="1055"/>
                  <a:pt x="1042" y="1046"/>
                </a:cubicBezTo>
                <a:cubicBezTo>
                  <a:pt x="985" y="1037"/>
                  <a:pt x="930" y="1028"/>
                  <a:pt x="876" y="1018"/>
                </a:cubicBezTo>
                <a:cubicBezTo>
                  <a:pt x="822" y="1008"/>
                  <a:pt x="770" y="997"/>
                  <a:pt x="720" y="985"/>
                </a:cubicBezTo>
                <a:cubicBezTo>
                  <a:pt x="671" y="974"/>
                  <a:pt x="623" y="962"/>
                  <a:pt x="577" y="949"/>
                </a:cubicBezTo>
                <a:cubicBezTo>
                  <a:pt x="531" y="936"/>
                  <a:pt x="488" y="923"/>
                  <a:pt x="447" y="909"/>
                </a:cubicBezTo>
                <a:cubicBezTo>
                  <a:pt x="406" y="894"/>
                  <a:pt x="368" y="880"/>
                  <a:pt x="332" y="865"/>
                </a:cubicBezTo>
                <a:cubicBezTo>
                  <a:pt x="296" y="850"/>
                  <a:pt x="263" y="834"/>
                  <a:pt x="233" y="818"/>
                </a:cubicBezTo>
                <a:cubicBezTo>
                  <a:pt x="202" y="802"/>
                  <a:pt x="174" y="786"/>
                  <a:pt x="150" y="769"/>
                </a:cubicBezTo>
                <a:cubicBezTo>
                  <a:pt x="125" y="752"/>
                  <a:pt x="103" y="735"/>
                  <a:pt x="85" y="716"/>
                </a:cubicBezTo>
                <a:cubicBezTo>
                  <a:pt x="66" y="699"/>
                  <a:pt x="50" y="681"/>
                  <a:pt x="38" y="664"/>
                </a:cubicBezTo>
                <a:cubicBezTo>
                  <a:pt x="25" y="646"/>
                  <a:pt x="16" y="628"/>
                  <a:pt x="9" y="610"/>
                </a:cubicBezTo>
                <a:cubicBezTo>
                  <a:pt x="3" y="592"/>
                  <a:pt x="0" y="573"/>
                  <a:pt x="0" y="5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800000" y="3780000"/>
            <a:ext cx="1464480" cy="436680"/>
          </a:xfrm>
          <a:custGeom>
            <a:avLst/>
            <a:gdLst>
              <a:gd name="textAreaLeft" fmla="*/ 0 w 1464480"/>
              <a:gd name="textAreaRight" fmla="*/ 1465920 w 1464480"/>
              <a:gd name="textAreaTop" fmla="*/ 0 h 436680"/>
              <a:gd name="textAreaBottom" fmla="*/ 438120 h 436680"/>
            </a:gdLst>
            <a:ahLst/>
            <a:cxnLst/>
            <a:rect l="textAreaLeft" t="textAreaTop" r="textAreaRight" b="textAreaBottom"/>
            <a:pathLst>
              <a:path w="4072" h="1217">
                <a:moveTo>
                  <a:pt x="0" y="609"/>
                </a:moveTo>
                <a:cubicBezTo>
                  <a:pt x="0" y="589"/>
                  <a:pt x="3" y="570"/>
                  <a:pt x="10" y="550"/>
                </a:cubicBezTo>
                <a:cubicBezTo>
                  <a:pt x="16" y="530"/>
                  <a:pt x="26" y="510"/>
                  <a:pt x="39" y="491"/>
                </a:cubicBezTo>
                <a:cubicBezTo>
                  <a:pt x="52" y="471"/>
                  <a:pt x="68" y="452"/>
                  <a:pt x="87" y="433"/>
                </a:cubicBezTo>
                <a:cubicBezTo>
                  <a:pt x="106" y="414"/>
                  <a:pt x="129" y="395"/>
                  <a:pt x="154" y="377"/>
                </a:cubicBezTo>
                <a:cubicBezTo>
                  <a:pt x="179" y="358"/>
                  <a:pt x="208" y="340"/>
                  <a:pt x="239" y="323"/>
                </a:cubicBezTo>
                <a:cubicBezTo>
                  <a:pt x="270" y="305"/>
                  <a:pt x="304" y="288"/>
                  <a:pt x="341" y="271"/>
                </a:cubicBezTo>
                <a:cubicBezTo>
                  <a:pt x="378" y="254"/>
                  <a:pt x="417" y="238"/>
                  <a:pt x="459" y="223"/>
                </a:cubicBezTo>
                <a:cubicBezTo>
                  <a:pt x="501" y="207"/>
                  <a:pt x="546" y="192"/>
                  <a:pt x="593" y="178"/>
                </a:cubicBezTo>
                <a:cubicBezTo>
                  <a:pt x="640" y="164"/>
                  <a:pt x="689" y="151"/>
                  <a:pt x="740" y="138"/>
                </a:cubicBezTo>
                <a:cubicBezTo>
                  <a:pt x="791" y="126"/>
                  <a:pt x="844" y="114"/>
                  <a:pt x="900" y="103"/>
                </a:cubicBezTo>
                <a:cubicBezTo>
                  <a:pt x="955" y="92"/>
                  <a:pt x="1011" y="81"/>
                  <a:pt x="1070" y="72"/>
                </a:cubicBezTo>
                <a:cubicBezTo>
                  <a:pt x="1128" y="63"/>
                  <a:pt x="1188" y="54"/>
                  <a:pt x="1249" y="47"/>
                </a:cubicBezTo>
                <a:cubicBezTo>
                  <a:pt x="1311" y="39"/>
                  <a:pt x="1374" y="32"/>
                  <a:pt x="1438" y="26"/>
                </a:cubicBezTo>
                <a:cubicBezTo>
                  <a:pt x="1501" y="21"/>
                  <a:pt x="1565" y="16"/>
                  <a:pt x="1630" y="12"/>
                </a:cubicBezTo>
                <a:cubicBezTo>
                  <a:pt x="1695" y="8"/>
                  <a:pt x="1761" y="5"/>
                  <a:pt x="1827" y="3"/>
                </a:cubicBezTo>
                <a:cubicBezTo>
                  <a:pt x="1893" y="1"/>
                  <a:pt x="1959" y="0"/>
                  <a:pt x="2025" y="0"/>
                </a:cubicBezTo>
                <a:lnTo>
                  <a:pt x="2048" y="0"/>
                </a:lnTo>
                <a:cubicBezTo>
                  <a:pt x="2114" y="0"/>
                  <a:pt x="2180" y="1"/>
                  <a:pt x="2246" y="3"/>
                </a:cubicBezTo>
                <a:cubicBezTo>
                  <a:pt x="2312" y="5"/>
                  <a:pt x="2378" y="8"/>
                  <a:pt x="2443" y="12"/>
                </a:cubicBezTo>
                <a:cubicBezTo>
                  <a:pt x="2508" y="16"/>
                  <a:pt x="2572" y="21"/>
                  <a:pt x="2636" y="26"/>
                </a:cubicBezTo>
                <a:cubicBezTo>
                  <a:pt x="2699" y="32"/>
                  <a:pt x="2761" y="39"/>
                  <a:pt x="2823" y="47"/>
                </a:cubicBezTo>
                <a:cubicBezTo>
                  <a:pt x="2884" y="54"/>
                  <a:pt x="2944" y="63"/>
                  <a:pt x="3002" y="72"/>
                </a:cubicBezTo>
                <a:cubicBezTo>
                  <a:pt x="3061" y="81"/>
                  <a:pt x="3118" y="92"/>
                  <a:pt x="3173" y="103"/>
                </a:cubicBezTo>
                <a:cubicBezTo>
                  <a:pt x="3228" y="114"/>
                  <a:pt x="3281" y="126"/>
                  <a:pt x="3332" y="138"/>
                </a:cubicBezTo>
                <a:cubicBezTo>
                  <a:pt x="3383" y="151"/>
                  <a:pt x="3433" y="164"/>
                  <a:pt x="3479" y="178"/>
                </a:cubicBezTo>
                <a:cubicBezTo>
                  <a:pt x="3526" y="192"/>
                  <a:pt x="3571" y="207"/>
                  <a:pt x="3613" y="223"/>
                </a:cubicBezTo>
                <a:cubicBezTo>
                  <a:pt x="3655" y="238"/>
                  <a:pt x="3694" y="254"/>
                  <a:pt x="3731" y="271"/>
                </a:cubicBezTo>
                <a:cubicBezTo>
                  <a:pt x="3768" y="288"/>
                  <a:pt x="3802" y="305"/>
                  <a:pt x="3833" y="323"/>
                </a:cubicBezTo>
                <a:cubicBezTo>
                  <a:pt x="3865" y="340"/>
                  <a:pt x="3893" y="358"/>
                  <a:pt x="3918" y="377"/>
                </a:cubicBezTo>
                <a:cubicBezTo>
                  <a:pt x="3944" y="395"/>
                  <a:pt x="3966" y="414"/>
                  <a:pt x="3985" y="433"/>
                </a:cubicBezTo>
                <a:cubicBezTo>
                  <a:pt x="4004" y="452"/>
                  <a:pt x="4021" y="471"/>
                  <a:pt x="4033" y="491"/>
                </a:cubicBezTo>
                <a:cubicBezTo>
                  <a:pt x="4046" y="510"/>
                  <a:pt x="4056" y="530"/>
                  <a:pt x="4063" y="550"/>
                </a:cubicBezTo>
                <a:cubicBezTo>
                  <a:pt x="4069" y="570"/>
                  <a:pt x="4072" y="589"/>
                  <a:pt x="4072" y="609"/>
                </a:cubicBezTo>
                <a:cubicBezTo>
                  <a:pt x="4072" y="629"/>
                  <a:pt x="4069" y="649"/>
                  <a:pt x="4063" y="669"/>
                </a:cubicBezTo>
                <a:cubicBezTo>
                  <a:pt x="4056" y="689"/>
                  <a:pt x="4046" y="708"/>
                  <a:pt x="4033" y="728"/>
                </a:cubicBezTo>
                <a:cubicBezTo>
                  <a:pt x="4021" y="747"/>
                  <a:pt x="4004" y="767"/>
                  <a:pt x="3985" y="786"/>
                </a:cubicBezTo>
                <a:cubicBezTo>
                  <a:pt x="3966" y="805"/>
                  <a:pt x="3944" y="824"/>
                  <a:pt x="3918" y="842"/>
                </a:cubicBezTo>
                <a:cubicBezTo>
                  <a:pt x="3893" y="860"/>
                  <a:pt x="3865" y="878"/>
                  <a:pt x="3833" y="896"/>
                </a:cubicBezTo>
                <a:cubicBezTo>
                  <a:pt x="3802" y="914"/>
                  <a:pt x="3768" y="931"/>
                  <a:pt x="3731" y="947"/>
                </a:cubicBezTo>
                <a:cubicBezTo>
                  <a:pt x="3694" y="964"/>
                  <a:pt x="3655" y="980"/>
                  <a:pt x="3613" y="995"/>
                </a:cubicBezTo>
                <a:cubicBezTo>
                  <a:pt x="3571" y="1010"/>
                  <a:pt x="3526" y="1025"/>
                  <a:pt x="3479" y="1039"/>
                </a:cubicBezTo>
                <a:cubicBezTo>
                  <a:pt x="3433" y="1053"/>
                  <a:pt x="3383" y="1067"/>
                  <a:pt x="3332" y="1079"/>
                </a:cubicBezTo>
                <a:cubicBezTo>
                  <a:pt x="3281" y="1092"/>
                  <a:pt x="3228" y="1104"/>
                  <a:pt x="3173" y="1115"/>
                </a:cubicBezTo>
                <a:cubicBezTo>
                  <a:pt x="3118" y="1126"/>
                  <a:pt x="3061" y="1136"/>
                  <a:pt x="3002" y="1146"/>
                </a:cubicBezTo>
                <a:cubicBezTo>
                  <a:pt x="2944" y="1155"/>
                  <a:pt x="2884" y="1163"/>
                  <a:pt x="2823" y="1171"/>
                </a:cubicBezTo>
                <a:cubicBezTo>
                  <a:pt x="2761" y="1179"/>
                  <a:pt x="2699" y="1185"/>
                  <a:pt x="2636" y="1191"/>
                </a:cubicBezTo>
                <a:cubicBezTo>
                  <a:pt x="2572" y="1197"/>
                  <a:pt x="2508" y="1202"/>
                  <a:pt x="2443" y="1206"/>
                </a:cubicBezTo>
                <a:cubicBezTo>
                  <a:pt x="2378" y="1210"/>
                  <a:pt x="2312" y="1212"/>
                  <a:pt x="2246" y="1214"/>
                </a:cubicBezTo>
                <a:cubicBezTo>
                  <a:pt x="2180" y="1216"/>
                  <a:pt x="2114" y="1217"/>
                  <a:pt x="2048" y="1217"/>
                </a:cubicBezTo>
                <a:lnTo>
                  <a:pt x="2025" y="1217"/>
                </a:lnTo>
                <a:cubicBezTo>
                  <a:pt x="1959" y="1217"/>
                  <a:pt x="1893" y="1216"/>
                  <a:pt x="1827" y="1214"/>
                </a:cubicBezTo>
                <a:cubicBezTo>
                  <a:pt x="1761" y="1212"/>
                  <a:pt x="1695" y="1210"/>
                  <a:pt x="1630" y="1206"/>
                </a:cubicBezTo>
                <a:cubicBezTo>
                  <a:pt x="1565" y="1202"/>
                  <a:pt x="1501" y="1197"/>
                  <a:pt x="1438" y="1191"/>
                </a:cubicBezTo>
                <a:cubicBezTo>
                  <a:pt x="1374" y="1185"/>
                  <a:pt x="1311" y="1179"/>
                  <a:pt x="1249" y="1171"/>
                </a:cubicBezTo>
                <a:cubicBezTo>
                  <a:pt x="1188" y="1163"/>
                  <a:pt x="1128" y="1155"/>
                  <a:pt x="1070" y="1146"/>
                </a:cubicBezTo>
                <a:cubicBezTo>
                  <a:pt x="1011" y="1136"/>
                  <a:pt x="955" y="1126"/>
                  <a:pt x="900" y="1115"/>
                </a:cubicBezTo>
                <a:cubicBezTo>
                  <a:pt x="844" y="1104"/>
                  <a:pt x="791" y="1092"/>
                  <a:pt x="740" y="1079"/>
                </a:cubicBezTo>
                <a:cubicBezTo>
                  <a:pt x="689" y="1067"/>
                  <a:pt x="640" y="1053"/>
                  <a:pt x="593" y="1039"/>
                </a:cubicBezTo>
                <a:cubicBezTo>
                  <a:pt x="546" y="1025"/>
                  <a:pt x="501" y="1010"/>
                  <a:pt x="459" y="995"/>
                </a:cubicBezTo>
                <a:cubicBezTo>
                  <a:pt x="417" y="980"/>
                  <a:pt x="378" y="964"/>
                  <a:pt x="341" y="947"/>
                </a:cubicBezTo>
                <a:cubicBezTo>
                  <a:pt x="304" y="931"/>
                  <a:pt x="270" y="914"/>
                  <a:pt x="239" y="896"/>
                </a:cubicBezTo>
                <a:cubicBezTo>
                  <a:pt x="208" y="878"/>
                  <a:pt x="179" y="860"/>
                  <a:pt x="154" y="842"/>
                </a:cubicBezTo>
                <a:cubicBezTo>
                  <a:pt x="129" y="824"/>
                  <a:pt x="106" y="805"/>
                  <a:pt x="87" y="786"/>
                </a:cubicBezTo>
                <a:cubicBezTo>
                  <a:pt x="68" y="767"/>
                  <a:pt x="52" y="747"/>
                  <a:pt x="39" y="728"/>
                </a:cubicBezTo>
                <a:cubicBezTo>
                  <a:pt x="26" y="708"/>
                  <a:pt x="16" y="689"/>
                  <a:pt x="10" y="669"/>
                </a:cubicBezTo>
                <a:cubicBezTo>
                  <a:pt x="3" y="649"/>
                  <a:pt x="0" y="629"/>
                  <a:pt x="0" y="609"/>
                </a:cubicBezTo>
                <a:moveTo>
                  <a:pt x="106" y="609"/>
                </a:moveTo>
                <a:cubicBezTo>
                  <a:pt x="106" y="593"/>
                  <a:pt x="109" y="576"/>
                  <a:pt x="115" y="560"/>
                </a:cubicBezTo>
                <a:cubicBezTo>
                  <a:pt x="121" y="544"/>
                  <a:pt x="130" y="527"/>
                  <a:pt x="142" y="511"/>
                </a:cubicBezTo>
                <a:cubicBezTo>
                  <a:pt x="155" y="495"/>
                  <a:pt x="170" y="479"/>
                  <a:pt x="188" y="463"/>
                </a:cubicBezTo>
                <a:cubicBezTo>
                  <a:pt x="206" y="448"/>
                  <a:pt x="228" y="432"/>
                  <a:pt x="252" y="417"/>
                </a:cubicBezTo>
                <a:cubicBezTo>
                  <a:pt x="276" y="402"/>
                  <a:pt x="303" y="387"/>
                  <a:pt x="332" y="373"/>
                </a:cubicBezTo>
                <a:cubicBezTo>
                  <a:pt x="362" y="358"/>
                  <a:pt x="394" y="344"/>
                  <a:pt x="429" y="330"/>
                </a:cubicBezTo>
                <a:cubicBezTo>
                  <a:pt x="464" y="317"/>
                  <a:pt x="501" y="303"/>
                  <a:pt x="541" y="291"/>
                </a:cubicBezTo>
                <a:cubicBezTo>
                  <a:pt x="581" y="278"/>
                  <a:pt x="623" y="266"/>
                  <a:pt x="668" y="253"/>
                </a:cubicBezTo>
                <a:cubicBezTo>
                  <a:pt x="712" y="241"/>
                  <a:pt x="758" y="230"/>
                  <a:pt x="807" y="220"/>
                </a:cubicBezTo>
                <a:cubicBezTo>
                  <a:pt x="856" y="210"/>
                  <a:pt x="906" y="200"/>
                  <a:pt x="958" y="191"/>
                </a:cubicBezTo>
                <a:cubicBezTo>
                  <a:pt x="1011" y="181"/>
                  <a:pt x="1064" y="173"/>
                  <a:pt x="1120" y="165"/>
                </a:cubicBezTo>
                <a:cubicBezTo>
                  <a:pt x="1175" y="158"/>
                  <a:pt x="1232" y="151"/>
                  <a:pt x="1290" y="144"/>
                </a:cubicBezTo>
                <a:cubicBezTo>
                  <a:pt x="1349" y="138"/>
                  <a:pt x="1408" y="132"/>
                  <a:pt x="1468" y="128"/>
                </a:cubicBezTo>
                <a:cubicBezTo>
                  <a:pt x="1528" y="123"/>
                  <a:pt x="1589" y="119"/>
                  <a:pt x="1651" y="116"/>
                </a:cubicBezTo>
                <a:cubicBezTo>
                  <a:pt x="1713" y="112"/>
                  <a:pt x="1775" y="110"/>
                  <a:pt x="1837" y="108"/>
                </a:cubicBezTo>
                <a:cubicBezTo>
                  <a:pt x="1900" y="107"/>
                  <a:pt x="1962" y="106"/>
                  <a:pt x="2025" y="106"/>
                </a:cubicBezTo>
                <a:lnTo>
                  <a:pt x="2048" y="106"/>
                </a:lnTo>
                <a:cubicBezTo>
                  <a:pt x="2111" y="106"/>
                  <a:pt x="2174" y="107"/>
                  <a:pt x="2236" y="108"/>
                </a:cubicBezTo>
                <a:cubicBezTo>
                  <a:pt x="2299" y="110"/>
                  <a:pt x="2361" y="112"/>
                  <a:pt x="2422" y="116"/>
                </a:cubicBezTo>
                <a:cubicBezTo>
                  <a:pt x="2484" y="119"/>
                  <a:pt x="2545" y="123"/>
                  <a:pt x="2605" y="128"/>
                </a:cubicBezTo>
                <a:cubicBezTo>
                  <a:pt x="2665" y="132"/>
                  <a:pt x="2724" y="138"/>
                  <a:pt x="2782" y="144"/>
                </a:cubicBezTo>
                <a:cubicBezTo>
                  <a:pt x="2840" y="151"/>
                  <a:pt x="2897" y="158"/>
                  <a:pt x="2952" y="165"/>
                </a:cubicBezTo>
                <a:cubicBezTo>
                  <a:pt x="3008" y="173"/>
                  <a:pt x="3062" y="181"/>
                  <a:pt x="3114" y="191"/>
                </a:cubicBezTo>
                <a:cubicBezTo>
                  <a:pt x="3166" y="200"/>
                  <a:pt x="3217" y="210"/>
                  <a:pt x="3265" y="220"/>
                </a:cubicBezTo>
                <a:cubicBezTo>
                  <a:pt x="3314" y="230"/>
                  <a:pt x="3360" y="241"/>
                  <a:pt x="3405" y="253"/>
                </a:cubicBezTo>
                <a:cubicBezTo>
                  <a:pt x="3449" y="266"/>
                  <a:pt x="3491" y="278"/>
                  <a:pt x="3531" y="291"/>
                </a:cubicBezTo>
                <a:cubicBezTo>
                  <a:pt x="3571" y="303"/>
                  <a:pt x="3608" y="317"/>
                  <a:pt x="3643" y="330"/>
                </a:cubicBezTo>
                <a:cubicBezTo>
                  <a:pt x="3678" y="344"/>
                  <a:pt x="3710" y="358"/>
                  <a:pt x="3740" y="373"/>
                </a:cubicBezTo>
                <a:cubicBezTo>
                  <a:pt x="3770" y="387"/>
                  <a:pt x="3796" y="402"/>
                  <a:pt x="3821" y="417"/>
                </a:cubicBezTo>
                <a:cubicBezTo>
                  <a:pt x="3845" y="432"/>
                  <a:pt x="3866" y="448"/>
                  <a:pt x="3884" y="463"/>
                </a:cubicBezTo>
                <a:cubicBezTo>
                  <a:pt x="3902" y="479"/>
                  <a:pt x="3917" y="495"/>
                  <a:pt x="3930" y="511"/>
                </a:cubicBezTo>
                <a:cubicBezTo>
                  <a:pt x="3942" y="527"/>
                  <a:pt x="3951" y="544"/>
                  <a:pt x="3957" y="560"/>
                </a:cubicBezTo>
                <a:cubicBezTo>
                  <a:pt x="3964" y="576"/>
                  <a:pt x="3967" y="593"/>
                  <a:pt x="3967" y="609"/>
                </a:cubicBezTo>
                <a:cubicBezTo>
                  <a:pt x="3967" y="626"/>
                  <a:pt x="3964" y="642"/>
                  <a:pt x="3957" y="659"/>
                </a:cubicBezTo>
                <a:cubicBezTo>
                  <a:pt x="3951" y="675"/>
                  <a:pt x="3942" y="691"/>
                  <a:pt x="3930" y="707"/>
                </a:cubicBezTo>
                <a:cubicBezTo>
                  <a:pt x="3917" y="723"/>
                  <a:pt x="3902" y="739"/>
                  <a:pt x="3884" y="755"/>
                </a:cubicBezTo>
                <a:cubicBezTo>
                  <a:pt x="3866" y="771"/>
                  <a:pt x="3845" y="786"/>
                  <a:pt x="3821" y="802"/>
                </a:cubicBezTo>
                <a:cubicBezTo>
                  <a:pt x="3796" y="817"/>
                  <a:pt x="3770" y="832"/>
                  <a:pt x="3740" y="846"/>
                </a:cubicBezTo>
                <a:cubicBezTo>
                  <a:pt x="3710" y="861"/>
                  <a:pt x="3678" y="875"/>
                  <a:pt x="3643" y="888"/>
                </a:cubicBezTo>
                <a:cubicBezTo>
                  <a:pt x="3608" y="902"/>
                  <a:pt x="3571" y="915"/>
                  <a:pt x="3531" y="928"/>
                </a:cubicBezTo>
                <a:cubicBezTo>
                  <a:pt x="3491" y="941"/>
                  <a:pt x="3449" y="953"/>
                  <a:pt x="3405" y="964"/>
                </a:cubicBezTo>
                <a:cubicBezTo>
                  <a:pt x="3360" y="976"/>
                  <a:pt x="3314" y="987"/>
                  <a:pt x="3265" y="998"/>
                </a:cubicBezTo>
                <a:cubicBezTo>
                  <a:pt x="3217" y="1008"/>
                  <a:pt x="3166" y="1018"/>
                  <a:pt x="3114" y="1027"/>
                </a:cubicBezTo>
                <a:cubicBezTo>
                  <a:pt x="3062" y="1036"/>
                  <a:pt x="3008" y="1045"/>
                  <a:pt x="2952" y="1052"/>
                </a:cubicBezTo>
                <a:cubicBezTo>
                  <a:pt x="2897" y="1060"/>
                  <a:pt x="2840" y="1067"/>
                  <a:pt x="2782" y="1073"/>
                </a:cubicBezTo>
                <a:cubicBezTo>
                  <a:pt x="2724" y="1080"/>
                  <a:pt x="2665" y="1085"/>
                  <a:pt x="2605" y="1090"/>
                </a:cubicBezTo>
                <a:cubicBezTo>
                  <a:pt x="2545" y="1095"/>
                  <a:pt x="2484" y="1099"/>
                  <a:pt x="2422" y="1102"/>
                </a:cubicBezTo>
                <a:cubicBezTo>
                  <a:pt x="2361" y="1105"/>
                  <a:pt x="2299" y="1108"/>
                  <a:pt x="2236" y="1109"/>
                </a:cubicBezTo>
                <a:cubicBezTo>
                  <a:pt x="2174" y="1111"/>
                  <a:pt x="2111" y="1112"/>
                  <a:pt x="2048" y="1112"/>
                </a:cubicBezTo>
                <a:lnTo>
                  <a:pt x="2025" y="1112"/>
                </a:lnTo>
                <a:cubicBezTo>
                  <a:pt x="1962" y="1112"/>
                  <a:pt x="1900" y="1111"/>
                  <a:pt x="1837" y="1109"/>
                </a:cubicBezTo>
                <a:cubicBezTo>
                  <a:pt x="1775" y="1108"/>
                  <a:pt x="1713" y="1105"/>
                  <a:pt x="1651" y="1102"/>
                </a:cubicBezTo>
                <a:cubicBezTo>
                  <a:pt x="1589" y="1099"/>
                  <a:pt x="1528" y="1095"/>
                  <a:pt x="1468" y="1090"/>
                </a:cubicBezTo>
                <a:cubicBezTo>
                  <a:pt x="1408" y="1085"/>
                  <a:pt x="1349" y="1080"/>
                  <a:pt x="1290" y="1073"/>
                </a:cubicBezTo>
                <a:cubicBezTo>
                  <a:pt x="1232" y="1067"/>
                  <a:pt x="1175" y="1060"/>
                  <a:pt x="1120" y="1052"/>
                </a:cubicBezTo>
                <a:cubicBezTo>
                  <a:pt x="1064" y="1045"/>
                  <a:pt x="1011" y="1036"/>
                  <a:pt x="958" y="1027"/>
                </a:cubicBezTo>
                <a:cubicBezTo>
                  <a:pt x="906" y="1018"/>
                  <a:pt x="856" y="1008"/>
                  <a:pt x="807" y="998"/>
                </a:cubicBezTo>
                <a:cubicBezTo>
                  <a:pt x="758" y="987"/>
                  <a:pt x="712" y="976"/>
                  <a:pt x="668" y="964"/>
                </a:cubicBezTo>
                <a:cubicBezTo>
                  <a:pt x="623" y="953"/>
                  <a:pt x="581" y="941"/>
                  <a:pt x="541" y="928"/>
                </a:cubicBezTo>
                <a:cubicBezTo>
                  <a:pt x="501" y="915"/>
                  <a:pt x="464" y="902"/>
                  <a:pt x="429" y="888"/>
                </a:cubicBezTo>
                <a:cubicBezTo>
                  <a:pt x="394" y="875"/>
                  <a:pt x="362" y="861"/>
                  <a:pt x="332" y="846"/>
                </a:cubicBezTo>
                <a:cubicBezTo>
                  <a:pt x="303" y="832"/>
                  <a:pt x="276" y="817"/>
                  <a:pt x="252" y="802"/>
                </a:cubicBezTo>
                <a:cubicBezTo>
                  <a:pt x="228" y="786"/>
                  <a:pt x="206" y="771"/>
                  <a:pt x="188" y="755"/>
                </a:cubicBezTo>
                <a:cubicBezTo>
                  <a:pt x="170" y="739"/>
                  <a:pt x="155" y="723"/>
                  <a:pt x="142" y="707"/>
                </a:cubicBezTo>
                <a:cubicBezTo>
                  <a:pt x="130" y="691"/>
                  <a:pt x="121" y="675"/>
                  <a:pt x="115" y="659"/>
                </a:cubicBezTo>
                <a:cubicBezTo>
                  <a:pt x="109" y="642"/>
                  <a:pt x="106" y="626"/>
                  <a:pt x="106" y="609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981800" y="4065480"/>
            <a:ext cx="1097280" cy="8640"/>
          </a:xfrm>
          <a:custGeom>
            <a:avLst/>
            <a:gdLst>
              <a:gd name="textAreaLeft" fmla="*/ 0 w 1097280"/>
              <a:gd name="textAreaRight" fmla="*/ 1098720 w 1097280"/>
              <a:gd name="textAreaTop" fmla="*/ 0 h 8640"/>
              <a:gd name="textAreaBottom" fmla="*/ 10080 h 8640"/>
            </a:gdLst>
            <a:ahLst/>
            <a:cxnLst/>
            <a:rect l="textAreaLeft" t="textAreaTop" r="textAreaRight" b="textAreaBottom"/>
            <a:pathLst>
              <a:path w="3052" h="28">
                <a:moveTo>
                  <a:pt x="0" y="0"/>
                </a:moveTo>
                <a:lnTo>
                  <a:pt x="3052" y="0"/>
                </a:lnTo>
                <a:lnTo>
                  <a:pt x="30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3408480" y="3799080"/>
            <a:ext cx="1836000" cy="365400"/>
          </a:xfrm>
          <a:custGeom>
            <a:avLst/>
            <a:gdLst>
              <a:gd name="textAreaLeft" fmla="*/ 0 w 1836000"/>
              <a:gd name="textAreaRight" fmla="*/ 1837440 w 1836000"/>
              <a:gd name="textAreaTop" fmla="*/ 0 h 365400"/>
              <a:gd name="textAreaBottom" fmla="*/ 366120 h 365400"/>
            </a:gdLst>
            <a:ahLst/>
            <a:cxnLst/>
            <a:rect l="textAreaLeft" t="textAreaTop" r="textAreaRight" b="textAreaBottom"/>
            <a:pathLst>
              <a:path w="5104" h="2063">
                <a:moveTo>
                  <a:pt x="0" y="1032"/>
                </a:moveTo>
                <a:cubicBezTo>
                  <a:pt x="0" y="998"/>
                  <a:pt x="4" y="965"/>
                  <a:pt x="12" y="931"/>
                </a:cubicBezTo>
                <a:cubicBezTo>
                  <a:pt x="20" y="898"/>
                  <a:pt x="33" y="864"/>
                  <a:pt x="49" y="831"/>
                </a:cubicBezTo>
                <a:cubicBezTo>
                  <a:pt x="65" y="798"/>
                  <a:pt x="85" y="765"/>
                  <a:pt x="110" y="732"/>
                </a:cubicBezTo>
                <a:cubicBezTo>
                  <a:pt x="134" y="700"/>
                  <a:pt x="162" y="668"/>
                  <a:pt x="194" y="637"/>
                </a:cubicBezTo>
                <a:cubicBezTo>
                  <a:pt x="226" y="605"/>
                  <a:pt x="261" y="575"/>
                  <a:pt x="301" y="545"/>
                </a:cubicBezTo>
                <a:cubicBezTo>
                  <a:pt x="340" y="515"/>
                  <a:pt x="383" y="486"/>
                  <a:pt x="429" y="458"/>
                </a:cubicBezTo>
                <a:cubicBezTo>
                  <a:pt x="476" y="430"/>
                  <a:pt x="525" y="403"/>
                  <a:pt x="578" y="377"/>
                </a:cubicBezTo>
                <a:cubicBezTo>
                  <a:pt x="631" y="351"/>
                  <a:pt x="687" y="326"/>
                  <a:pt x="746" y="302"/>
                </a:cubicBezTo>
                <a:cubicBezTo>
                  <a:pt x="805" y="278"/>
                  <a:pt x="867" y="256"/>
                  <a:pt x="931" y="234"/>
                </a:cubicBezTo>
                <a:cubicBezTo>
                  <a:pt x="996" y="213"/>
                  <a:pt x="1063" y="193"/>
                  <a:pt x="1132" y="174"/>
                </a:cubicBezTo>
                <a:cubicBezTo>
                  <a:pt x="1201" y="155"/>
                  <a:pt x="1273" y="138"/>
                  <a:pt x="1346" y="122"/>
                </a:cubicBezTo>
                <a:cubicBezTo>
                  <a:pt x="1420" y="106"/>
                  <a:pt x="1495" y="92"/>
                  <a:pt x="1572" y="79"/>
                </a:cubicBezTo>
                <a:cubicBezTo>
                  <a:pt x="1650" y="66"/>
                  <a:pt x="1728" y="54"/>
                  <a:pt x="1808" y="44"/>
                </a:cubicBezTo>
                <a:cubicBezTo>
                  <a:pt x="1888" y="35"/>
                  <a:pt x="1968" y="26"/>
                  <a:pt x="2050" y="20"/>
                </a:cubicBezTo>
                <a:cubicBezTo>
                  <a:pt x="2132" y="13"/>
                  <a:pt x="2215" y="8"/>
                  <a:pt x="2298" y="5"/>
                </a:cubicBezTo>
                <a:cubicBezTo>
                  <a:pt x="2381" y="2"/>
                  <a:pt x="2464" y="0"/>
                  <a:pt x="2547" y="0"/>
                </a:cubicBezTo>
                <a:lnTo>
                  <a:pt x="2555" y="0"/>
                </a:lnTo>
                <a:cubicBezTo>
                  <a:pt x="2639" y="0"/>
                  <a:pt x="2722" y="2"/>
                  <a:pt x="2805" y="5"/>
                </a:cubicBezTo>
                <a:cubicBezTo>
                  <a:pt x="2888" y="8"/>
                  <a:pt x="2970" y="13"/>
                  <a:pt x="3052" y="20"/>
                </a:cubicBezTo>
                <a:cubicBezTo>
                  <a:pt x="3134" y="26"/>
                  <a:pt x="3215" y="35"/>
                  <a:pt x="3295" y="44"/>
                </a:cubicBezTo>
                <a:cubicBezTo>
                  <a:pt x="3374" y="54"/>
                  <a:pt x="3453" y="66"/>
                  <a:pt x="3531" y="79"/>
                </a:cubicBezTo>
                <a:cubicBezTo>
                  <a:pt x="3608" y="92"/>
                  <a:pt x="3683" y="106"/>
                  <a:pt x="3757" y="122"/>
                </a:cubicBezTo>
                <a:cubicBezTo>
                  <a:pt x="3831" y="138"/>
                  <a:pt x="3902" y="155"/>
                  <a:pt x="3971" y="174"/>
                </a:cubicBezTo>
                <a:cubicBezTo>
                  <a:pt x="4041" y="193"/>
                  <a:pt x="4108" y="213"/>
                  <a:pt x="4172" y="234"/>
                </a:cubicBezTo>
                <a:cubicBezTo>
                  <a:pt x="4237" y="256"/>
                  <a:pt x="4298" y="278"/>
                  <a:pt x="4357" y="302"/>
                </a:cubicBezTo>
                <a:cubicBezTo>
                  <a:pt x="4416" y="326"/>
                  <a:pt x="4472" y="351"/>
                  <a:pt x="4525" y="377"/>
                </a:cubicBezTo>
                <a:cubicBezTo>
                  <a:pt x="4578" y="403"/>
                  <a:pt x="4628" y="430"/>
                  <a:pt x="4674" y="458"/>
                </a:cubicBezTo>
                <a:cubicBezTo>
                  <a:pt x="4721" y="486"/>
                  <a:pt x="4763" y="515"/>
                  <a:pt x="4803" y="545"/>
                </a:cubicBezTo>
                <a:cubicBezTo>
                  <a:pt x="4842" y="575"/>
                  <a:pt x="4878" y="605"/>
                  <a:pt x="4910" y="637"/>
                </a:cubicBezTo>
                <a:cubicBezTo>
                  <a:pt x="4942" y="668"/>
                  <a:pt x="4970" y="700"/>
                  <a:pt x="4994" y="732"/>
                </a:cubicBezTo>
                <a:cubicBezTo>
                  <a:pt x="5018" y="765"/>
                  <a:pt x="5038" y="798"/>
                  <a:pt x="5055" y="831"/>
                </a:cubicBezTo>
                <a:cubicBezTo>
                  <a:pt x="5071" y="864"/>
                  <a:pt x="5083" y="898"/>
                  <a:pt x="5091" y="931"/>
                </a:cubicBezTo>
                <a:cubicBezTo>
                  <a:pt x="5099" y="965"/>
                  <a:pt x="5104" y="998"/>
                  <a:pt x="5104" y="1032"/>
                </a:cubicBezTo>
                <a:cubicBezTo>
                  <a:pt x="5104" y="1066"/>
                  <a:pt x="5099" y="1100"/>
                  <a:pt x="5091" y="1133"/>
                </a:cubicBezTo>
                <a:cubicBezTo>
                  <a:pt x="5083" y="1167"/>
                  <a:pt x="5071" y="1200"/>
                  <a:pt x="5055" y="1233"/>
                </a:cubicBezTo>
                <a:cubicBezTo>
                  <a:pt x="5038" y="1266"/>
                  <a:pt x="5018" y="1299"/>
                  <a:pt x="4994" y="1331"/>
                </a:cubicBezTo>
                <a:cubicBezTo>
                  <a:pt x="4970" y="1364"/>
                  <a:pt x="4942" y="1396"/>
                  <a:pt x="4910" y="1427"/>
                </a:cubicBezTo>
                <a:cubicBezTo>
                  <a:pt x="4878" y="1458"/>
                  <a:pt x="4842" y="1488"/>
                  <a:pt x="4803" y="1518"/>
                </a:cubicBezTo>
                <a:cubicBezTo>
                  <a:pt x="4763" y="1548"/>
                  <a:pt x="4721" y="1577"/>
                  <a:pt x="4674" y="1605"/>
                </a:cubicBezTo>
                <a:cubicBezTo>
                  <a:pt x="4628" y="1633"/>
                  <a:pt x="4578" y="1660"/>
                  <a:pt x="4525" y="1686"/>
                </a:cubicBezTo>
                <a:cubicBezTo>
                  <a:pt x="4472" y="1712"/>
                  <a:pt x="4416" y="1737"/>
                  <a:pt x="4357" y="1761"/>
                </a:cubicBezTo>
                <a:cubicBezTo>
                  <a:pt x="4298" y="1785"/>
                  <a:pt x="4237" y="1808"/>
                  <a:pt x="4172" y="1829"/>
                </a:cubicBezTo>
                <a:cubicBezTo>
                  <a:pt x="4108" y="1851"/>
                  <a:pt x="4041" y="1871"/>
                  <a:pt x="3971" y="1890"/>
                </a:cubicBezTo>
                <a:cubicBezTo>
                  <a:pt x="3902" y="1908"/>
                  <a:pt x="3831" y="1926"/>
                  <a:pt x="3757" y="1942"/>
                </a:cubicBezTo>
                <a:cubicBezTo>
                  <a:pt x="3683" y="1957"/>
                  <a:pt x="3608" y="1972"/>
                  <a:pt x="3531" y="1985"/>
                </a:cubicBezTo>
                <a:cubicBezTo>
                  <a:pt x="3453" y="1998"/>
                  <a:pt x="3374" y="2009"/>
                  <a:pt x="3295" y="2019"/>
                </a:cubicBezTo>
                <a:cubicBezTo>
                  <a:pt x="3215" y="2029"/>
                  <a:pt x="3134" y="2037"/>
                  <a:pt x="3052" y="2043"/>
                </a:cubicBezTo>
                <a:cubicBezTo>
                  <a:pt x="2970" y="2050"/>
                  <a:pt x="2888" y="2055"/>
                  <a:pt x="2805" y="2058"/>
                </a:cubicBezTo>
                <a:cubicBezTo>
                  <a:pt x="2722" y="2062"/>
                  <a:pt x="2639" y="2063"/>
                  <a:pt x="2555" y="2063"/>
                </a:cubicBezTo>
                <a:lnTo>
                  <a:pt x="2547" y="2063"/>
                </a:lnTo>
                <a:cubicBezTo>
                  <a:pt x="2464" y="2063"/>
                  <a:pt x="2381" y="2062"/>
                  <a:pt x="2298" y="2058"/>
                </a:cubicBezTo>
                <a:cubicBezTo>
                  <a:pt x="2215" y="2055"/>
                  <a:pt x="2132" y="2050"/>
                  <a:pt x="2050" y="2043"/>
                </a:cubicBezTo>
                <a:cubicBezTo>
                  <a:pt x="1968" y="2037"/>
                  <a:pt x="1888" y="2029"/>
                  <a:pt x="1808" y="2019"/>
                </a:cubicBezTo>
                <a:cubicBezTo>
                  <a:pt x="1728" y="2009"/>
                  <a:pt x="1650" y="1998"/>
                  <a:pt x="1572" y="1985"/>
                </a:cubicBezTo>
                <a:cubicBezTo>
                  <a:pt x="1495" y="1972"/>
                  <a:pt x="1420" y="1957"/>
                  <a:pt x="1346" y="1942"/>
                </a:cubicBezTo>
                <a:cubicBezTo>
                  <a:pt x="1273" y="1926"/>
                  <a:pt x="1201" y="1908"/>
                  <a:pt x="1132" y="1890"/>
                </a:cubicBezTo>
                <a:cubicBezTo>
                  <a:pt x="1063" y="1871"/>
                  <a:pt x="996" y="1851"/>
                  <a:pt x="931" y="1829"/>
                </a:cubicBezTo>
                <a:cubicBezTo>
                  <a:pt x="867" y="1808"/>
                  <a:pt x="805" y="1785"/>
                  <a:pt x="746" y="1761"/>
                </a:cubicBezTo>
                <a:cubicBezTo>
                  <a:pt x="687" y="1737"/>
                  <a:pt x="631" y="1712"/>
                  <a:pt x="578" y="1686"/>
                </a:cubicBezTo>
                <a:cubicBezTo>
                  <a:pt x="525" y="1660"/>
                  <a:pt x="476" y="1633"/>
                  <a:pt x="429" y="1605"/>
                </a:cubicBezTo>
                <a:cubicBezTo>
                  <a:pt x="383" y="1577"/>
                  <a:pt x="340" y="1548"/>
                  <a:pt x="301" y="1518"/>
                </a:cubicBezTo>
                <a:cubicBezTo>
                  <a:pt x="261" y="1488"/>
                  <a:pt x="226" y="1458"/>
                  <a:pt x="194" y="1427"/>
                </a:cubicBezTo>
                <a:cubicBezTo>
                  <a:pt x="162" y="1396"/>
                  <a:pt x="134" y="1364"/>
                  <a:pt x="110" y="1331"/>
                </a:cubicBezTo>
                <a:cubicBezTo>
                  <a:pt x="85" y="1299"/>
                  <a:pt x="65" y="1266"/>
                  <a:pt x="49" y="1233"/>
                </a:cubicBezTo>
                <a:cubicBezTo>
                  <a:pt x="33" y="1200"/>
                  <a:pt x="20" y="1167"/>
                  <a:pt x="12" y="1133"/>
                </a:cubicBezTo>
                <a:cubicBezTo>
                  <a:pt x="4" y="1100"/>
                  <a:pt x="0" y="1066"/>
                  <a:pt x="0" y="10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3389400" y="3780000"/>
            <a:ext cx="1873800" cy="564480"/>
          </a:xfrm>
          <a:custGeom>
            <a:avLst/>
            <a:gdLst>
              <a:gd name="textAreaLeft" fmla="*/ 0 w 1873800"/>
              <a:gd name="textAreaRight" fmla="*/ 1875240 w 1873800"/>
              <a:gd name="textAreaTop" fmla="*/ 0 h 564480"/>
              <a:gd name="textAreaBottom" fmla="*/ 565560 h 564480"/>
            </a:gdLst>
            <a:ahLst/>
            <a:cxnLst/>
            <a:rect l="textAreaLeft" t="textAreaTop" r="textAreaRight" b="textAreaBottom"/>
            <a:pathLst>
              <a:path w="5209" h="2169">
                <a:moveTo>
                  <a:pt x="0" y="1084"/>
                </a:moveTo>
                <a:cubicBezTo>
                  <a:pt x="0" y="1049"/>
                  <a:pt x="4" y="1013"/>
                  <a:pt x="13" y="978"/>
                </a:cubicBezTo>
                <a:cubicBezTo>
                  <a:pt x="21" y="943"/>
                  <a:pt x="33" y="908"/>
                  <a:pt x="50" y="873"/>
                </a:cubicBezTo>
                <a:cubicBezTo>
                  <a:pt x="67" y="838"/>
                  <a:pt x="87" y="803"/>
                  <a:pt x="112" y="770"/>
                </a:cubicBezTo>
                <a:cubicBezTo>
                  <a:pt x="137" y="736"/>
                  <a:pt x="165" y="702"/>
                  <a:pt x="198" y="669"/>
                </a:cubicBezTo>
                <a:cubicBezTo>
                  <a:pt x="231" y="637"/>
                  <a:pt x="267" y="605"/>
                  <a:pt x="307" y="573"/>
                </a:cubicBezTo>
                <a:cubicBezTo>
                  <a:pt x="347" y="542"/>
                  <a:pt x="391" y="511"/>
                  <a:pt x="438" y="482"/>
                </a:cubicBezTo>
                <a:cubicBezTo>
                  <a:pt x="486" y="452"/>
                  <a:pt x="536" y="424"/>
                  <a:pt x="590" y="397"/>
                </a:cubicBezTo>
                <a:cubicBezTo>
                  <a:pt x="644" y="369"/>
                  <a:pt x="701" y="343"/>
                  <a:pt x="762" y="318"/>
                </a:cubicBezTo>
                <a:cubicBezTo>
                  <a:pt x="822" y="293"/>
                  <a:pt x="885" y="269"/>
                  <a:pt x="951" y="246"/>
                </a:cubicBezTo>
                <a:cubicBezTo>
                  <a:pt x="1017" y="224"/>
                  <a:pt x="1085" y="203"/>
                  <a:pt x="1156" y="183"/>
                </a:cubicBezTo>
                <a:cubicBezTo>
                  <a:pt x="1226" y="163"/>
                  <a:pt x="1299" y="145"/>
                  <a:pt x="1375" y="128"/>
                </a:cubicBezTo>
                <a:cubicBezTo>
                  <a:pt x="1450" y="111"/>
                  <a:pt x="1527" y="96"/>
                  <a:pt x="1605" y="83"/>
                </a:cubicBezTo>
                <a:cubicBezTo>
                  <a:pt x="1684" y="69"/>
                  <a:pt x="1764" y="57"/>
                  <a:pt x="1845" y="47"/>
                </a:cubicBezTo>
                <a:cubicBezTo>
                  <a:pt x="1927" y="37"/>
                  <a:pt x="2009" y="28"/>
                  <a:pt x="2093" y="21"/>
                </a:cubicBezTo>
                <a:cubicBezTo>
                  <a:pt x="2177" y="14"/>
                  <a:pt x="2261" y="9"/>
                  <a:pt x="2345" y="5"/>
                </a:cubicBezTo>
                <a:cubicBezTo>
                  <a:pt x="2430" y="2"/>
                  <a:pt x="2515" y="0"/>
                  <a:pt x="2600" y="0"/>
                </a:cubicBezTo>
                <a:lnTo>
                  <a:pt x="2608" y="0"/>
                </a:lnTo>
                <a:cubicBezTo>
                  <a:pt x="2693" y="0"/>
                  <a:pt x="2778" y="2"/>
                  <a:pt x="2863" y="5"/>
                </a:cubicBezTo>
                <a:cubicBezTo>
                  <a:pt x="2948" y="9"/>
                  <a:pt x="3032" y="14"/>
                  <a:pt x="3115" y="21"/>
                </a:cubicBezTo>
                <a:cubicBezTo>
                  <a:pt x="3199" y="28"/>
                  <a:pt x="3281" y="37"/>
                  <a:pt x="3363" y="47"/>
                </a:cubicBezTo>
                <a:cubicBezTo>
                  <a:pt x="3444" y="57"/>
                  <a:pt x="3525" y="69"/>
                  <a:pt x="3603" y="83"/>
                </a:cubicBezTo>
                <a:cubicBezTo>
                  <a:pt x="3682" y="96"/>
                  <a:pt x="3759" y="111"/>
                  <a:pt x="3835" y="128"/>
                </a:cubicBezTo>
                <a:cubicBezTo>
                  <a:pt x="3910" y="145"/>
                  <a:pt x="3983" y="163"/>
                  <a:pt x="4054" y="183"/>
                </a:cubicBezTo>
                <a:cubicBezTo>
                  <a:pt x="4125" y="203"/>
                  <a:pt x="4193" y="224"/>
                  <a:pt x="4259" y="246"/>
                </a:cubicBezTo>
                <a:cubicBezTo>
                  <a:pt x="4325" y="269"/>
                  <a:pt x="4388" y="293"/>
                  <a:pt x="4448" y="318"/>
                </a:cubicBezTo>
                <a:cubicBezTo>
                  <a:pt x="4508" y="343"/>
                  <a:pt x="4565" y="369"/>
                  <a:pt x="4619" y="397"/>
                </a:cubicBezTo>
                <a:cubicBezTo>
                  <a:pt x="4673" y="424"/>
                  <a:pt x="4724" y="452"/>
                  <a:pt x="4771" y="482"/>
                </a:cubicBezTo>
                <a:cubicBezTo>
                  <a:pt x="4818" y="511"/>
                  <a:pt x="4862" y="542"/>
                  <a:pt x="4902" y="573"/>
                </a:cubicBezTo>
                <a:cubicBezTo>
                  <a:pt x="4942" y="605"/>
                  <a:pt x="4979" y="637"/>
                  <a:pt x="5011" y="669"/>
                </a:cubicBezTo>
                <a:cubicBezTo>
                  <a:pt x="5044" y="702"/>
                  <a:pt x="5073" y="736"/>
                  <a:pt x="5097" y="770"/>
                </a:cubicBezTo>
                <a:cubicBezTo>
                  <a:pt x="5122" y="803"/>
                  <a:pt x="5143" y="838"/>
                  <a:pt x="5159" y="873"/>
                </a:cubicBezTo>
                <a:cubicBezTo>
                  <a:pt x="5176" y="908"/>
                  <a:pt x="5189" y="943"/>
                  <a:pt x="5197" y="978"/>
                </a:cubicBezTo>
                <a:cubicBezTo>
                  <a:pt x="5205" y="1013"/>
                  <a:pt x="5209" y="1049"/>
                  <a:pt x="5209" y="1084"/>
                </a:cubicBezTo>
                <a:cubicBezTo>
                  <a:pt x="5209" y="1120"/>
                  <a:pt x="5205" y="1156"/>
                  <a:pt x="5197" y="1191"/>
                </a:cubicBezTo>
                <a:cubicBezTo>
                  <a:pt x="5189" y="1227"/>
                  <a:pt x="5176" y="1262"/>
                  <a:pt x="5159" y="1297"/>
                </a:cubicBezTo>
                <a:cubicBezTo>
                  <a:pt x="5143" y="1331"/>
                  <a:pt x="5122" y="1366"/>
                  <a:pt x="5097" y="1400"/>
                </a:cubicBezTo>
                <a:cubicBezTo>
                  <a:pt x="5073" y="1434"/>
                  <a:pt x="5044" y="1467"/>
                  <a:pt x="5011" y="1500"/>
                </a:cubicBezTo>
                <a:cubicBezTo>
                  <a:pt x="4979" y="1533"/>
                  <a:pt x="4942" y="1565"/>
                  <a:pt x="4902" y="1596"/>
                </a:cubicBezTo>
                <a:cubicBezTo>
                  <a:pt x="4862" y="1627"/>
                  <a:pt x="4818" y="1658"/>
                  <a:pt x="4771" y="1687"/>
                </a:cubicBezTo>
                <a:cubicBezTo>
                  <a:pt x="4724" y="1717"/>
                  <a:pt x="4673" y="1745"/>
                  <a:pt x="4619" y="1773"/>
                </a:cubicBezTo>
                <a:cubicBezTo>
                  <a:pt x="4565" y="1800"/>
                  <a:pt x="4508" y="1827"/>
                  <a:pt x="4448" y="1852"/>
                </a:cubicBezTo>
                <a:cubicBezTo>
                  <a:pt x="4388" y="1877"/>
                  <a:pt x="4325" y="1901"/>
                  <a:pt x="4259" y="1923"/>
                </a:cubicBezTo>
                <a:cubicBezTo>
                  <a:pt x="4193" y="1946"/>
                  <a:pt x="4125" y="1967"/>
                  <a:pt x="4054" y="1986"/>
                </a:cubicBezTo>
                <a:cubicBezTo>
                  <a:pt x="3983" y="2006"/>
                  <a:pt x="3910" y="2024"/>
                  <a:pt x="3835" y="2041"/>
                </a:cubicBezTo>
                <a:cubicBezTo>
                  <a:pt x="3759" y="2058"/>
                  <a:pt x="3682" y="2073"/>
                  <a:pt x="3603" y="2087"/>
                </a:cubicBezTo>
                <a:cubicBezTo>
                  <a:pt x="3525" y="2100"/>
                  <a:pt x="3444" y="2112"/>
                  <a:pt x="3363" y="2122"/>
                </a:cubicBezTo>
                <a:cubicBezTo>
                  <a:pt x="3281" y="2133"/>
                  <a:pt x="3199" y="2141"/>
                  <a:pt x="3115" y="2148"/>
                </a:cubicBezTo>
                <a:cubicBezTo>
                  <a:pt x="3032" y="2155"/>
                  <a:pt x="2948" y="2160"/>
                  <a:pt x="2863" y="2164"/>
                </a:cubicBezTo>
                <a:cubicBezTo>
                  <a:pt x="2778" y="2167"/>
                  <a:pt x="2693" y="2169"/>
                  <a:pt x="2608" y="2169"/>
                </a:cubicBezTo>
                <a:lnTo>
                  <a:pt x="2600" y="2169"/>
                </a:lnTo>
                <a:cubicBezTo>
                  <a:pt x="2515" y="2169"/>
                  <a:pt x="2430" y="2167"/>
                  <a:pt x="2345" y="2164"/>
                </a:cubicBezTo>
                <a:cubicBezTo>
                  <a:pt x="2261" y="2160"/>
                  <a:pt x="2177" y="2155"/>
                  <a:pt x="2093" y="2148"/>
                </a:cubicBezTo>
                <a:cubicBezTo>
                  <a:pt x="2009" y="2141"/>
                  <a:pt x="1927" y="2133"/>
                  <a:pt x="1845" y="2122"/>
                </a:cubicBezTo>
                <a:cubicBezTo>
                  <a:pt x="1764" y="2112"/>
                  <a:pt x="1684" y="2100"/>
                  <a:pt x="1605" y="2087"/>
                </a:cubicBezTo>
                <a:cubicBezTo>
                  <a:pt x="1527" y="2073"/>
                  <a:pt x="1450" y="2058"/>
                  <a:pt x="1375" y="2041"/>
                </a:cubicBezTo>
                <a:cubicBezTo>
                  <a:pt x="1299" y="2024"/>
                  <a:pt x="1226" y="2006"/>
                  <a:pt x="1156" y="1986"/>
                </a:cubicBezTo>
                <a:cubicBezTo>
                  <a:pt x="1085" y="1967"/>
                  <a:pt x="1017" y="1946"/>
                  <a:pt x="951" y="1923"/>
                </a:cubicBezTo>
                <a:cubicBezTo>
                  <a:pt x="885" y="1901"/>
                  <a:pt x="822" y="1877"/>
                  <a:pt x="762" y="1852"/>
                </a:cubicBezTo>
                <a:cubicBezTo>
                  <a:pt x="701" y="1827"/>
                  <a:pt x="644" y="1800"/>
                  <a:pt x="590" y="1773"/>
                </a:cubicBezTo>
                <a:cubicBezTo>
                  <a:pt x="536" y="1745"/>
                  <a:pt x="486" y="1717"/>
                  <a:pt x="438" y="1687"/>
                </a:cubicBezTo>
                <a:cubicBezTo>
                  <a:pt x="391" y="1658"/>
                  <a:pt x="347" y="1627"/>
                  <a:pt x="307" y="1596"/>
                </a:cubicBezTo>
                <a:cubicBezTo>
                  <a:pt x="267" y="1565"/>
                  <a:pt x="231" y="1533"/>
                  <a:pt x="198" y="1500"/>
                </a:cubicBezTo>
                <a:cubicBezTo>
                  <a:pt x="165" y="1467"/>
                  <a:pt x="137" y="1434"/>
                  <a:pt x="112" y="1400"/>
                </a:cubicBezTo>
                <a:cubicBezTo>
                  <a:pt x="87" y="1366"/>
                  <a:pt x="67" y="1331"/>
                  <a:pt x="50" y="1297"/>
                </a:cubicBezTo>
                <a:cubicBezTo>
                  <a:pt x="33" y="1262"/>
                  <a:pt x="21" y="1227"/>
                  <a:pt x="13" y="1191"/>
                </a:cubicBezTo>
                <a:cubicBezTo>
                  <a:pt x="4" y="1156"/>
                  <a:pt x="0" y="1120"/>
                  <a:pt x="0" y="1084"/>
                </a:cubicBezTo>
                <a:moveTo>
                  <a:pt x="106" y="1084"/>
                </a:moveTo>
                <a:cubicBezTo>
                  <a:pt x="106" y="1052"/>
                  <a:pt x="110" y="1020"/>
                  <a:pt x="118" y="988"/>
                </a:cubicBezTo>
                <a:cubicBezTo>
                  <a:pt x="126" y="956"/>
                  <a:pt x="138" y="925"/>
                  <a:pt x="154" y="893"/>
                </a:cubicBezTo>
                <a:cubicBezTo>
                  <a:pt x="170" y="862"/>
                  <a:pt x="189" y="831"/>
                  <a:pt x="213" y="800"/>
                </a:cubicBezTo>
                <a:cubicBezTo>
                  <a:pt x="237" y="770"/>
                  <a:pt x="264" y="739"/>
                  <a:pt x="296" y="710"/>
                </a:cubicBezTo>
                <a:cubicBezTo>
                  <a:pt x="327" y="680"/>
                  <a:pt x="362" y="651"/>
                  <a:pt x="400" y="623"/>
                </a:cubicBezTo>
                <a:cubicBezTo>
                  <a:pt x="439" y="595"/>
                  <a:pt x="481" y="567"/>
                  <a:pt x="526" y="541"/>
                </a:cubicBezTo>
                <a:cubicBezTo>
                  <a:pt x="572" y="514"/>
                  <a:pt x="620" y="488"/>
                  <a:pt x="672" y="464"/>
                </a:cubicBezTo>
                <a:cubicBezTo>
                  <a:pt x="724" y="439"/>
                  <a:pt x="779" y="415"/>
                  <a:pt x="836" y="392"/>
                </a:cubicBezTo>
                <a:cubicBezTo>
                  <a:pt x="894" y="370"/>
                  <a:pt x="955" y="348"/>
                  <a:pt x="1018" y="328"/>
                </a:cubicBezTo>
                <a:cubicBezTo>
                  <a:pt x="1081" y="308"/>
                  <a:pt x="1146" y="289"/>
                  <a:pt x="1214" y="271"/>
                </a:cubicBezTo>
                <a:cubicBezTo>
                  <a:pt x="1282" y="253"/>
                  <a:pt x="1352" y="237"/>
                  <a:pt x="1424" y="221"/>
                </a:cubicBezTo>
                <a:cubicBezTo>
                  <a:pt x="1496" y="206"/>
                  <a:pt x="1570" y="193"/>
                  <a:pt x="1646" y="180"/>
                </a:cubicBezTo>
                <a:cubicBezTo>
                  <a:pt x="1721" y="168"/>
                  <a:pt x="1798" y="157"/>
                  <a:pt x="1876" y="148"/>
                </a:cubicBezTo>
                <a:cubicBezTo>
                  <a:pt x="1954" y="139"/>
                  <a:pt x="2034" y="131"/>
                  <a:pt x="2114" y="125"/>
                </a:cubicBezTo>
                <a:cubicBezTo>
                  <a:pt x="2194" y="119"/>
                  <a:pt x="2274" y="114"/>
                  <a:pt x="2356" y="111"/>
                </a:cubicBezTo>
                <a:cubicBezTo>
                  <a:pt x="2437" y="108"/>
                  <a:pt x="2519" y="106"/>
                  <a:pt x="2600" y="106"/>
                </a:cubicBezTo>
                <a:lnTo>
                  <a:pt x="2608" y="106"/>
                </a:lnTo>
                <a:cubicBezTo>
                  <a:pt x="2690" y="106"/>
                  <a:pt x="2771" y="108"/>
                  <a:pt x="2853" y="111"/>
                </a:cubicBezTo>
                <a:cubicBezTo>
                  <a:pt x="2934" y="114"/>
                  <a:pt x="3015" y="119"/>
                  <a:pt x="3095" y="125"/>
                </a:cubicBezTo>
                <a:cubicBezTo>
                  <a:pt x="3175" y="131"/>
                  <a:pt x="3254" y="139"/>
                  <a:pt x="3332" y="148"/>
                </a:cubicBezTo>
                <a:cubicBezTo>
                  <a:pt x="3410" y="157"/>
                  <a:pt x="3487" y="168"/>
                  <a:pt x="3563" y="180"/>
                </a:cubicBezTo>
                <a:cubicBezTo>
                  <a:pt x="3638" y="193"/>
                  <a:pt x="3712" y="206"/>
                  <a:pt x="3784" y="221"/>
                </a:cubicBezTo>
                <a:cubicBezTo>
                  <a:pt x="3857" y="237"/>
                  <a:pt x="3927" y="253"/>
                  <a:pt x="3995" y="271"/>
                </a:cubicBezTo>
                <a:cubicBezTo>
                  <a:pt x="4063" y="289"/>
                  <a:pt x="4128" y="308"/>
                  <a:pt x="4192" y="328"/>
                </a:cubicBezTo>
                <a:cubicBezTo>
                  <a:pt x="4255" y="348"/>
                  <a:pt x="4315" y="370"/>
                  <a:pt x="4373" y="392"/>
                </a:cubicBezTo>
                <a:cubicBezTo>
                  <a:pt x="4431" y="415"/>
                  <a:pt x="4486" y="439"/>
                  <a:pt x="4537" y="464"/>
                </a:cubicBezTo>
                <a:cubicBezTo>
                  <a:pt x="4589" y="488"/>
                  <a:pt x="4638" y="514"/>
                  <a:pt x="4683" y="541"/>
                </a:cubicBezTo>
                <a:cubicBezTo>
                  <a:pt x="4729" y="567"/>
                  <a:pt x="4771" y="595"/>
                  <a:pt x="4809" y="623"/>
                </a:cubicBezTo>
                <a:cubicBezTo>
                  <a:pt x="4848" y="651"/>
                  <a:pt x="4882" y="680"/>
                  <a:pt x="4914" y="710"/>
                </a:cubicBezTo>
                <a:cubicBezTo>
                  <a:pt x="4945" y="739"/>
                  <a:pt x="4973" y="770"/>
                  <a:pt x="4996" y="800"/>
                </a:cubicBezTo>
                <a:cubicBezTo>
                  <a:pt x="5020" y="831"/>
                  <a:pt x="5040" y="862"/>
                  <a:pt x="5056" y="893"/>
                </a:cubicBezTo>
                <a:cubicBezTo>
                  <a:pt x="5072" y="925"/>
                  <a:pt x="5084" y="956"/>
                  <a:pt x="5092" y="988"/>
                </a:cubicBezTo>
                <a:cubicBezTo>
                  <a:pt x="5100" y="1020"/>
                  <a:pt x="5104" y="1052"/>
                  <a:pt x="5104" y="1084"/>
                </a:cubicBezTo>
                <a:cubicBezTo>
                  <a:pt x="5104" y="1116"/>
                  <a:pt x="5100" y="1148"/>
                  <a:pt x="5092" y="1181"/>
                </a:cubicBezTo>
                <a:cubicBezTo>
                  <a:pt x="5084" y="1213"/>
                  <a:pt x="5072" y="1245"/>
                  <a:pt x="5056" y="1276"/>
                </a:cubicBezTo>
                <a:cubicBezTo>
                  <a:pt x="5040" y="1307"/>
                  <a:pt x="5020" y="1338"/>
                  <a:pt x="4996" y="1369"/>
                </a:cubicBezTo>
                <a:cubicBezTo>
                  <a:pt x="4973" y="1400"/>
                  <a:pt x="4945" y="1430"/>
                  <a:pt x="4914" y="1460"/>
                </a:cubicBezTo>
                <a:cubicBezTo>
                  <a:pt x="4882" y="1489"/>
                  <a:pt x="4848" y="1518"/>
                  <a:pt x="4809" y="1546"/>
                </a:cubicBezTo>
                <a:cubicBezTo>
                  <a:pt x="4771" y="1575"/>
                  <a:pt x="4729" y="1602"/>
                  <a:pt x="4683" y="1629"/>
                </a:cubicBezTo>
                <a:cubicBezTo>
                  <a:pt x="4638" y="1655"/>
                  <a:pt x="4589" y="1681"/>
                  <a:pt x="4537" y="1706"/>
                </a:cubicBezTo>
                <a:cubicBezTo>
                  <a:pt x="4486" y="1731"/>
                  <a:pt x="4431" y="1754"/>
                  <a:pt x="4373" y="1777"/>
                </a:cubicBezTo>
                <a:cubicBezTo>
                  <a:pt x="4315" y="1800"/>
                  <a:pt x="4255" y="1821"/>
                  <a:pt x="4192" y="1841"/>
                </a:cubicBezTo>
                <a:cubicBezTo>
                  <a:pt x="4128" y="1862"/>
                  <a:pt x="4063" y="1881"/>
                  <a:pt x="3995" y="1899"/>
                </a:cubicBezTo>
                <a:cubicBezTo>
                  <a:pt x="3927" y="1916"/>
                  <a:pt x="3857" y="1933"/>
                  <a:pt x="3784" y="1948"/>
                </a:cubicBezTo>
                <a:cubicBezTo>
                  <a:pt x="3712" y="1963"/>
                  <a:pt x="3638" y="1977"/>
                  <a:pt x="3563" y="1989"/>
                </a:cubicBezTo>
                <a:cubicBezTo>
                  <a:pt x="3487" y="2001"/>
                  <a:pt x="3410" y="2012"/>
                  <a:pt x="3332" y="2021"/>
                </a:cubicBezTo>
                <a:cubicBezTo>
                  <a:pt x="3254" y="2031"/>
                  <a:pt x="3175" y="2038"/>
                  <a:pt x="3095" y="2045"/>
                </a:cubicBezTo>
                <a:cubicBezTo>
                  <a:pt x="3015" y="2051"/>
                  <a:pt x="2934" y="2056"/>
                  <a:pt x="2853" y="2059"/>
                </a:cubicBezTo>
                <a:cubicBezTo>
                  <a:pt x="2771" y="2062"/>
                  <a:pt x="2690" y="2063"/>
                  <a:pt x="2608" y="2063"/>
                </a:cubicBezTo>
                <a:lnTo>
                  <a:pt x="2600" y="2063"/>
                </a:lnTo>
                <a:cubicBezTo>
                  <a:pt x="2519" y="2063"/>
                  <a:pt x="2437" y="2062"/>
                  <a:pt x="2356" y="2059"/>
                </a:cubicBezTo>
                <a:cubicBezTo>
                  <a:pt x="2274" y="2056"/>
                  <a:pt x="2194" y="2051"/>
                  <a:pt x="2114" y="2045"/>
                </a:cubicBezTo>
                <a:cubicBezTo>
                  <a:pt x="2034" y="2038"/>
                  <a:pt x="1954" y="2031"/>
                  <a:pt x="1876" y="2021"/>
                </a:cubicBezTo>
                <a:cubicBezTo>
                  <a:pt x="1798" y="2012"/>
                  <a:pt x="1721" y="2001"/>
                  <a:pt x="1646" y="1989"/>
                </a:cubicBezTo>
                <a:cubicBezTo>
                  <a:pt x="1570" y="1977"/>
                  <a:pt x="1496" y="1963"/>
                  <a:pt x="1424" y="1948"/>
                </a:cubicBezTo>
                <a:cubicBezTo>
                  <a:pt x="1352" y="1933"/>
                  <a:pt x="1282" y="1916"/>
                  <a:pt x="1214" y="1899"/>
                </a:cubicBezTo>
                <a:cubicBezTo>
                  <a:pt x="1146" y="1881"/>
                  <a:pt x="1081" y="1862"/>
                  <a:pt x="1018" y="1841"/>
                </a:cubicBezTo>
                <a:cubicBezTo>
                  <a:pt x="955" y="1821"/>
                  <a:pt x="894" y="1800"/>
                  <a:pt x="836" y="1777"/>
                </a:cubicBezTo>
                <a:cubicBezTo>
                  <a:pt x="779" y="1754"/>
                  <a:pt x="724" y="1731"/>
                  <a:pt x="672" y="1706"/>
                </a:cubicBezTo>
                <a:cubicBezTo>
                  <a:pt x="620" y="1681"/>
                  <a:pt x="572" y="1655"/>
                  <a:pt x="526" y="1629"/>
                </a:cubicBezTo>
                <a:cubicBezTo>
                  <a:pt x="481" y="1602"/>
                  <a:pt x="439" y="1575"/>
                  <a:pt x="400" y="1546"/>
                </a:cubicBezTo>
                <a:cubicBezTo>
                  <a:pt x="362" y="1518"/>
                  <a:pt x="327" y="1489"/>
                  <a:pt x="296" y="1460"/>
                </a:cubicBezTo>
                <a:cubicBezTo>
                  <a:pt x="264" y="1430"/>
                  <a:pt x="237" y="1400"/>
                  <a:pt x="213" y="1369"/>
                </a:cubicBezTo>
                <a:cubicBezTo>
                  <a:pt x="189" y="1338"/>
                  <a:pt x="170" y="1307"/>
                  <a:pt x="154" y="1276"/>
                </a:cubicBezTo>
                <a:cubicBezTo>
                  <a:pt x="138" y="1245"/>
                  <a:pt x="126" y="1213"/>
                  <a:pt x="118" y="1181"/>
                </a:cubicBezTo>
                <a:cubicBezTo>
                  <a:pt x="110" y="1148"/>
                  <a:pt x="106" y="1116"/>
                  <a:pt x="106" y="108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982160" y="3897000"/>
            <a:ext cx="1107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id_estudiante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3608640" y="3897000"/>
            <a:ext cx="14522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nombre_completo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2" name=""/>
          <p:cNvGrpSpPr/>
          <p:nvPr/>
        </p:nvGrpSpPr>
        <p:grpSpPr>
          <a:xfrm>
            <a:off x="3497400" y="4524840"/>
            <a:ext cx="712800" cy="303480"/>
            <a:chOff x="3497400" y="4524840"/>
            <a:chExt cx="712800" cy="303480"/>
          </a:xfrm>
        </p:grpSpPr>
        <p:sp>
          <p:nvSpPr>
            <p:cNvPr id="333" name=""/>
            <p:cNvSpPr/>
            <p:nvPr/>
          </p:nvSpPr>
          <p:spPr>
            <a:xfrm>
              <a:off x="3497400" y="4524840"/>
              <a:ext cx="712800" cy="303480"/>
            </a:xfrm>
            <a:custGeom>
              <a:avLst/>
              <a:gdLst>
                <a:gd name="textAreaLeft" fmla="*/ 0 w 712800"/>
                <a:gd name="textAreaRight" fmla="*/ 714240 w 712800"/>
                <a:gd name="textAreaTop" fmla="*/ 0 h 303480"/>
                <a:gd name="textAreaBottom" fmla="*/ 304920 h 303480"/>
              </a:gdLst>
              <a:ahLst/>
              <a:cxnLst/>
              <a:rect l="textAreaLeft" t="textAreaTop" r="textAreaRight" b="textAreaBottom"/>
              <a:pathLst>
                <a:path w="1984" h="847">
                  <a:moveTo>
                    <a:pt x="0" y="425"/>
                  </a:moveTo>
                  <a:lnTo>
                    <a:pt x="0" y="421"/>
                  </a:lnTo>
                  <a:cubicBezTo>
                    <a:pt x="0" y="407"/>
                    <a:pt x="2" y="394"/>
                    <a:pt x="5" y="380"/>
                  </a:cubicBezTo>
                  <a:cubicBezTo>
                    <a:pt x="8" y="366"/>
                    <a:pt x="13" y="353"/>
                    <a:pt x="19" y="339"/>
                  </a:cubicBezTo>
                  <a:cubicBezTo>
                    <a:pt x="25" y="325"/>
                    <a:pt x="33" y="312"/>
                    <a:pt x="43" y="299"/>
                  </a:cubicBezTo>
                  <a:cubicBezTo>
                    <a:pt x="52" y="286"/>
                    <a:pt x="63" y="273"/>
                    <a:pt x="75" y="260"/>
                  </a:cubicBezTo>
                  <a:cubicBezTo>
                    <a:pt x="87" y="247"/>
                    <a:pt x="101" y="235"/>
                    <a:pt x="116" y="223"/>
                  </a:cubicBezTo>
                  <a:cubicBezTo>
                    <a:pt x="132" y="210"/>
                    <a:pt x="148" y="199"/>
                    <a:pt x="166" y="187"/>
                  </a:cubicBezTo>
                  <a:cubicBezTo>
                    <a:pt x="184" y="176"/>
                    <a:pt x="203" y="165"/>
                    <a:pt x="223" y="154"/>
                  </a:cubicBezTo>
                  <a:cubicBezTo>
                    <a:pt x="244" y="143"/>
                    <a:pt x="265" y="133"/>
                    <a:pt x="288" y="123"/>
                  </a:cubicBezTo>
                  <a:cubicBezTo>
                    <a:pt x="311" y="114"/>
                    <a:pt x="335" y="104"/>
                    <a:pt x="360" y="96"/>
                  </a:cubicBezTo>
                  <a:cubicBezTo>
                    <a:pt x="385" y="87"/>
                    <a:pt x="411" y="79"/>
                    <a:pt x="437" y="71"/>
                  </a:cubicBezTo>
                  <a:cubicBezTo>
                    <a:pt x="464" y="63"/>
                    <a:pt x="492" y="56"/>
                    <a:pt x="520" y="50"/>
                  </a:cubicBezTo>
                  <a:cubicBezTo>
                    <a:pt x="548" y="43"/>
                    <a:pt x="578" y="37"/>
                    <a:pt x="607" y="32"/>
                  </a:cubicBezTo>
                  <a:cubicBezTo>
                    <a:pt x="637" y="27"/>
                    <a:pt x="667" y="22"/>
                    <a:pt x="698" y="18"/>
                  </a:cubicBezTo>
                  <a:cubicBezTo>
                    <a:pt x="729" y="14"/>
                    <a:pt x="760" y="11"/>
                    <a:pt x="792" y="8"/>
                  </a:cubicBezTo>
                  <a:cubicBezTo>
                    <a:pt x="823" y="5"/>
                    <a:pt x="855" y="3"/>
                    <a:pt x="887" y="2"/>
                  </a:cubicBezTo>
                  <a:cubicBezTo>
                    <a:pt x="919" y="1"/>
                    <a:pt x="951" y="0"/>
                    <a:pt x="984" y="0"/>
                  </a:cubicBezTo>
                  <a:lnTo>
                    <a:pt x="1000" y="0"/>
                  </a:lnTo>
                  <a:cubicBezTo>
                    <a:pt x="1032" y="0"/>
                    <a:pt x="1064" y="1"/>
                    <a:pt x="1096" y="2"/>
                  </a:cubicBezTo>
                  <a:cubicBezTo>
                    <a:pt x="1128" y="3"/>
                    <a:pt x="1161" y="5"/>
                    <a:pt x="1193" y="8"/>
                  </a:cubicBezTo>
                  <a:cubicBezTo>
                    <a:pt x="1224" y="11"/>
                    <a:pt x="1255" y="14"/>
                    <a:pt x="1286" y="18"/>
                  </a:cubicBezTo>
                  <a:cubicBezTo>
                    <a:pt x="1317" y="22"/>
                    <a:pt x="1347" y="27"/>
                    <a:pt x="1377" y="32"/>
                  </a:cubicBezTo>
                  <a:cubicBezTo>
                    <a:pt x="1407" y="37"/>
                    <a:pt x="1436" y="43"/>
                    <a:pt x="1464" y="50"/>
                  </a:cubicBezTo>
                  <a:cubicBezTo>
                    <a:pt x="1493" y="56"/>
                    <a:pt x="1520" y="63"/>
                    <a:pt x="1547" y="71"/>
                  </a:cubicBezTo>
                  <a:cubicBezTo>
                    <a:pt x="1574" y="79"/>
                    <a:pt x="1600" y="87"/>
                    <a:pt x="1625" y="96"/>
                  </a:cubicBezTo>
                  <a:cubicBezTo>
                    <a:pt x="1649" y="104"/>
                    <a:pt x="1673" y="114"/>
                    <a:pt x="1696" y="123"/>
                  </a:cubicBezTo>
                  <a:cubicBezTo>
                    <a:pt x="1719" y="133"/>
                    <a:pt x="1740" y="143"/>
                    <a:pt x="1761" y="154"/>
                  </a:cubicBezTo>
                  <a:cubicBezTo>
                    <a:pt x="1781" y="165"/>
                    <a:pt x="1800" y="176"/>
                    <a:pt x="1818" y="187"/>
                  </a:cubicBezTo>
                  <a:cubicBezTo>
                    <a:pt x="1836" y="199"/>
                    <a:pt x="1853" y="210"/>
                    <a:pt x="1868" y="223"/>
                  </a:cubicBezTo>
                  <a:cubicBezTo>
                    <a:pt x="1883" y="235"/>
                    <a:pt x="1897" y="247"/>
                    <a:pt x="1909" y="260"/>
                  </a:cubicBezTo>
                  <a:cubicBezTo>
                    <a:pt x="1922" y="273"/>
                    <a:pt x="1932" y="286"/>
                    <a:pt x="1942" y="299"/>
                  </a:cubicBezTo>
                  <a:cubicBezTo>
                    <a:pt x="1951" y="312"/>
                    <a:pt x="1959" y="325"/>
                    <a:pt x="1965" y="339"/>
                  </a:cubicBezTo>
                  <a:cubicBezTo>
                    <a:pt x="1972" y="353"/>
                    <a:pt x="1976" y="366"/>
                    <a:pt x="1979" y="380"/>
                  </a:cubicBezTo>
                  <a:cubicBezTo>
                    <a:pt x="1983" y="394"/>
                    <a:pt x="1984" y="407"/>
                    <a:pt x="1984" y="421"/>
                  </a:cubicBezTo>
                  <a:lnTo>
                    <a:pt x="1984" y="425"/>
                  </a:lnTo>
                  <a:cubicBezTo>
                    <a:pt x="1984" y="438"/>
                    <a:pt x="1983" y="452"/>
                    <a:pt x="1979" y="466"/>
                  </a:cubicBezTo>
                  <a:cubicBezTo>
                    <a:pt x="1976" y="480"/>
                    <a:pt x="1972" y="493"/>
                    <a:pt x="1965" y="507"/>
                  </a:cubicBezTo>
                  <a:cubicBezTo>
                    <a:pt x="1959" y="520"/>
                    <a:pt x="1951" y="534"/>
                    <a:pt x="1942" y="547"/>
                  </a:cubicBezTo>
                  <a:cubicBezTo>
                    <a:pt x="1932" y="560"/>
                    <a:pt x="1922" y="573"/>
                    <a:pt x="1909" y="586"/>
                  </a:cubicBezTo>
                  <a:cubicBezTo>
                    <a:pt x="1897" y="599"/>
                    <a:pt x="1883" y="612"/>
                    <a:pt x="1868" y="624"/>
                  </a:cubicBezTo>
                  <a:cubicBezTo>
                    <a:pt x="1853" y="636"/>
                    <a:pt x="1836" y="648"/>
                    <a:pt x="1818" y="660"/>
                  </a:cubicBezTo>
                  <a:cubicBezTo>
                    <a:pt x="1800" y="671"/>
                    <a:pt x="1781" y="682"/>
                    <a:pt x="1761" y="693"/>
                  </a:cubicBezTo>
                  <a:cubicBezTo>
                    <a:pt x="1740" y="704"/>
                    <a:pt x="1719" y="714"/>
                    <a:pt x="1696" y="723"/>
                  </a:cubicBezTo>
                  <a:cubicBezTo>
                    <a:pt x="1673" y="733"/>
                    <a:pt x="1649" y="742"/>
                    <a:pt x="1625" y="751"/>
                  </a:cubicBezTo>
                  <a:cubicBezTo>
                    <a:pt x="1600" y="760"/>
                    <a:pt x="1574" y="768"/>
                    <a:pt x="1547" y="776"/>
                  </a:cubicBezTo>
                  <a:cubicBezTo>
                    <a:pt x="1520" y="784"/>
                    <a:pt x="1493" y="791"/>
                    <a:pt x="1464" y="797"/>
                  </a:cubicBezTo>
                  <a:cubicBezTo>
                    <a:pt x="1436" y="804"/>
                    <a:pt x="1407" y="810"/>
                    <a:pt x="1377" y="815"/>
                  </a:cubicBezTo>
                  <a:cubicBezTo>
                    <a:pt x="1347" y="820"/>
                    <a:pt x="1317" y="825"/>
                    <a:pt x="1286" y="829"/>
                  </a:cubicBezTo>
                  <a:cubicBezTo>
                    <a:pt x="1255" y="833"/>
                    <a:pt x="1224" y="836"/>
                    <a:pt x="1193" y="839"/>
                  </a:cubicBezTo>
                  <a:cubicBezTo>
                    <a:pt x="1161" y="841"/>
                    <a:pt x="1128" y="844"/>
                    <a:pt x="1096" y="845"/>
                  </a:cubicBezTo>
                  <a:cubicBezTo>
                    <a:pt x="1064" y="846"/>
                    <a:pt x="1032" y="847"/>
                    <a:pt x="1000" y="847"/>
                  </a:cubicBezTo>
                  <a:lnTo>
                    <a:pt x="984" y="847"/>
                  </a:lnTo>
                  <a:cubicBezTo>
                    <a:pt x="951" y="847"/>
                    <a:pt x="919" y="846"/>
                    <a:pt x="887" y="845"/>
                  </a:cubicBezTo>
                  <a:cubicBezTo>
                    <a:pt x="855" y="844"/>
                    <a:pt x="823" y="841"/>
                    <a:pt x="792" y="839"/>
                  </a:cubicBezTo>
                  <a:cubicBezTo>
                    <a:pt x="760" y="836"/>
                    <a:pt x="729" y="833"/>
                    <a:pt x="698" y="829"/>
                  </a:cubicBezTo>
                  <a:cubicBezTo>
                    <a:pt x="667" y="825"/>
                    <a:pt x="637" y="820"/>
                    <a:pt x="607" y="815"/>
                  </a:cubicBezTo>
                  <a:cubicBezTo>
                    <a:pt x="578" y="810"/>
                    <a:pt x="548" y="804"/>
                    <a:pt x="520" y="797"/>
                  </a:cubicBezTo>
                  <a:cubicBezTo>
                    <a:pt x="492" y="791"/>
                    <a:pt x="464" y="784"/>
                    <a:pt x="437" y="776"/>
                  </a:cubicBezTo>
                  <a:cubicBezTo>
                    <a:pt x="411" y="768"/>
                    <a:pt x="385" y="760"/>
                    <a:pt x="360" y="751"/>
                  </a:cubicBezTo>
                  <a:cubicBezTo>
                    <a:pt x="335" y="742"/>
                    <a:pt x="311" y="733"/>
                    <a:pt x="288" y="723"/>
                  </a:cubicBezTo>
                  <a:cubicBezTo>
                    <a:pt x="265" y="714"/>
                    <a:pt x="244" y="704"/>
                    <a:pt x="223" y="693"/>
                  </a:cubicBezTo>
                  <a:cubicBezTo>
                    <a:pt x="203" y="682"/>
                    <a:pt x="184" y="671"/>
                    <a:pt x="166" y="660"/>
                  </a:cubicBezTo>
                  <a:cubicBezTo>
                    <a:pt x="148" y="648"/>
                    <a:pt x="132" y="636"/>
                    <a:pt x="116" y="624"/>
                  </a:cubicBezTo>
                  <a:cubicBezTo>
                    <a:pt x="101" y="612"/>
                    <a:pt x="87" y="599"/>
                    <a:pt x="75" y="586"/>
                  </a:cubicBezTo>
                  <a:cubicBezTo>
                    <a:pt x="63" y="573"/>
                    <a:pt x="52" y="560"/>
                    <a:pt x="43" y="547"/>
                  </a:cubicBezTo>
                  <a:cubicBezTo>
                    <a:pt x="33" y="534"/>
                    <a:pt x="25" y="520"/>
                    <a:pt x="19" y="507"/>
                  </a:cubicBezTo>
                  <a:cubicBezTo>
                    <a:pt x="13" y="493"/>
                    <a:pt x="8" y="480"/>
                    <a:pt x="5" y="466"/>
                  </a:cubicBezTo>
                  <a:cubicBezTo>
                    <a:pt x="2" y="452"/>
                    <a:pt x="0" y="438"/>
                    <a:pt x="0" y="425"/>
                  </a:cubicBezTo>
                  <a:moveTo>
                    <a:pt x="80" y="425"/>
                  </a:moveTo>
                  <a:lnTo>
                    <a:pt x="80" y="421"/>
                  </a:lnTo>
                  <a:cubicBezTo>
                    <a:pt x="80" y="410"/>
                    <a:pt x="81" y="399"/>
                    <a:pt x="84" y="388"/>
                  </a:cubicBezTo>
                  <a:cubicBezTo>
                    <a:pt x="87" y="377"/>
                    <a:pt x="91" y="365"/>
                    <a:pt x="97" y="355"/>
                  </a:cubicBezTo>
                  <a:cubicBezTo>
                    <a:pt x="103" y="344"/>
                    <a:pt x="110" y="333"/>
                    <a:pt x="118" y="322"/>
                  </a:cubicBezTo>
                  <a:cubicBezTo>
                    <a:pt x="127" y="311"/>
                    <a:pt x="137" y="301"/>
                    <a:pt x="148" y="290"/>
                  </a:cubicBezTo>
                  <a:cubicBezTo>
                    <a:pt x="160" y="280"/>
                    <a:pt x="172" y="270"/>
                    <a:pt x="186" y="260"/>
                  </a:cubicBezTo>
                  <a:cubicBezTo>
                    <a:pt x="200" y="250"/>
                    <a:pt x="215" y="241"/>
                    <a:pt x="232" y="231"/>
                  </a:cubicBezTo>
                  <a:cubicBezTo>
                    <a:pt x="248" y="222"/>
                    <a:pt x="266" y="213"/>
                    <a:pt x="285" y="204"/>
                  </a:cubicBezTo>
                  <a:cubicBezTo>
                    <a:pt x="304" y="196"/>
                    <a:pt x="323" y="187"/>
                    <a:pt x="344" y="179"/>
                  </a:cubicBezTo>
                  <a:cubicBezTo>
                    <a:pt x="365" y="171"/>
                    <a:pt x="387" y="164"/>
                    <a:pt x="410" y="157"/>
                  </a:cubicBezTo>
                  <a:cubicBezTo>
                    <a:pt x="433" y="150"/>
                    <a:pt x="457" y="143"/>
                    <a:pt x="481" y="137"/>
                  </a:cubicBezTo>
                  <a:cubicBezTo>
                    <a:pt x="506" y="131"/>
                    <a:pt x="531" y="125"/>
                    <a:pt x="557" y="120"/>
                  </a:cubicBezTo>
                  <a:cubicBezTo>
                    <a:pt x="584" y="114"/>
                    <a:pt x="610" y="110"/>
                    <a:pt x="638" y="105"/>
                  </a:cubicBezTo>
                  <a:cubicBezTo>
                    <a:pt x="665" y="101"/>
                    <a:pt x="693" y="97"/>
                    <a:pt x="721" y="94"/>
                  </a:cubicBezTo>
                  <a:cubicBezTo>
                    <a:pt x="750" y="91"/>
                    <a:pt x="778" y="88"/>
                    <a:pt x="807" y="86"/>
                  </a:cubicBezTo>
                  <a:cubicBezTo>
                    <a:pt x="836" y="84"/>
                    <a:pt x="866" y="82"/>
                    <a:pt x="895" y="81"/>
                  </a:cubicBezTo>
                  <a:cubicBezTo>
                    <a:pt x="924" y="80"/>
                    <a:pt x="954" y="79"/>
                    <a:pt x="984" y="79"/>
                  </a:cubicBezTo>
                  <a:lnTo>
                    <a:pt x="1000" y="79"/>
                  </a:lnTo>
                  <a:cubicBezTo>
                    <a:pt x="1029" y="79"/>
                    <a:pt x="1059" y="80"/>
                    <a:pt x="1088" y="81"/>
                  </a:cubicBezTo>
                  <a:cubicBezTo>
                    <a:pt x="1118" y="82"/>
                    <a:pt x="1148" y="84"/>
                    <a:pt x="1177" y="86"/>
                  </a:cubicBezTo>
                  <a:cubicBezTo>
                    <a:pt x="1206" y="88"/>
                    <a:pt x="1235" y="91"/>
                    <a:pt x="1263" y="94"/>
                  </a:cubicBezTo>
                  <a:cubicBezTo>
                    <a:pt x="1292" y="97"/>
                    <a:pt x="1319" y="101"/>
                    <a:pt x="1347" y="105"/>
                  </a:cubicBezTo>
                  <a:cubicBezTo>
                    <a:pt x="1374" y="110"/>
                    <a:pt x="1401" y="114"/>
                    <a:pt x="1427" y="120"/>
                  </a:cubicBezTo>
                  <a:cubicBezTo>
                    <a:pt x="1453" y="125"/>
                    <a:pt x="1478" y="131"/>
                    <a:pt x="1503" y="137"/>
                  </a:cubicBezTo>
                  <a:cubicBezTo>
                    <a:pt x="1528" y="143"/>
                    <a:pt x="1551" y="150"/>
                    <a:pt x="1574" y="157"/>
                  </a:cubicBezTo>
                  <a:cubicBezTo>
                    <a:pt x="1597" y="164"/>
                    <a:pt x="1619" y="171"/>
                    <a:pt x="1640" y="179"/>
                  </a:cubicBezTo>
                  <a:cubicBezTo>
                    <a:pt x="1661" y="187"/>
                    <a:pt x="1681" y="196"/>
                    <a:pt x="1700" y="204"/>
                  </a:cubicBezTo>
                  <a:cubicBezTo>
                    <a:pt x="1718" y="213"/>
                    <a:pt x="1736" y="222"/>
                    <a:pt x="1752" y="231"/>
                  </a:cubicBezTo>
                  <a:cubicBezTo>
                    <a:pt x="1769" y="241"/>
                    <a:pt x="1784" y="250"/>
                    <a:pt x="1798" y="260"/>
                  </a:cubicBezTo>
                  <a:cubicBezTo>
                    <a:pt x="1812" y="270"/>
                    <a:pt x="1825" y="280"/>
                    <a:pt x="1836" y="290"/>
                  </a:cubicBezTo>
                  <a:cubicBezTo>
                    <a:pt x="1847" y="301"/>
                    <a:pt x="1857" y="311"/>
                    <a:pt x="1866" y="322"/>
                  </a:cubicBezTo>
                  <a:cubicBezTo>
                    <a:pt x="1874" y="333"/>
                    <a:pt x="1882" y="344"/>
                    <a:pt x="1887" y="355"/>
                  </a:cubicBezTo>
                  <a:cubicBezTo>
                    <a:pt x="1893" y="365"/>
                    <a:pt x="1898" y="377"/>
                    <a:pt x="1900" y="388"/>
                  </a:cubicBezTo>
                  <a:cubicBezTo>
                    <a:pt x="1903" y="399"/>
                    <a:pt x="1905" y="410"/>
                    <a:pt x="1905" y="421"/>
                  </a:cubicBezTo>
                  <a:lnTo>
                    <a:pt x="1905" y="425"/>
                  </a:lnTo>
                  <a:cubicBezTo>
                    <a:pt x="1905" y="436"/>
                    <a:pt x="1903" y="447"/>
                    <a:pt x="1900" y="458"/>
                  </a:cubicBezTo>
                  <a:cubicBezTo>
                    <a:pt x="1898" y="469"/>
                    <a:pt x="1893" y="480"/>
                    <a:pt x="1887" y="491"/>
                  </a:cubicBezTo>
                  <a:cubicBezTo>
                    <a:pt x="1882" y="502"/>
                    <a:pt x="1874" y="513"/>
                    <a:pt x="1866" y="524"/>
                  </a:cubicBezTo>
                  <a:cubicBezTo>
                    <a:pt x="1857" y="535"/>
                    <a:pt x="1847" y="545"/>
                    <a:pt x="1836" y="555"/>
                  </a:cubicBezTo>
                  <a:cubicBezTo>
                    <a:pt x="1825" y="566"/>
                    <a:pt x="1812" y="576"/>
                    <a:pt x="1798" y="586"/>
                  </a:cubicBezTo>
                  <a:cubicBezTo>
                    <a:pt x="1784" y="596"/>
                    <a:pt x="1769" y="606"/>
                    <a:pt x="1752" y="616"/>
                  </a:cubicBezTo>
                  <a:cubicBezTo>
                    <a:pt x="1736" y="625"/>
                    <a:pt x="1718" y="634"/>
                    <a:pt x="1700" y="643"/>
                  </a:cubicBezTo>
                  <a:cubicBezTo>
                    <a:pt x="1681" y="651"/>
                    <a:pt x="1661" y="659"/>
                    <a:pt x="1640" y="667"/>
                  </a:cubicBezTo>
                  <a:cubicBezTo>
                    <a:pt x="1619" y="675"/>
                    <a:pt x="1597" y="683"/>
                    <a:pt x="1574" y="690"/>
                  </a:cubicBezTo>
                  <a:cubicBezTo>
                    <a:pt x="1551" y="697"/>
                    <a:pt x="1528" y="704"/>
                    <a:pt x="1503" y="710"/>
                  </a:cubicBezTo>
                  <a:cubicBezTo>
                    <a:pt x="1478" y="716"/>
                    <a:pt x="1453" y="722"/>
                    <a:pt x="1427" y="727"/>
                  </a:cubicBezTo>
                  <a:cubicBezTo>
                    <a:pt x="1401" y="732"/>
                    <a:pt x="1374" y="737"/>
                    <a:pt x="1347" y="742"/>
                  </a:cubicBezTo>
                  <a:cubicBezTo>
                    <a:pt x="1319" y="746"/>
                    <a:pt x="1292" y="750"/>
                    <a:pt x="1263" y="753"/>
                  </a:cubicBezTo>
                  <a:cubicBezTo>
                    <a:pt x="1235" y="756"/>
                    <a:pt x="1206" y="759"/>
                    <a:pt x="1177" y="761"/>
                  </a:cubicBezTo>
                  <a:cubicBezTo>
                    <a:pt x="1148" y="763"/>
                    <a:pt x="1118" y="765"/>
                    <a:pt x="1088" y="766"/>
                  </a:cubicBezTo>
                  <a:cubicBezTo>
                    <a:pt x="1059" y="767"/>
                    <a:pt x="1029" y="768"/>
                    <a:pt x="1000" y="768"/>
                  </a:cubicBezTo>
                  <a:lnTo>
                    <a:pt x="984" y="768"/>
                  </a:lnTo>
                  <a:cubicBezTo>
                    <a:pt x="954" y="768"/>
                    <a:pt x="924" y="767"/>
                    <a:pt x="895" y="766"/>
                  </a:cubicBezTo>
                  <a:cubicBezTo>
                    <a:pt x="866" y="765"/>
                    <a:pt x="836" y="763"/>
                    <a:pt x="807" y="761"/>
                  </a:cubicBezTo>
                  <a:cubicBezTo>
                    <a:pt x="778" y="759"/>
                    <a:pt x="750" y="756"/>
                    <a:pt x="721" y="753"/>
                  </a:cubicBezTo>
                  <a:cubicBezTo>
                    <a:pt x="693" y="750"/>
                    <a:pt x="665" y="746"/>
                    <a:pt x="638" y="742"/>
                  </a:cubicBezTo>
                  <a:cubicBezTo>
                    <a:pt x="610" y="737"/>
                    <a:pt x="584" y="732"/>
                    <a:pt x="557" y="727"/>
                  </a:cubicBezTo>
                  <a:cubicBezTo>
                    <a:pt x="531" y="722"/>
                    <a:pt x="506" y="716"/>
                    <a:pt x="481" y="710"/>
                  </a:cubicBezTo>
                  <a:cubicBezTo>
                    <a:pt x="457" y="704"/>
                    <a:pt x="433" y="697"/>
                    <a:pt x="410" y="690"/>
                  </a:cubicBezTo>
                  <a:cubicBezTo>
                    <a:pt x="387" y="683"/>
                    <a:pt x="365" y="675"/>
                    <a:pt x="344" y="667"/>
                  </a:cubicBezTo>
                  <a:cubicBezTo>
                    <a:pt x="323" y="659"/>
                    <a:pt x="304" y="651"/>
                    <a:pt x="285" y="643"/>
                  </a:cubicBezTo>
                  <a:cubicBezTo>
                    <a:pt x="266" y="634"/>
                    <a:pt x="248" y="625"/>
                    <a:pt x="232" y="616"/>
                  </a:cubicBezTo>
                  <a:cubicBezTo>
                    <a:pt x="215" y="606"/>
                    <a:pt x="200" y="596"/>
                    <a:pt x="186" y="586"/>
                  </a:cubicBezTo>
                  <a:cubicBezTo>
                    <a:pt x="172" y="576"/>
                    <a:pt x="160" y="566"/>
                    <a:pt x="148" y="555"/>
                  </a:cubicBezTo>
                  <a:cubicBezTo>
                    <a:pt x="137" y="545"/>
                    <a:pt x="127" y="535"/>
                    <a:pt x="118" y="524"/>
                  </a:cubicBezTo>
                  <a:cubicBezTo>
                    <a:pt x="110" y="513"/>
                    <a:pt x="103" y="502"/>
                    <a:pt x="97" y="491"/>
                  </a:cubicBezTo>
                  <a:cubicBezTo>
                    <a:pt x="91" y="480"/>
                    <a:pt x="87" y="469"/>
                    <a:pt x="84" y="458"/>
                  </a:cubicBezTo>
                  <a:cubicBezTo>
                    <a:pt x="81" y="447"/>
                    <a:pt x="80" y="436"/>
                    <a:pt x="80" y="425"/>
                  </a:cubicBez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3609720" y="4584240"/>
              <a:ext cx="489240" cy="1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050" b="0" u="none" strike="noStrike">
                  <a:solidFill>
                    <a:srgbClr val="111111"/>
                  </a:solidFill>
                  <a:effectLst/>
                  <a:uFillTx/>
                  <a:latin typeface="SpaceGrotesk"/>
                  <a:ea typeface="SpaceGrotesk"/>
                </a:rPr>
                <a:t>nombre</a:t>
              </a:r>
              <a:endParaRPr lang="en-GB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5" name=""/>
          <p:cNvSpPr/>
          <p:nvPr/>
        </p:nvSpPr>
        <p:spPr>
          <a:xfrm>
            <a:off x="5416560" y="3799080"/>
            <a:ext cx="1750320" cy="398880"/>
          </a:xfrm>
          <a:custGeom>
            <a:avLst/>
            <a:gdLst>
              <a:gd name="textAreaLeft" fmla="*/ 0 w 1750320"/>
              <a:gd name="textAreaRight" fmla="*/ 1751760 w 1750320"/>
              <a:gd name="textAreaTop" fmla="*/ 0 h 398880"/>
              <a:gd name="textAreaBottom" fmla="*/ 400320 h 398880"/>
            </a:gdLst>
            <a:ahLst/>
            <a:cxnLst/>
            <a:rect l="textAreaLeft" t="textAreaTop" r="textAreaRight" b="textAreaBottom"/>
            <a:pathLst>
              <a:path w="4866" h="1112">
                <a:moveTo>
                  <a:pt x="0" y="555"/>
                </a:moveTo>
                <a:cubicBezTo>
                  <a:pt x="0" y="537"/>
                  <a:pt x="4" y="519"/>
                  <a:pt x="12" y="501"/>
                </a:cubicBezTo>
                <a:cubicBezTo>
                  <a:pt x="20" y="483"/>
                  <a:pt x="31" y="465"/>
                  <a:pt x="47" y="447"/>
                </a:cubicBezTo>
                <a:cubicBezTo>
                  <a:pt x="62" y="429"/>
                  <a:pt x="82" y="412"/>
                  <a:pt x="105" y="394"/>
                </a:cubicBezTo>
                <a:cubicBezTo>
                  <a:pt x="128" y="377"/>
                  <a:pt x="154" y="360"/>
                  <a:pt x="185" y="343"/>
                </a:cubicBezTo>
                <a:cubicBezTo>
                  <a:pt x="215" y="326"/>
                  <a:pt x="249" y="310"/>
                  <a:pt x="286" y="294"/>
                </a:cubicBezTo>
                <a:cubicBezTo>
                  <a:pt x="323" y="278"/>
                  <a:pt x="364" y="262"/>
                  <a:pt x="408" y="247"/>
                </a:cubicBezTo>
                <a:cubicBezTo>
                  <a:pt x="452" y="232"/>
                  <a:pt x="499" y="217"/>
                  <a:pt x="550" y="203"/>
                </a:cubicBezTo>
                <a:cubicBezTo>
                  <a:pt x="600" y="189"/>
                  <a:pt x="653" y="176"/>
                  <a:pt x="709" y="163"/>
                </a:cubicBezTo>
                <a:cubicBezTo>
                  <a:pt x="765" y="150"/>
                  <a:pt x="824" y="138"/>
                  <a:pt x="885" y="126"/>
                </a:cubicBezTo>
                <a:cubicBezTo>
                  <a:pt x="946" y="115"/>
                  <a:pt x="1010" y="104"/>
                  <a:pt x="1076" y="94"/>
                </a:cubicBezTo>
                <a:cubicBezTo>
                  <a:pt x="1141" y="84"/>
                  <a:pt x="1209" y="74"/>
                  <a:pt x="1279" y="66"/>
                </a:cubicBezTo>
                <a:cubicBezTo>
                  <a:pt x="1349" y="57"/>
                  <a:pt x="1421" y="49"/>
                  <a:pt x="1494" y="42"/>
                </a:cubicBezTo>
                <a:cubicBezTo>
                  <a:pt x="1567" y="35"/>
                  <a:pt x="1642" y="29"/>
                  <a:pt x="1717" y="24"/>
                </a:cubicBezTo>
                <a:cubicBezTo>
                  <a:pt x="1793" y="19"/>
                  <a:pt x="1870" y="14"/>
                  <a:pt x="1948" y="11"/>
                </a:cubicBezTo>
                <a:cubicBezTo>
                  <a:pt x="2025" y="7"/>
                  <a:pt x="2104" y="5"/>
                  <a:pt x="2183" y="3"/>
                </a:cubicBezTo>
                <a:cubicBezTo>
                  <a:pt x="2262" y="1"/>
                  <a:pt x="2341" y="0"/>
                  <a:pt x="2421" y="0"/>
                </a:cubicBezTo>
                <a:lnTo>
                  <a:pt x="2447" y="0"/>
                </a:lnTo>
                <a:cubicBezTo>
                  <a:pt x="2526" y="0"/>
                  <a:pt x="2605" y="1"/>
                  <a:pt x="2684" y="3"/>
                </a:cubicBezTo>
                <a:cubicBezTo>
                  <a:pt x="2763" y="5"/>
                  <a:pt x="2841" y="7"/>
                  <a:pt x="2919" y="11"/>
                </a:cubicBezTo>
                <a:cubicBezTo>
                  <a:pt x="2996" y="14"/>
                  <a:pt x="3073" y="19"/>
                  <a:pt x="3149" y="24"/>
                </a:cubicBezTo>
                <a:cubicBezTo>
                  <a:pt x="3225" y="29"/>
                  <a:pt x="3299" y="35"/>
                  <a:pt x="3373" y="42"/>
                </a:cubicBezTo>
                <a:cubicBezTo>
                  <a:pt x="3446" y="49"/>
                  <a:pt x="3517" y="57"/>
                  <a:pt x="3587" y="66"/>
                </a:cubicBezTo>
                <a:cubicBezTo>
                  <a:pt x="3657" y="74"/>
                  <a:pt x="3725" y="84"/>
                  <a:pt x="3791" y="94"/>
                </a:cubicBezTo>
                <a:cubicBezTo>
                  <a:pt x="3857" y="104"/>
                  <a:pt x="3920" y="115"/>
                  <a:pt x="3982" y="126"/>
                </a:cubicBezTo>
                <a:cubicBezTo>
                  <a:pt x="4043" y="138"/>
                  <a:pt x="4101" y="150"/>
                  <a:pt x="4157" y="163"/>
                </a:cubicBezTo>
                <a:cubicBezTo>
                  <a:pt x="4213" y="176"/>
                  <a:pt x="4267" y="189"/>
                  <a:pt x="4317" y="203"/>
                </a:cubicBezTo>
                <a:cubicBezTo>
                  <a:pt x="4367" y="217"/>
                  <a:pt x="4414" y="232"/>
                  <a:pt x="4458" y="247"/>
                </a:cubicBezTo>
                <a:cubicBezTo>
                  <a:pt x="4502" y="262"/>
                  <a:pt x="4543" y="278"/>
                  <a:pt x="4580" y="294"/>
                </a:cubicBezTo>
                <a:cubicBezTo>
                  <a:pt x="4618" y="310"/>
                  <a:pt x="4652" y="326"/>
                  <a:pt x="4682" y="343"/>
                </a:cubicBezTo>
                <a:cubicBezTo>
                  <a:pt x="4712" y="360"/>
                  <a:pt x="4739" y="377"/>
                  <a:pt x="4762" y="394"/>
                </a:cubicBezTo>
                <a:cubicBezTo>
                  <a:pt x="4785" y="412"/>
                  <a:pt x="4804" y="429"/>
                  <a:pt x="4820" y="447"/>
                </a:cubicBezTo>
                <a:cubicBezTo>
                  <a:pt x="4835" y="465"/>
                  <a:pt x="4847" y="483"/>
                  <a:pt x="4854" y="501"/>
                </a:cubicBezTo>
                <a:cubicBezTo>
                  <a:pt x="4862" y="519"/>
                  <a:pt x="4866" y="537"/>
                  <a:pt x="4866" y="555"/>
                </a:cubicBezTo>
                <a:cubicBezTo>
                  <a:pt x="4866" y="573"/>
                  <a:pt x="4862" y="592"/>
                  <a:pt x="4854" y="610"/>
                </a:cubicBezTo>
                <a:cubicBezTo>
                  <a:pt x="4847" y="628"/>
                  <a:pt x="4835" y="646"/>
                  <a:pt x="4820" y="664"/>
                </a:cubicBezTo>
                <a:cubicBezTo>
                  <a:pt x="4804" y="681"/>
                  <a:pt x="4785" y="699"/>
                  <a:pt x="4762" y="716"/>
                </a:cubicBezTo>
                <a:cubicBezTo>
                  <a:pt x="4739" y="735"/>
                  <a:pt x="4712" y="752"/>
                  <a:pt x="4682" y="769"/>
                </a:cubicBezTo>
                <a:cubicBezTo>
                  <a:pt x="4652" y="786"/>
                  <a:pt x="4618" y="802"/>
                  <a:pt x="4580" y="818"/>
                </a:cubicBezTo>
                <a:cubicBezTo>
                  <a:pt x="4543" y="834"/>
                  <a:pt x="4502" y="850"/>
                  <a:pt x="4458" y="865"/>
                </a:cubicBezTo>
                <a:cubicBezTo>
                  <a:pt x="4414" y="880"/>
                  <a:pt x="4367" y="894"/>
                  <a:pt x="4317" y="909"/>
                </a:cubicBezTo>
                <a:cubicBezTo>
                  <a:pt x="4267" y="923"/>
                  <a:pt x="4213" y="936"/>
                  <a:pt x="4157" y="949"/>
                </a:cubicBezTo>
                <a:cubicBezTo>
                  <a:pt x="4101" y="962"/>
                  <a:pt x="4043" y="974"/>
                  <a:pt x="3982" y="985"/>
                </a:cubicBezTo>
                <a:cubicBezTo>
                  <a:pt x="3920" y="997"/>
                  <a:pt x="3857" y="1008"/>
                  <a:pt x="3791" y="1018"/>
                </a:cubicBezTo>
                <a:cubicBezTo>
                  <a:pt x="3725" y="1028"/>
                  <a:pt x="3657" y="1037"/>
                  <a:pt x="3587" y="1046"/>
                </a:cubicBezTo>
                <a:cubicBezTo>
                  <a:pt x="3517" y="1055"/>
                  <a:pt x="3446" y="1062"/>
                  <a:pt x="3373" y="1069"/>
                </a:cubicBezTo>
                <a:cubicBezTo>
                  <a:pt x="3299" y="1076"/>
                  <a:pt x="3225" y="1082"/>
                  <a:pt x="3149" y="1088"/>
                </a:cubicBezTo>
                <a:cubicBezTo>
                  <a:pt x="3073" y="1093"/>
                  <a:pt x="2996" y="1097"/>
                  <a:pt x="2919" y="1101"/>
                </a:cubicBezTo>
                <a:cubicBezTo>
                  <a:pt x="2841" y="1104"/>
                  <a:pt x="2763" y="1107"/>
                  <a:pt x="2684" y="1109"/>
                </a:cubicBezTo>
                <a:cubicBezTo>
                  <a:pt x="2605" y="1111"/>
                  <a:pt x="2526" y="1112"/>
                  <a:pt x="2447" y="1112"/>
                </a:cubicBezTo>
                <a:lnTo>
                  <a:pt x="2421" y="1112"/>
                </a:lnTo>
                <a:cubicBezTo>
                  <a:pt x="2341" y="1112"/>
                  <a:pt x="2262" y="1111"/>
                  <a:pt x="2183" y="1109"/>
                </a:cubicBezTo>
                <a:cubicBezTo>
                  <a:pt x="2104" y="1107"/>
                  <a:pt x="2025" y="1104"/>
                  <a:pt x="1948" y="1101"/>
                </a:cubicBezTo>
                <a:cubicBezTo>
                  <a:pt x="1870" y="1097"/>
                  <a:pt x="1793" y="1093"/>
                  <a:pt x="1717" y="1088"/>
                </a:cubicBezTo>
                <a:cubicBezTo>
                  <a:pt x="1642" y="1082"/>
                  <a:pt x="1567" y="1076"/>
                  <a:pt x="1494" y="1069"/>
                </a:cubicBezTo>
                <a:cubicBezTo>
                  <a:pt x="1421" y="1062"/>
                  <a:pt x="1349" y="1055"/>
                  <a:pt x="1279" y="1046"/>
                </a:cubicBezTo>
                <a:cubicBezTo>
                  <a:pt x="1209" y="1037"/>
                  <a:pt x="1141" y="1028"/>
                  <a:pt x="1076" y="1018"/>
                </a:cubicBezTo>
                <a:cubicBezTo>
                  <a:pt x="1010" y="1008"/>
                  <a:pt x="946" y="997"/>
                  <a:pt x="885" y="985"/>
                </a:cubicBezTo>
                <a:cubicBezTo>
                  <a:pt x="824" y="974"/>
                  <a:pt x="765" y="962"/>
                  <a:pt x="709" y="949"/>
                </a:cubicBezTo>
                <a:cubicBezTo>
                  <a:pt x="653" y="936"/>
                  <a:pt x="600" y="923"/>
                  <a:pt x="550" y="909"/>
                </a:cubicBezTo>
                <a:cubicBezTo>
                  <a:pt x="499" y="894"/>
                  <a:pt x="452" y="880"/>
                  <a:pt x="408" y="865"/>
                </a:cubicBezTo>
                <a:cubicBezTo>
                  <a:pt x="364" y="850"/>
                  <a:pt x="323" y="834"/>
                  <a:pt x="286" y="818"/>
                </a:cubicBezTo>
                <a:cubicBezTo>
                  <a:pt x="249" y="802"/>
                  <a:pt x="215" y="786"/>
                  <a:pt x="185" y="769"/>
                </a:cubicBezTo>
                <a:cubicBezTo>
                  <a:pt x="154" y="752"/>
                  <a:pt x="128" y="735"/>
                  <a:pt x="105" y="716"/>
                </a:cubicBezTo>
                <a:cubicBezTo>
                  <a:pt x="82" y="699"/>
                  <a:pt x="62" y="681"/>
                  <a:pt x="47" y="664"/>
                </a:cubicBezTo>
                <a:cubicBezTo>
                  <a:pt x="31" y="646"/>
                  <a:pt x="20" y="628"/>
                  <a:pt x="12" y="610"/>
                </a:cubicBezTo>
                <a:cubicBezTo>
                  <a:pt x="4" y="592"/>
                  <a:pt x="0" y="573"/>
                  <a:pt x="0" y="5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397840" y="3780000"/>
            <a:ext cx="1788120" cy="436680"/>
          </a:xfrm>
          <a:custGeom>
            <a:avLst/>
            <a:gdLst>
              <a:gd name="textAreaLeft" fmla="*/ 0 w 1788120"/>
              <a:gd name="textAreaRight" fmla="*/ 1789560 w 1788120"/>
              <a:gd name="textAreaTop" fmla="*/ 0 h 436680"/>
              <a:gd name="textAreaBottom" fmla="*/ 438120 h 436680"/>
            </a:gdLst>
            <a:ahLst/>
            <a:cxnLst/>
            <a:rect l="textAreaLeft" t="textAreaTop" r="textAreaRight" b="textAreaBottom"/>
            <a:pathLst>
              <a:path w="4971" h="1217">
                <a:moveTo>
                  <a:pt x="0" y="609"/>
                </a:moveTo>
                <a:cubicBezTo>
                  <a:pt x="0" y="589"/>
                  <a:pt x="3" y="570"/>
                  <a:pt x="11" y="550"/>
                </a:cubicBezTo>
                <a:cubicBezTo>
                  <a:pt x="19" y="530"/>
                  <a:pt x="31" y="510"/>
                  <a:pt x="47" y="491"/>
                </a:cubicBezTo>
                <a:cubicBezTo>
                  <a:pt x="63" y="471"/>
                  <a:pt x="82" y="452"/>
                  <a:pt x="106" y="433"/>
                </a:cubicBezTo>
                <a:cubicBezTo>
                  <a:pt x="129" y="414"/>
                  <a:pt x="157" y="395"/>
                  <a:pt x="188" y="377"/>
                </a:cubicBezTo>
                <a:cubicBezTo>
                  <a:pt x="219" y="358"/>
                  <a:pt x="253" y="340"/>
                  <a:pt x="291" y="323"/>
                </a:cubicBezTo>
                <a:cubicBezTo>
                  <a:pt x="330" y="305"/>
                  <a:pt x="371" y="288"/>
                  <a:pt x="416" y="271"/>
                </a:cubicBezTo>
                <a:cubicBezTo>
                  <a:pt x="461" y="254"/>
                  <a:pt x="509" y="238"/>
                  <a:pt x="561" y="223"/>
                </a:cubicBezTo>
                <a:cubicBezTo>
                  <a:pt x="612" y="207"/>
                  <a:pt x="666" y="192"/>
                  <a:pt x="724" y="178"/>
                </a:cubicBezTo>
                <a:cubicBezTo>
                  <a:pt x="781" y="164"/>
                  <a:pt x="841" y="151"/>
                  <a:pt x="903" y="138"/>
                </a:cubicBezTo>
                <a:cubicBezTo>
                  <a:pt x="966" y="126"/>
                  <a:pt x="1031" y="114"/>
                  <a:pt x="1098" y="103"/>
                </a:cubicBezTo>
                <a:cubicBezTo>
                  <a:pt x="1166" y="92"/>
                  <a:pt x="1235" y="81"/>
                  <a:pt x="1306" y="72"/>
                </a:cubicBezTo>
                <a:cubicBezTo>
                  <a:pt x="1378" y="63"/>
                  <a:pt x="1451" y="54"/>
                  <a:pt x="1526" y="47"/>
                </a:cubicBezTo>
                <a:cubicBezTo>
                  <a:pt x="1600" y="39"/>
                  <a:pt x="1677" y="32"/>
                  <a:pt x="1754" y="26"/>
                </a:cubicBezTo>
                <a:cubicBezTo>
                  <a:pt x="1832" y="21"/>
                  <a:pt x="1910" y="16"/>
                  <a:pt x="1989" y="12"/>
                </a:cubicBezTo>
                <a:cubicBezTo>
                  <a:pt x="2069" y="8"/>
                  <a:pt x="2149" y="5"/>
                  <a:pt x="2229" y="3"/>
                </a:cubicBezTo>
                <a:cubicBezTo>
                  <a:pt x="2310" y="1"/>
                  <a:pt x="2391" y="0"/>
                  <a:pt x="2472" y="0"/>
                </a:cubicBezTo>
                <a:lnTo>
                  <a:pt x="2498" y="0"/>
                </a:lnTo>
                <a:cubicBezTo>
                  <a:pt x="2579" y="0"/>
                  <a:pt x="2660" y="1"/>
                  <a:pt x="2741" y="3"/>
                </a:cubicBezTo>
                <a:cubicBezTo>
                  <a:pt x="2822" y="5"/>
                  <a:pt x="2902" y="8"/>
                  <a:pt x="2981" y="12"/>
                </a:cubicBezTo>
                <a:cubicBezTo>
                  <a:pt x="3060" y="16"/>
                  <a:pt x="3139" y="21"/>
                  <a:pt x="3216" y="26"/>
                </a:cubicBezTo>
                <a:cubicBezTo>
                  <a:pt x="3294" y="32"/>
                  <a:pt x="3370" y="39"/>
                  <a:pt x="3445" y="47"/>
                </a:cubicBezTo>
                <a:cubicBezTo>
                  <a:pt x="3520" y="54"/>
                  <a:pt x="3593" y="63"/>
                  <a:pt x="3664" y="72"/>
                </a:cubicBezTo>
                <a:cubicBezTo>
                  <a:pt x="3736" y="81"/>
                  <a:pt x="3805" y="92"/>
                  <a:pt x="3872" y="103"/>
                </a:cubicBezTo>
                <a:cubicBezTo>
                  <a:pt x="3940" y="114"/>
                  <a:pt x="4004" y="126"/>
                  <a:pt x="4067" y="138"/>
                </a:cubicBezTo>
                <a:cubicBezTo>
                  <a:pt x="4130" y="151"/>
                  <a:pt x="4190" y="164"/>
                  <a:pt x="4247" y="178"/>
                </a:cubicBezTo>
                <a:cubicBezTo>
                  <a:pt x="4304" y="192"/>
                  <a:pt x="4358" y="207"/>
                  <a:pt x="4410" y="223"/>
                </a:cubicBezTo>
                <a:cubicBezTo>
                  <a:pt x="4461" y="238"/>
                  <a:pt x="4509" y="254"/>
                  <a:pt x="4554" y="271"/>
                </a:cubicBezTo>
                <a:cubicBezTo>
                  <a:pt x="4599" y="288"/>
                  <a:pt x="4641" y="305"/>
                  <a:pt x="4679" y="323"/>
                </a:cubicBezTo>
                <a:cubicBezTo>
                  <a:pt x="4717" y="340"/>
                  <a:pt x="4752" y="358"/>
                  <a:pt x="4783" y="377"/>
                </a:cubicBezTo>
                <a:cubicBezTo>
                  <a:pt x="4814" y="395"/>
                  <a:pt x="4841" y="414"/>
                  <a:pt x="4864" y="433"/>
                </a:cubicBezTo>
                <a:cubicBezTo>
                  <a:pt x="4888" y="452"/>
                  <a:pt x="4908" y="471"/>
                  <a:pt x="4923" y="491"/>
                </a:cubicBezTo>
                <a:cubicBezTo>
                  <a:pt x="4939" y="510"/>
                  <a:pt x="4951" y="530"/>
                  <a:pt x="4959" y="550"/>
                </a:cubicBezTo>
                <a:cubicBezTo>
                  <a:pt x="4967" y="570"/>
                  <a:pt x="4971" y="589"/>
                  <a:pt x="4971" y="609"/>
                </a:cubicBezTo>
                <a:cubicBezTo>
                  <a:pt x="4971" y="629"/>
                  <a:pt x="4967" y="649"/>
                  <a:pt x="4959" y="669"/>
                </a:cubicBezTo>
                <a:cubicBezTo>
                  <a:pt x="4951" y="689"/>
                  <a:pt x="4939" y="708"/>
                  <a:pt x="4923" y="728"/>
                </a:cubicBezTo>
                <a:cubicBezTo>
                  <a:pt x="4908" y="747"/>
                  <a:pt x="4888" y="767"/>
                  <a:pt x="4864" y="786"/>
                </a:cubicBezTo>
                <a:cubicBezTo>
                  <a:pt x="4841" y="805"/>
                  <a:pt x="4814" y="824"/>
                  <a:pt x="4783" y="842"/>
                </a:cubicBezTo>
                <a:cubicBezTo>
                  <a:pt x="4752" y="860"/>
                  <a:pt x="4717" y="878"/>
                  <a:pt x="4679" y="896"/>
                </a:cubicBezTo>
                <a:cubicBezTo>
                  <a:pt x="4641" y="914"/>
                  <a:pt x="4599" y="931"/>
                  <a:pt x="4554" y="947"/>
                </a:cubicBezTo>
                <a:cubicBezTo>
                  <a:pt x="4509" y="964"/>
                  <a:pt x="4461" y="980"/>
                  <a:pt x="4410" y="995"/>
                </a:cubicBezTo>
                <a:cubicBezTo>
                  <a:pt x="4358" y="1010"/>
                  <a:pt x="4304" y="1025"/>
                  <a:pt x="4247" y="1039"/>
                </a:cubicBezTo>
                <a:cubicBezTo>
                  <a:pt x="4190" y="1053"/>
                  <a:pt x="4130" y="1067"/>
                  <a:pt x="4067" y="1079"/>
                </a:cubicBezTo>
                <a:cubicBezTo>
                  <a:pt x="4004" y="1092"/>
                  <a:pt x="3940" y="1104"/>
                  <a:pt x="3872" y="1115"/>
                </a:cubicBezTo>
                <a:cubicBezTo>
                  <a:pt x="3805" y="1126"/>
                  <a:pt x="3736" y="1136"/>
                  <a:pt x="3664" y="1146"/>
                </a:cubicBezTo>
                <a:cubicBezTo>
                  <a:pt x="3593" y="1155"/>
                  <a:pt x="3520" y="1163"/>
                  <a:pt x="3445" y="1171"/>
                </a:cubicBezTo>
                <a:cubicBezTo>
                  <a:pt x="3370" y="1179"/>
                  <a:pt x="3294" y="1185"/>
                  <a:pt x="3216" y="1191"/>
                </a:cubicBezTo>
                <a:cubicBezTo>
                  <a:pt x="3139" y="1197"/>
                  <a:pt x="3060" y="1202"/>
                  <a:pt x="2981" y="1206"/>
                </a:cubicBezTo>
                <a:cubicBezTo>
                  <a:pt x="2902" y="1210"/>
                  <a:pt x="2822" y="1212"/>
                  <a:pt x="2741" y="1214"/>
                </a:cubicBezTo>
                <a:cubicBezTo>
                  <a:pt x="2660" y="1216"/>
                  <a:pt x="2579" y="1217"/>
                  <a:pt x="2498" y="1217"/>
                </a:cubicBezTo>
                <a:lnTo>
                  <a:pt x="2472" y="1217"/>
                </a:lnTo>
                <a:cubicBezTo>
                  <a:pt x="2391" y="1217"/>
                  <a:pt x="2310" y="1216"/>
                  <a:pt x="2229" y="1214"/>
                </a:cubicBezTo>
                <a:cubicBezTo>
                  <a:pt x="2149" y="1212"/>
                  <a:pt x="2069" y="1210"/>
                  <a:pt x="1989" y="1206"/>
                </a:cubicBezTo>
                <a:cubicBezTo>
                  <a:pt x="1910" y="1202"/>
                  <a:pt x="1832" y="1197"/>
                  <a:pt x="1754" y="1191"/>
                </a:cubicBezTo>
                <a:cubicBezTo>
                  <a:pt x="1677" y="1185"/>
                  <a:pt x="1600" y="1179"/>
                  <a:pt x="1526" y="1171"/>
                </a:cubicBezTo>
                <a:cubicBezTo>
                  <a:pt x="1451" y="1163"/>
                  <a:pt x="1378" y="1155"/>
                  <a:pt x="1306" y="1146"/>
                </a:cubicBezTo>
                <a:cubicBezTo>
                  <a:pt x="1235" y="1136"/>
                  <a:pt x="1166" y="1126"/>
                  <a:pt x="1098" y="1115"/>
                </a:cubicBezTo>
                <a:cubicBezTo>
                  <a:pt x="1031" y="1104"/>
                  <a:pt x="966" y="1092"/>
                  <a:pt x="903" y="1079"/>
                </a:cubicBezTo>
                <a:cubicBezTo>
                  <a:pt x="841" y="1067"/>
                  <a:pt x="781" y="1053"/>
                  <a:pt x="724" y="1039"/>
                </a:cubicBezTo>
                <a:cubicBezTo>
                  <a:pt x="666" y="1025"/>
                  <a:pt x="612" y="1010"/>
                  <a:pt x="561" y="995"/>
                </a:cubicBezTo>
                <a:cubicBezTo>
                  <a:pt x="509" y="980"/>
                  <a:pt x="461" y="964"/>
                  <a:pt x="416" y="947"/>
                </a:cubicBezTo>
                <a:cubicBezTo>
                  <a:pt x="371" y="931"/>
                  <a:pt x="330" y="914"/>
                  <a:pt x="291" y="896"/>
                </a:cubicBezTo>
                <a:cubicBezTo>
                  <a:pt x="253" y="878"/>
                  <a:pt x="219" y="860"/>
                  <a:pt x="188" y="842"/>
                </a:cubicBezTo>
                <a:cubicBezTo>
                  <a:pt x="157" y="824"/>
                  <a:pt x="129" y="805"/>
                  <a:pt x="106" y="786"/>
                </a:cubicBezTo>
                <a:cubicBezTo>
                  <a:pt x="82" y="767"/>
                  <a:pt x="63" y="747"/>
                  <a:pt x="47" y="728"/>
                </a:cubicBezTo>
                <a:cubicBezTo>
                  <a:pt x="31" y="708"/>
                  <a:pt x="19" y="689"/>
                  <a:pt x="11" y="669"/>
                </a:cubicBezTo>
                <a:cubicBezTo>
                  <a:pt x="3" y="649"/>
                  <a:pt x="0" y="629"/>
                  <a:pt x="0" y="609"/>
                </a:cubicBezTo>
                <a:moveTo>
                  <a:pt x="105" y="609"/>
                </a:moveTo>
                <a:cubicBezTo>
                  <a:pt x="105" y="593"/>
                  <a:pt x="109" y="576"/>
                  <a:pt x="117" y="560"/>
                </a:cubicBezTo>
                <a:cubicBezTo>
                  <a:pt x="124" y="544"/>
                  <a:pt x="136" y="527"/>
                  <a:pt x="151" y="511"/>
                </a:cubicBezTo>
                <a:cubicBezTo>
                  <a:pt x="166" y="495"/>
                  <a:pt x="185" y="479"/>
                  <a:pt x="207" y="463"/>
                </a:cubicBezTo>
                <a:cubicBezTo>
                  <a:pt x="230" y="448"/>
                  <a:pt x="256" y="432"/>
                  <a:pt x="285" y="417"/>
                </a:cubicBezTo>
                <a:cubicBezTo>
                  <a:pt x="315" y="402"/>
                  <a:pt x="348" y="387"/>
                  <a:pt x="385" y="373"/>
                </a:cubicBezTo>
                <a:cubicBezTo>
                  <a:pt x="421" y="358"/>
                  <a:pt x="461" y="344"/>
                  <a:pt x="504" y="330"/>
                </a:cubicBezTo>
                <a:cubicBezTo>
                  <a:pt x="547" y="317"/>
                  <a:pt x="593" y="303"/>
                  <a:pt x="642" y="291"/>
                </a:cubicBezTo>
                <a:cubicBezTo>
                  <a:pt x="692" y="278"/>
                  <a:pt x="744" y="266"/>
                  <a:pt x="798" y="253"/>
                </a:cubicBezTo>
                <a:cubicBezTo>
                  <a:pt x="853" y="241"/>
                  <a:pt x="911" y="230"/>
                  <a:pt x="970" y="220"/>
                </a:cubicBezTo>
                <a:cubicBezTo>
                  <a:pt x="1030" y="210"/>
                  <a:pt x="1093" y="200"/>
                  <a:pt x="1157" y="191"/>
                </a:cubicBezTo>
                <a:cubicBezTo>
                  <a:pt x="1221" y="181"/>
                  <a:pt x="1288" y="173"/>
                  <a:pt x="1356" y="165"/>
                </a:cubicBezTo>
                <a:cubicBezTo>
                  <a:pt x="1425" y="158"/>
                  <a:pt x="1495" y="151"/>
                  <a:pt x="1566" y="144"/>
                </a:cubicBezTo>
                <a:cubicBezTo>
                  <a:pt x="1638" y="138"/>
                  <a:pt x="1711" y="132"/>
                  <a:pt x="1785" y="128"/>
                </a:cubicBezTo>
                <a:cubicBezTo>
                  <a:pt x="1859" y="123"/>
                  <a:pt x="1934" y="119"/>
                  <a:pt x="2010" y="116"/>
                </a:cubicBezTo>
                <a:cubicBezTo>
                  <a:pt x="2086" y="112"/>
                  <a:pt x="2163" y="110"/>
                  <a:pt x="2240" y="108"/>
                </a:cubicBezTo>
                <a:cubicBezTo>
                  <a:pt x="2317" y="107"/>
                  <a:pt x="2394" y="106"/>
                  <a:pt x="2472" y="106"/>
                </a:cubicBezTo>
                <a:lnTo>
                  <a:pt x="2498" y="106"/>
                </a:lnTo>
                <a:cubicBezTo>
                  <a:pt x="2575" y="106"/>
                  <a:pt x="2654" y="107"/>
                  <a:pt x="2731" y="108"/>
                </a:cubicBezTo>
                <a:cubicBezTo>
                  <a:pt x="2808" y="110"/>
                  <a:pt x="2884" y="112"/>
                  <a:pt x="2960" y="116"/>
                </a:cubicBezTo>
                <a:cubicBezTo>
                  <a:pt x="3036" y="119"/>
                  <a:pt x="3112" y="123"/>
                  <a:pt x="3186" y="128"/>
                </a:cubicBezTo>
                <a:cubicBezTo>
                  <a:pt x="3260" y="132"/>
                  <a:pt x="3333" y="138"/>
                  <a:pt x="3404" y="144"/>
                </a:cubicBezTo>
                <a:cubicBezTo>
                  <a:pt x="3476" y="151"/>
                  <a:pt x="3546" y="158"/>
                  <a:pt x="3614" y="165"/>
                </a:cubicBezTo>
                <a:cubicBezTo>
                  <a:pt x="3683" y="173"/>
                  <a:pt x="3749" y="181"/>
                  <a:pt x="3813" y="191"/>
                </a:cubicBezTo>
                <a:cubicBezTo>
                  <a:pt x="3878" y="200"/>
                  <a:pt x="3940" y="210"/>
                  <a:pt x="4000" y="220"/>
                </a:cubicBezTo>
                <a:cubicBezTo>
                  <a:pt x="4060" y="230"/>
                  <a:pt x="4117" y="241"/>
                  <a:pt x="4172" y="253"/>
                </a:cubicBezTo>
                <a:cubicBezTo>
                  <a:pt x="4227" y="266"/>
                  <a:pt x="4279" y="278"/>
                  <a:pt x="4328" y="291"/>
                </a:cubicBezTo>
                <a:cubicBezTo>
                  <a:pt x="4377" y="303"/>
                  <a:pt x="4423" y="317"/>
                  <a:pt x="4466" y="330"/>
                </a:cubicBezTo>
                <a:cubicBezTo>
                  <a:pt x="4509" y="344"/>
                  <a:pt x="4549" y="358"/>
                  <a:pt x="4586" y="373"/>
                </a:cubicBezTo>
                <a:cubicBezTo>
                  <a:pt x="4622" y="387"/>
                  <a:pt x="4655" y="402"/>
                  <a:pt x="4685" y="417"/>
                </a:cubicBezTo>
                <a:cubicBezTo>
                  <a:pt x="4715" y="432"/>
                  <a:pt x="4741" y="448"/>
                  <a:pt x="4763" y="463"/>
                </a:cubicBezTo>
                <a:cubicBezTo>
                  <a:pt x="4786" y="479"/>
                  <a:pt x="4805" y="495"/>
                  <a:pt x="4820" y="511"/>
                </a:cubicBezTo>
                <a:cubicBezTo>
                  <a:pt x="4835" y="527"/>
                  <a:pt x="4846" y="544"/>
                  <a:pt x="4854" y="560"/>
                </a:cubicBezTo>
                <a:cubicBezTo>
                  <a:pt x="4861" y="576"/>
                  <a:pt x="4865" y="593"/>
                  <a:pt x="4865" y="609"/>
                </a:cubicBezTo>
                <a:cubicBezTo>
                  <a:pt x="4865" y="626"/>
                  <a:pt x="4861" y="642"/>
                  <a:pt x="4854" y="659"/>
                </a:cubicBezTo>
                <a:cubicBezTo>
                  <a:pt x="4846" y="675"/>
                  <a:pt x="4835" y="691"/>
                  <a:pt x="4820" y="707"/>
                </a:cubicBezTo>
                <a:cubicBezTo>
                  <a:pt x="4805" y="723"/>
                  <a:pt x="4786" y="739"/>
                  <a:pt x="4763" y="755"/>
                </a:cubicBezTo>
                <a:cubicBezTo>
                  <a:pt x="4741" y="771"/>
                  <a:pt x="4715" y="786"/>
                  <a:pt x="4685" y="802"/>
                </a:cubicBezTo>
                <a:cubicBezTo>
                  <a:pt x="4655" y="817"/>
                  <a:pt x="4622" y="832"/>
                  <a:pt x="4586" y="846"/>
                </a:cubicBezTo>
                <a:cubicBezTo>
                  <a:pt x="4549" y="861"/>
                  <a:pt x="4509" y="875"/>
                  <a:pt x="4466" y="888"/>
                </a:cubicBezTo>
                <a:cubicBezTo>
                  <a:pt x="4423" y="902"/>
                  <a:pt x="4377" y="915"/>
                  <a:pt x="4328" y="928"/>
                </a:cubicBezTo>
                <a:cubicBezTo>
                  <a:pt x="4279" y="941"/>
                  <a:pt x="4227" y="953"/>
                  <a:pt x="4172" y="964"/>
                </a:cubicBezTo>
                <a:cubicBezTo>
                  <a:pt x="4117" y="976"/>
                  <a:pt x="4060" y="987"/>
                  <a:pt x="4000" y="998"/>
                </a:cubicBezTo>
                <a:cubicBezTo>
                  <a:pt x="3940" y="1008"/>
                  <a:pt x="3878" y="1018"/>
                  <a:pt x="3813" y="1027"/>
                </a:cubicBezTo>
                <a:cubicBezTo>
                  <a:pt x="3749" y="1036"/>
                  <a:pt x="3683" y="1045"/>
                  <a:pt x="3614" y="1052"/>
                </a:cubicBezTo>
                <a:cubicBezTo>
                  <a:pt x="3546" y="1060"/>
                  <a:pt x="3476" y="1067"/>
                  <a:pt x="3404" y="1073"/>
                </a:cubicBezTo>
                <a:cubicBezTo>
                  <a:pt x="3333" y="1080"/>
                  <a:pt x="3260" y="1085"/>
                  <a:pt x="3186" y="1090"/>
                </a:cubicBezTo>
                <a:cubicBezTo>
                  <a:pt x="3112" y="1095"/>
                  <a:pt x="3036" y="1099"/>
                  <a:pt x="2960" y="1102"/>
                </a:cubicBezTo>
                <a:cubicBezTo>
                  <a:pt x="2884" y="1105"/>
                  <a:pt x="2808" y="1108"/>
                  <a:pt x="2731" y="1109"/>
                </a:cubicBezTo>
                <a:cubicBezTo>
                  <a:pt x="2654" y="1111"/>
                  <a:pt x="2575" y="1112"/>
                  <a:pt x="2498" y="1112"/>
                </a:cubicBezTo>
                <a:lnTo>
                  <a:pt x="2472" y="1112"/>
                </a:lnTo>
                <a:cubicBezTo>
                  <a:pt x="2394" y="1112"/>
                  <a:pt x="2317" y="1111"/>
                  <a:pt x="2240" y="1109"/>
                </a:cubicBezTo>
                <a:cubicBezTo>
                  <a:pt x="2163" y="1108"/>
                  <a:pt x="2086" y="1105"/>
                  <a:pt x="2010" y="1102"/>
                </a:cubicBezTo>
                <a:cubicBezTo>
                  <a:pt x="1934" y="1099"/>
                  <a:pt x="1859" y="1095"/>
                  <a:pt x="1785" y="1090"/>
                </a:cubicBezTo>
                <a:cubicBezTo>
                  <a:pt x="1711" y="1085"/>
                  <a:pt x="1638" y="1080"/>
                  <a:pt x="1566" y="1073"/>
                </a:cubicBezTo>
                <a:cubicBezTo>
                  <a:pt x="1495" y="1067"/>
                  <a:pt x="1425" y="1060"/>
                  <a:pt x="1356" y="1052"/>
                </a:cubicBezTo>
                <a:cubicBezTo>
                  <a:pt x="1288" y="1045"/>
                  <a:pt x="1221" y="1036"/>
                  <a:pt x="1157" y="1027"/>
                </a:cubicBezTo>
                <a:cubicBezTo>
                  <a:pt x="1093" y="1018"/>
                  <a:pt x="1030" y="1008"/>
                  <a:pt x="970" y="998"/>
                </a:cubicBezTo>
                <a:cubicBezTo>
                  <a:pt x="911" y="987"/>
                  <a:pt x="853" y="976"/>
                  <a:pt x="798" y="964"/>
                </a:cubicBezTo>
                <a:cubicBezTo>
                  <a:pt x="744" y="953"/>
                  <a:pt x="692" y="941"/>
                  <a:pt x="642" y="928"/>
                </a:cubicBezTo>
                <a:cubicBezTo>
                  <a:pt x="593" y="915"/>
                  <a:pt x="547" y="902"/>
                  <a:pt x="504" y="888"/>
                </a:cubicBezTo>
                <a:cubicBezTo>
                  <a:pt x="461" y="875"/>
                  <a:pt x="421" y="861"/>
                  <a:pt x="385" y="846"/>
                </a:cubicBezTo>
                <a:cubicBezTo>
                  <a:pt x="348" y="832"/>
                  <a:pt x="315" y="817"/>
                  <a:pt x="285" y="802"/>
                </a:cubicBezTo>
                <a:cubicBezTo>
                  <a:pt x="256" y="786"/>
                  <a:pt x="230" y="771"/>
                  <a:pt x="207" y="755"/>
                </a:cubicBezTo>
                <a:cubicBezTo>
                  <a:pt x="185" y="739"/>
                  <a:pt x="166" y="723"/>
                  <a:pt x="151" y="707"/>
                </a:cubicBezTo>
                <a:cubicBezTo>
                  <a:pt x="136" y="691"/>
                  <a:pt x="124" y="675"/>
                  <a:pt x="117" y="659"/>
                </a:cubicBezTo>
                <a:cubicBezTo>
                  <a:pt x="109" y="642"/>
                  <a:pt x="105" y="626"/>
                  <a:pt x="105" y="609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37" name=""/>
          <p:cNvGrpSpPr/>
          <p:nvPr/>
        </p:nvGrpSpPr>
        <p:grpSpPr>
          <a:xfrm>
            <a:off x="4397400" y="4524840"/>
            <a:ext cx="722160" cy="303480"/>
            <a:chOff x="4397400" y="4524840"/>
            <a:chExt cx="722160" cy="303480"/>
          </a:xfrm>
        </p:grpSpPr>
        <p:sp>
          <p:nvSpPr>
            <p:cNvPr id="338" name=""/>
            <p:cNvSpPr/>
            <p:nvPr/>
          </p:nvSpPr>
          <p:spPr>
            <a:xfrm>
              <a:off x="4397400" y="4524840"/>
              <a:ext cx="722160" cy="303480"/>
            </a:xfrm>
            <a:custGeom>
              <a:avLst/>
              <a:gdLst>
                <a:gd name="textAreaLeft" fmla="*/ 0 w 722160"/>
                <a:gd name="textAreaRight" fmla="*/ 723600 w 722160"/>
                <a:gd name="textAreaTop" fmla="*/ 0 h 303480"/>
                <a:gd name="textAreaBottom" fmla="*/ 304920 h 303480"/>
              </a:gdLst>
              <a:ahLst/>
              <a:cxnLst/>
              <a:rect l="textAreaLeft" t="textAreaTop" r="textAreaRight" b="textAreaBottom"/>
              <a:pathLst>
                <a:path w="2010" h="847">
                  <a:moveTo>
                    <a:pt x="0" y="425"/>
                  </a:moveTo>
                  <a:lnTo>
                    <a:pt x="0" y="421"/>
                  </a:lnTo>
                  <a:cubicBezTo>
                    <a:pt x="0" y="407"/>
                    <a:pt x="1" y="393"/>
                    <a:pt x="5" y="379"/>
                  </a:cubicBezTo>
                  <a:cubicBezTo>
                    <a:pt x="8" y="366"/>
                    <a:pt x="13" y="352"/>
                    <a:pt x="19" y="339"/>
                  </a:cubicBezTo>
                  <a:cubicBezTo>
                    <a:pt x="26" y="325"/>
                    <a:pt x="34" y="312"/>
                    <a:pt x="43" y="299"/>
                  </a:cubicBezTo>
                  <a:cubicBezTo>
                    <a:pt x="53" y="285"/>
                    <a:pt x="64" y="272"/>
                    <a:pt x="76" y="260"/>
                  </a:cubicBezTo>
                  <a:cubicBezTo>
                    <a:pt x="89" y="247"/>
                    <a:pt x="103" y="234"/>
                    <a:pt x="118" y="222"/>
                  </a:cubicBezTo>
                  <a:cubicBezTo>
                    <a:pt x="134" y="210"/>
                    <a:pt x="151" y="198"/>
                    <a:pt x="169" y="187"/>
                  </a:cubicBezTo>
                  <a:cubicBezTo>
                    <a:pt x="187" y="175"/>
                    <a:pt x="207" y="164"/>
                    <a:pt x="228" y="154"/>
                  </a:cubicBezTo>
                  <a:cubicBezTo>
                    <a:pt x="249" y="143"/>
                    <a:pt x="271" y="133"/>
                    <a:pt x="294" y="123"/>
                  </a:cubicBezTo>
                  <a:cubicBezTo>
                    <a:pt x="317" y="113"/>
                    <a:pt x="342" y="104"/>
                    <a:pt x="367" y="95"/>
                  </a:cubicBezTo>
                  <a:cubicBezTo>
                    <a:pt x="393" y="87"/>
                    <a:pt x="419" y="78"/>
                    <a:pt x="446" y="71"/>
                  </a:cubicBezTo>
                  <a:cubicBezTo>
                    <a:pt x="474" y="63"/>
                    <a:pt x="502" y="56"/>
                    <a:pt x="531" y="50"/>
                  </a:cubicBezTo>
                  <a:cubicBezTo>
                    <a:pt x="560" y="43"/>
                    <a:pt x="590" y="37"/>
                    <a:pt x="620" y="32"/>
                  </a:cubicBezTo>
                  <a:cubicBezTo>
                    <a:pt x="650" y="27"/>
                    <a:pt x="681" y="22"/>
                    <a:pt x="713" y="18"/>
                  </a:cubicBezTo>
                  <a:cubicBezTo>
                    <a:pt x="744" y="14"/>
                    <a:pt x="776" y="11"/>
                    <a:pt x="809" y="8"/>
                  </a:cubicBezTo>
                  <a:cubicBezTo>
                    <a:pt x="841" y="5"/>
                    <a:pt x="873" y="3"/>
                    <a:pt x="906" y="2"/>
                  </a:cubicBezTo>
                  <a:cubicBezTo>
                    <a:pt x="939" y="1"/>
                    <a:pt x="972" y="0"/>
                    <a:pt x="1005" y="0"/>
                  </a:cubicBezTo>
                  <a:cubicBezTo>
                    <a:pt x="1037" y="0"/>
                    <a:pt x="1070" y="1"/>
                    <a:pt x="1103" y="2"/>
                  </a:cubicBezTo>
                  <a:cubicBezTo>
                    <a:pt x="1136" y="3"/>
                    <a:pt x="1168" y="5"/>
                    <a:pt x="1201" y="8"/>
                  </a:cubicBezTo>
                  <a:cubicBezTo>
                    <a:pt x="1234" y="11"/>
                    <a:pt x="1266" y="14"/>
                    <a:pt x="1297" y="18"/>
                  </a:cubicBezTo>
                  <a:cubicBezTo>
                    <a:pt x="1329" y="22"/>
                    <a:pt x="1360" y="27"/>
                    <a:pt x="1390" y="32"/>
                  </a:cubicBezTo>
                  <a:cubicBezTo>
                    <a:pt x="1420" y="37"/>
                    <a:pt x="1450" y="43"/>
                    <a:pt x="1479" y="50"/>
                  </a:cubicBezTo>
                  <a:cubicBezTo>
                    <a:pt x="1508" y="56"/>
                    <a:pt x="1536" y="63"/>
                    <a:pt x="1564" y="71"/>
                  </a:cubicBezTo>
                  <a:cubicBezTo>
                    <a:pt x="1591" y="78"/>
                    <a:pt x="1617" y="87"/>
                    <a:pt x="1643" y="95"/>
                  </a:cubicBezTo>
                  <a:cubicBezTo>
                    <a:pt x="1668" y="104"/>
                    <a:pt x="1693" y="113"/>
                    <a:pt x="1716" y="123"/>
                  </a:cubicBezTo>
                  <a:cubicBezTo>
                    <a:pt x="1739" y="133"/>
                    <a:pt x="1761" y="143"/>
                    <a:pt x="1782" y="154"/>
                  </a:cubicBezTo>
                  <a:cubicBezTo>
                    <a:pt x="1803" y="164"/>
                    <a:pt x="1823" y="175"/>
                    <a:pt x="1841" y="187"/>
                  </a:cubicBezTo>
                  <a:cubicBezTo>
                    <a:pt x="1859" y="198"/>
                    <a:pt x="1876" y="210"/>
                    <a:pt x="1892" y="222"/>
                  </a:cubicBezTo>
                  <a:cubicBezTo>
                    <a:pt x="1907" y="234"/>
                    <a:pt x="1921" y="247"/>
                    <a:pt x="1934" y="260"/>
                  </a:cubicBezTo>
                  <a:cubicBezTo>
                    <a:pt x="1946" y="272"/>
                    <a:pt x="1957" y="285"/>
                    <a:pt x="1967" y="299"/>
                  </a:cubicBezTo>
                  <a:cubicBezTo>
                    <a:pt x="1976" y="312"/>
                    <a:pt x="1984" y="325"/>
                    <a:pt x="1991" y="339"/>
                  </a:cubicBezTo>
                  <a:cubicBezTo>
                    <a:pt x="1997" y="352"/>
                    <a:pt x="2002" y="366"/>
                    <a:pt x="2005" y="379"/>
                  </a:cubicBezTo>
                  <a:cubicBezTo>
                    <a:pt x="2009" y="393"/>
                    <a:pt x="2010" y="407"/>
                    <a:pt x="2010" y="421"/>
                  </a:cubicBezTo>
                  <a:lnTo>
                    <a:pt x="2010" y="425"/>
                  </a:lnTo>
                  <a:cubicBezTo>
                    <a:pt x="2010" y="439"/>
                    <a:pt x="2009" y="453"/>
                    <a:pt x="2005" y="466"/>
                  </a:cubicBezTo>
                  <a:cubicBezTo>
                    <a:pt x="2002" y="480"/>
                    <a:pt x="1997" y="494"/>
                    <a:pt x="1991" y="507"/>
                  </a:cubicBezTo>
                  <a:cubicBezTo>
                    <a:pt x="1984" y="521"/>
                    <a:pt x="1976" y="534"/>
                    <a:pt x="1967" y="547"/>
                  </a:cubicBezTo>
                  <a:cubicBezTo>
                    <a:pt x="1957" y="560"/>
                    <a:pt x="1946" y="573"/>
                    <a:pt x="1934" y="586"/>
                  </a:cubicBezTo>
                  <a:cubicBezTo>
                    <a:pt x="1921" y="599"/>
                    <a:pt x="1907" y="612"/>
                    <a:pt x="1892" y="624"/>
                  </a:cubicBezTo>
                  <a:cubicBezTo>
                    <a:pt x="1876" y="637"/>
                    <a:pt x="1859" y="648"/>
                    <a:pt x="1841" y="660"/>
                  </a:cubicBezTo>
                  <a:cubicBezTo>
                    <a:pt x="1823" y="671"/>
                    <a:pt x="1803" y="682"/>
                    <a:pt x="1782" y="693"/>
                  </a:cubicBezTo>
                  <a:cubicBezTo>
                    <a:pt x="1761" y="704"/>
                    <a:pt x="1739" y="714"/>
                    <a:pt x="1716" y="724"/>
                  </a:cubicBezTo>
                  <a:cubicBezTo>
                    <a:pt x="1693" y="733"/>
                    <a:pt x="1668" y="743"/>
                    <a:pt x="1643" y="751"/>
                  </a:cubicBezTo>
                  <a:cubicBezTo>
                    <a:pt x="1617" y="760"/>
                    <a:pt x="1591" y="768"/>
                    <a:pt x="1564" y="776"/>
                  </a:cubicBezTo>
                  <a:cubicBezTo>
                    <a:pt x="1536" y="784"/>
                    <a:pt x="1508" y="791"/>
                    <a:pt x="1479" y="797"/>
                  </a:cubicBezTo>
                  <a:cubicBezTo>
                    <a:pt x="1450" y="804"/>
                    <a:pt x="1420" y="810"/>
                    <a:pt x="1390" y="815"/>
                  </a:cubicBezTo>
                  <a:cubicBezTo>
                    <a:pt x="1360" y="820"/>
                    <a:pt x="1329" y="825"/>
                    <a:pt x="1297" y="829"/>
                  </a:cubicBezTo>
                  <a:cubicBezTo>
                    <a:pt x="1266" y="833"/>
                    <a:pt x="1234" y="836"/>
                    <a:pt x="1201" y="839"/>
                  </a:cubicBezTo>
                  <a:cubicBezTo>
                    <a:pt x="1168" y="842"/>
                    <a:pt x="1136" y="844"/>
                    <a:pt x="1103" y="845"/>
                  </a:cubicBezTo>
                  <a:cubicBezTo>
                    <a:pt x="1070" y="846"/>
                    <a:pt x="1037" y="847"/>
                    <a:pt x="1005" y="847"/>
                  </a:cubicBezTo>
                  <a:cubicBezTo>
                    <a:pt x="972" y="847"/>
                    <a:pt x="939" y="846"/>
                    <a:pt x="906" y="845"/>
                  </a:cubicBezTo>
                  <a:cubicBezTo>
                    <a:pt x="873" y="844"/>
                    <a:pt x="841" y="842"/>
                    <a:pt x="809" y="839"/>
                  </a:cubicBezTo>
                  <a:cubicBezTo>
                    <a:pt x="776" y="836"/>
                    <a:pt x="744" y="833"/>
                    <a:pt x="713" y="829"/>
                  </a:cubicBezTo>
                  <a:cubicBezTo>
                    <a:pt x="681" y="825"/>
                    <a:pt x="650" y="820"/>
                    <a:pt x="620" y="815"/>
                  </a:cubicBezTo>
                  <a:cubicBezTo>
                    <a:pt x="590" y="810"/>
                    <a:pt x="560" y="804"/>
                    <a:pt x="531" y="797"/>
                  </a:cubicBezTo>
                  <a:cubicBezTo>
                    <a:pt x="502" y="791"/>
                    <a:pt x="474" y="784"/>
                    <a:pt x="446" y="776"/>
                  </a:cubicBezTo>
                  <a:cubicBezTo>
                    <a:pt x="419" y="768"/>
                    <a:pt x="393" y="760"/>
                    <a:pt x="367" y="751"/>
                  </a:cubicBezTo>
                  <a:cubicBezTo>
                    <a:pt x="342" y="743"/>
                    <a:pt x="317" y="733"/>
                    <a:pt x="294" y="724"/>
                  </a:cubicBezTo>
                  <a:cubicBezTo>
                    <a:pt x="271" y="714"/>
                    <a:pt x="249" y="704"/>
                    <a:pt x="228" y="693"/>
                  </a:cubicBezTo>
                  <a:cubicBezTo>
                    <a:pt x="207" y="682"/>
                    <a:pt x="187" y="671"/>
                    <a:pt x="169" y="660"/>
                  </a:cubicBezTo>
                  <a:cubicBezTo>
                    <a:pt x="151" y="648"/>
                    <a:pt x="134" y="637"/>
                    <a:pt x="118" y="624"/>
                  </a:cubicBezTo>
                  <a:cubicBezTo>
                    <a:pt x="103" y="612"/>
                    <a:pt x="89" y="599"/>
                    <a:pt x="76" y="586"/>
                  </a:cubicBezTo>
                  <a:cubicBezTo>
                    <a:pt x="64" y="573"/>
                    <a:pt x="53" y="560"/>
                    <a:pt x="43" y="547"/>
                  </a:cubicBezTo>
                  <a:cubicBezTo>
                    <a:pt x="34" y="534"/>
                    <a:pt x="26" y="521"/>
                    <a:pt x="19" y="507"/>
                  </a:cubicBezTo>
                  <a:cubicBezTo>
                    <a:pt x="13" y="494"/>
                    <a:pt x="8" y="480"/>
                    <a:pt x="5" y="466"/>
                  </a:cubicBezTo>
                  <a:cubicBezTo>
                    <a:pt x="1" y="453"/>
                    <a:pt x="0" y="439"/>
                    <a:pt x="0" y="425"/>
                  </a:cubicBezTo>
                  <a:moveTo>
                    <a:pt x="79" y="425"/>
                  </a:moveTo>
                  <a:lnTo>
                    <a:pt x="79" y="421"/>
                  </a:lnTo>
                  <a:cubicBezTo>
                    <a:pt x="79" y="410"/>
                    <a:pt x="81" y="398"/>
                    <a:pt x="84" y="387"/>
                  </a:cubicBezTo>
                  <a:cubicBezTo>
                    <a:pt x="87" y="376"/>
                    <a:pt x="91" y="365"/>
                    <a:pt x="97" y="354"/>
                  </a:cubicBezTo>
                  <a:cubicBezTo>
                    <a:pt x="103" y="343"/>
                    <a:pt x="110" y="332"/>
                    <a:pt x="119" y="322"/>
                  </a:cubicBezTo>
                  <a:cubicBezTo>
                    <a:pt x="128" y="311"/>
                    <a:pt x="138" y="300"/>
                    <a:pt x="150" y="290"/>
                  </a:cubicBezTo>
                  <a:cubicBezTo>
                    <a:pt x="161" y="280"/>
                    <a:pt x="174" y="270"/>
                    <a:pt x="188" y="260"/>
                  </a:cubicBezTo>
                  <a:cubicBezTo>
                    <a:pt x="203" y="250"/>
                    <a:pt x="218" y="240"/>
                    <a:pt x="235" y="231"/>
                  </a:cubicBezTo>
                  <a:cubicBezTo>
                    <a:pt x="252" y="222"/>
                    <a:pt x="270" y="213"/>
                    <a:pt x="289" y="204"/>
                  </a:cubicBezTo>
                  <a:cubicBezTo>
                    <a:pt x="308" y="195"/>
                    <a:pt x="329" y="187"/>
                    <a:pt x="350" y="179"/>
                  </a:cubicBezTo>
                  <a:cubicBezTo>
                    <a:pt x="372" y="171"/>
                    <a:pt x="394" y="164"/>
                    <a:pt x="417" y="157"/>
                  </a:cubicBezTo>
                  <a:cubicBezTo>
                    <a:pt x="441" y="150"/>
                    <a:pt x="465" y="143"/>
                    <a:pt x="490" y="137"/>
                  </a:cubicBezTo>
                  <a:cubicBezTo>
                    <a:pt x="516" y="131"/>
                    <a:pt x="542" y="125"/>
                    <a:pt x="568" y="120"/>
                  </a:cubicBezTo>
                  <a:cubicBezTo>
                    <a:pt x="595" y="114"/>
                    <a:pt x="622" y="109"/>
                    <a:pt x="650" y="105"/>
                  </a:cubicBezTo>
                  <a:cubicBezTo>
                    <a:pt x="678" y="101"/>
                    <a:pt x="707" y="97"/>
                    <a:pt x="736" y="94"/>
                  </a:cubicBezTo>
                  <a:cubicBezTo>
                    <a:pt x="765" y="91"/>
                    <a:pt x="794" y="88"/>
                    <a:pt x="824" y="86"/>
                  </a:cubicBezTo>
                  <a:cubicBezTo>
                    <a:pt x="854" y="84"/>
                    <a:pt x="884" y="82"/>
                    <a:pt x="914" y="81"/>
                  </a:cubicBezTo>
                  <a:cubicBezTo>
                    <a:pt x="944" y="80"/>
                    <a:pt x="974" y="79"/>
                    <a:pt x="1005" y="79"/>
                  </a:cubicBezTo>
                  <a:cubicBezTo>
                    <a:pt x="1035" y="79"/>
                    <a:pt x="1065" y="80"/>
                    <a:pt x="1095" y="81"/>
                  </a:cubicBezTo>
                  <a:cubicBezTo>
                    <a:pt x="1125" y="82"/>
                    <a:pt x="1155" y="84"/>
                    <a:pt x="1185" y="86"/>
                  </a:cubicBezTo>
                  <a:cubicBezTo>
                    <a:pt x="1216" y="88"/>
                    <a:pt x="1245" y="91"/>
                    <a:pt x="1274" y="94"/>
                  </a:cubicBezTo>
                  <a:cubicBezTo>
                    <a:pt x="1303" y="97"/>
                    <a:pt x="1332" y="101"/>
                    <a:pt x="1360" y="105"/>
                  </a:cubicBezTo>
                  <a:cubicBezTo>
                    <a:pt x="1388" y="109"/>
                    <a:pt x="1415" y="114"/>
                    <a:pt x="1442" y="120"/>
                  </a:cubicBezTo>
                  <a:cubicBezTo>
                    <a:pt x="1468" y="125"/>
                    <a:pt x="1494" y="131"/>
                    <a:pt x="1520" y="137"/>
                  </a:cubicBezTo>
                  <a:cubicBezTo>
                    <a:pt x="1545" y="143"/>
                    <a:pt x="1569" y="150"/>
                    <a:pt x="1593" y="157"/>
                  </a:cubicBezTo>
                  <a:cubicBezTo>
                    <a:pt x="1616" y="164"/>
                    <a:pt x="1638" y="171"/>
                    <a:pt x="1660" y="179"/>
                  </a:cubicBezTo>
                  <a:cubicBezTo>
                    <a:pt x="1681" y="187"/>
                    <a:pt x="1702" y="195"/>
                    <a:pt x="1721" y="204"/>
                  </a:cubicBezTo>
                  <a:cubicBezTo>
                    <a:pt x="1740" y="213"/>
                    <a:pt x="1758" y="222"/>
                    <a:pt x="1775" y="231"/>
                  </a:cubicBezTo>
                  <a:cubicBezTo>
                    <a:pt x="1792" y="240"/>
                    <a:pt x="1807" y="250"/>
                    <a:pt x="1822" y="260"/>
                  </a:cubicBezTo>
                  <a:cubicBezTo>
                    <a:pt x="1836" y="270"/>
                    <a:pt x="1849" y="280"/>
                    <a:pt x="1860" y="290"/>
                  </a:cubicBezTo>
                  <a:cubicBezTo>
                    <a:pt x="1872" y="300"/>
                    <a:pt x="1882" y="311"/>
                    <a:pt x="1891" y="322"/>
                  </a:cubicBezTo>
                  <a:cubicBezTo>
                    <a:pt x="1900" y="332"/>
                    <a:pt x="1907" y="343"/>
                    <a:pt x="1913" y="354"/>
                  </a:cubicBezTo>
                  <a:cubicBezTo>
                    <a:pt x="1919" y="365"/>
                    <a:pt x="1923" y="376"/>
                    <a:pt x="1926" y="387"/>
                  </a:cubicBezTo>
                  <a:cubicBezTo>
                    <a:pt x="1929" y="398"/>
                    <a:pt x="1931" y="410"/>
                    <a:pt x="1931" y="421"/>
                  </a:cubicBezTo>
                  <a:lnTo>
                    <a:pt x="1931" y="425"/>
                  </a:lnTo>
                  <a:cubicBezTo>
                    <a:pt x="1931" y="436"/>
                    <a:pt x="1929" y="447"/>
                    <a:pt x="1926" y="459"/>
                  </a:cubicBezTo>
                  <a:cubicBezTo>
                    <a:pt x="1923" y="470"/>
                    <a:pt x="1919" y="481"/>
                    <a:pt x="1913" y="492"/>
                  </a:cubicBezTo>
                  <a:cubicBezTo>
                    <a:pt x="1907" y="503"/>
                    <a:pt x="1900" y="513"/>
                    <a:pt x="1891" y="524"/>
                  </a:cubicBezTo>
                  <a:cubicBezTo>
                    <a:pt x="1882" y="535"/>
                    <a:pt x="1872" y="545"/>
                    <a:pt x="1860" y="556"/>
                  </a:cubicBezTo>
                  <a:cubicBezTo>
                    <a:pt x="1849" y="566"/>
                    <a:pt x="1836" y="576"/>
                    <a:pt x="1822" y="586"/>
                  </a:cubicBezTo>
                  <a:cubicBezTo>
                    <a:pt x="1807" y="596"/>
                    <a:pt x="1792" y="606"/>
                    <a:pt x="1775" y="616"/>
                  </a:cubicBezTo>
                  <a:cubicBezTo>
                    <a:pt x="1758" y="625"/>
                    <a:pt x="1740" y="634"/>
                    <a:pt x="1721" y="643"/>
                  </a:cubicBezTo>
                  <a:cubicBezTo>
                    <a:pt x="1702" y="651"/>
                    <a:pt x="1681" y="660"/>
                    <a:pt x="1660" y="668"/>
                  </a:cubicBezTo>
                  <a:cubicBezTo>
                    <a:pt x="1638" y="675"/>
                    <a:pt x="1616" y="683"/>
                    <a:pt x="1593" y="690"/>
                  </a:cubicBezTo>
                  <a:cubicBezTo>
                    <a:pt x="1569" y="697"/>
                    <a:pt x="1545" y="704"/>
                    <a:pt x="1520" y="710"/>
                  </a:cubicBezTo>
                  <a:cubicBezTo>
                    <a:pt x="1494" y="716"/>
                    <a:pt x="1468" y="722"/>
                    <a:pt x="1442" y="727"/>
                  </a:cubicBezTo>
                  <a:cubicBezTo>
                    <a:pt x="1415" y="733"/>
                    <a:pt x="1388" y="737"/>
                    <a:pt x="1360" y="742"/>
                  </a:cubicBezTo>
                  <a:cubicBezTo>
                    <a:pt x="1332" y="746"/>
                    <a:pt x="1303" y="750"/>
                    <a:pt x="1274" y="753"/>
                  </a:cubicBezTo>
                  <a:cubicBezTo>
                    <a:pt x="1245" y="756"/>
                    <a:pt x="1216" y="759"/>
                    <a:pt x="1185" y="761"/>
                  </a:cubicBezTo>
                  <a:cubicBezTo>
                    <a:pt x="1155" y="763"/>
                    <a:pt x="1125" y="765"/>
                    <a:pt x="1095" y="766"/>
                  </a:cubicBezTo>
                  <a:cubicBezTo>
                    <a:pt x="1065" y="767"/>
                    <a:pt x="1035" y="768"/>
                    <a:pt x="1005" y="768"/>
                  </a:cubicBezTo>
                  <a:cubicBezTo>
                    <a:pt x="974" y="768"/>
                    <a:pt x="944" y="767"/>
                    <a:pt x="914" y="766"/>
                  </a:cubicBezTo>
                  <a:cubicBezTo>
                    <a:pt x="884" y="765"/>
                    <a:pt x="854" y="763"/>
                    <a:pt x="824" y="761"/>
                  </a:cubicBezTo>
                  <a:cubicBezTo>
                    <a:pt x="794" y="759"/>
                    <a:pt x="765" y="756"/>
                    <a:pt x="736" y="753"/>
                  </a:cubicBezTo>
                  <a:cubicBezTo>
                    <a:pt x="707" y="750"/>
                    <a:pt x="678" y="746"/>
                    <a:pt x="650" y="742"/>
                  </a:cubicBezTo>
                  <a:cubicBezTo>
                    <a:pt x="622" y="737"/>
                    <a:pt x="595" y="733"/>
                    <a:pt x="568" y="727"/>
                  </a:cubicBezTo>
                  <a:cubicBezTo>
                    <a:pt x="542" y="722"/>
                    <a:pt x="516" y="716"/>
                    <a:pt x="490" y="710"/>
                  </a:cubicBezTo>
                  <a:cubicBezTo>
                    <a:pt x="465" y="704"/>
                    <a:pt x="441" y="697"/>
                    <a:pt x="417" y="690"/>
                  </a:cubicBezTo>
                  <a:cubicBezTo>
                    <a:pt x="394" y="683"/>
                    <a:pt x="372" y="675"/>
                    <a:pt x="350" y="668"/>
                  </a:cubicBezTo>
                  <a:cubicBezTo>
                    <a:pt x="329" y="660"/>
                    <a:pt x="308" y="651"/>
                    <a:pt x="289" y="643"/>
                  </a:cubicBezTo>
                  <a:cubicBezTo>
                    <a:pt x="270" y="634"/>
                    <a:pt x="252" y="625"/>
                    <a:pt x="235" y="616"/>
                  </a:cubicBezTo>
                  <a:cubicBezTo>
                    <a:pt x="218" y="606"/>
                    <a:pt x="203" y="596"/>
                    <a:pt x="188" y="586"/>
                  </a:cubicBezTo>
                  <a:cubicBezTo>
                    <a:pt x="174" y="576"/>
                    <a:pt x="161" y="566"/>
                    <a:pt x="150" y="556"/>
                  </a:cubicBezTo>
                  <a:cubicBezTo>
                    <a:pt x="138" y="545"/>
                    <a:pt x="128" y="535"/>
                    <a:pt x="119" y="524"/>
                  </a:cubicBezTo>
                  <a:cubicBezTo>
                    <a:pt x="110" y="513"/>
                    <a:pt x="103" y="503"/>
                    <a:pt x="97" y="492"/>
                  </a:cubicBezTo>
                  <a:cubicBezTo>
                    <a:pt x="91" y="481"/>
                    <a:pt x="87" y="470"/>
                    <a:pt x="84" y="459"/>
                  </a:cubicBezTo>
                  <a:cubicBezTo>
                    <a:pt x="81" y="447"/>
                    <a:pt x="79" y="436"/>
                    <a:pt x="79" y="425"/>
                  </a:cubicBezTo>
                  <a:close/>
                </a:path>
              </a:pathLst>
            </a:custGeom>
            <a:solidFill>
              <a:srgbClr val="1111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4505400" y="4584240"/>
              <a:ext cx="505080" cy="1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050" b="0" u="none" strike="noStrike">
                  <a:solidFill>
                    <a:srgbClr val="111111"/>
                  </a:solidFill>
                  <a:effectLst/>
                  <a:uFillTx/>
                  <a:latin typeface="SpaceGrotesk"/>
                  <a:ea typeface="SpaceGrotesk"/>
                </a:rPr>
                <a:t>apellido</a:t>
              </a:r>
              <a:endParaRPr lang="en-GB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0" name=""/>
          <p:cNvSpPr/>
          <p:nvPr/>
        </p:nvSpPr>
        <p:spPr>
          <a:xfrm>
            <a:off x="5577840" y="3897000"/>
            <a:ext cx="14335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fecha_nacimiento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7600680" y="3897000"/>
            <a:ext cx="3985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edad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540000" y="5484600"/>
            <a:ext cx="918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Notación clásica de Chen (1976) — la más usada en libros de texto y exámenes escritos.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 flipV="1">
            <a:off x="3857400" y="4308840"/>
            <a:ext cx="360000" cy="23940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59400" rIns="104400" bIns="594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 flipH="1" flipV="1">
            <a:off x="4217400" y="4309200"/>
            <a:ext cx="540000" cy="21564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59400" rIns="104400" bIns="594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8681400" y="3871080"/>
            <a:ext cx="1151640" cy="35964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telefonos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8537400" y="3799080"/>
            <a:ext cx="1439640" cy="539640"/>
          </a:xfrm>
          <a:prstGeom prst="ellipse">
            <a:avLst/>
          </a:prstGeom>
          <a:noFill/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8820000" y="2340000"/>
            <a:ext cx="899640" cy="35964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email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4680000" y="2160000"/>
            <a:ext cx="2519640" cy="53964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SpaceGrotesk"/>
                <a:ea typeface="DejaVu Sans"/>
              </a:rPr>
              <a:t>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 flipV="1">
            <a:off x="2520000" y="2520000"/>
            <a:ext cx="2160000" cy="127908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 flipV="1">
            <a:off x="4320000" y="2700000"/>
            <a:ext cx="1080000" cy="108000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 flipH="1" flipV="1">
            <a:off x="6120000" y="2700000"/>
            <a:ext cx="180000" cy="108000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360" rIns="9000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 flipH="1" flipV="1">
            <a:off x="6840000" y="2700000"/>
            <a:ext cx="900000" cy="110484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 flipH="1" flipV="1">
            <a:off x="7200000" y="2520000"/>
            <a:ext cx="1800000" cy="127908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 flipH="1" flipV="1">
            <a:off x="7200000" y="2340000"/>
            <a:ext cx="1620000" cy="18000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56640" y="1458720"/>
            <a:ext cx="10868040" cy="50328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30193" h="1402">
                <a:moveTo>
                  <a:pt x="0" y="0"/>
                </a:moveTo>
                <a:lnTo>
                  <a:pt x="30193" y="0"/>
                </a:lnTo>
                <a:lnTo>
                  <a:pt x="30193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656640" y="1963080"/>
            <a:ext cx="10868040" cy="49392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30193" h="1376">
                <a:moveTo>
                  <a:pt x="0" y="0"/>
                </a:moveTo>
                <a:lnTo>
                  <a:pt x="30193" y="0"/>
                </a:lnTo>
                <a:lnTo>
                  <a:pt x="3019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56640" y="2458080"/>
            <a:ext cx="10868040" cy="49392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30193" h="1376">
                <a:moveTo>
                  <a:pt x="0" y="0"/>
                </a:moveTo>
                <a:lnTo>
                  <a:pt x="30193" y="0"/>
                </a:lnTo>
                <a:lnTo>
                  <a:pt x="3019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56640" y="2953080"/>
            <a:ext cx="10868040" cy="49356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493560"/>
              <a:gd name="textAreaBottom" fmla="*/ 495000 h 493560"/>
            </a:gdLst>
            <a:ahLst/>
            <a:cxnLst/>
            <a:rect l="textAreaLeft" t="textAreaTop" r="textAreaRight" b="textAreaBottom"/>
            <a:pathLst>
              <a:path w="30193" h="1375">
                <a:moveTo>
                  <a:pt x="0" y="0"/>
                </a:moveTo>
                <a:lnTo>
                  <a:pt x="30193" y="0"/>
                </a:lnTo>
                <a:lnTo>
                  <a:pt x="30193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56640" y="3447720"/>
            <a:ext cx="10868040" cy="49392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30193" h="1376">
                <a:moveTo>
                  <a:pt x="0" y="0"/>
                </a:moveTo>
                <a:lnTo>
                  <a:pt x="30193" y="0"/>
                </a:lnTo>
                <a:lnTo>
                  <a:pt x="3019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656640" y="3942720"/>
            <a:ext cx="10868040" cy="50328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30193" h="1402">
                <a:moveTo>
                  <a:pt x="0" y="0"/>
                </a:moveTo>
                <a:lnTo>
                  <a:pt x="30193" y="0"/>
                </a:lnTo>
                <a:lnTo>
                  <a:pt x="30193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56640" y="4447080"/>
            <a:ext cx="10868040" cy="49392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30193" h="1376">
                <a:moveTo>
                  <a:pt x="0" y="0"/>
                </a:moveTo>
                <a:lnTo>
                  <a:pt x="30193" y="0"/>
                </a:lnTo>
                <a:lnTo>
                  <a:pt x="3019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56640" y="4942080"/>
            <a:ext cx="10868040" cy="493920"/>
          </a:xfrm>
          <a:custGeom>
            <a:avLst/>
            <a:gdLst>
              <a:gd name="textAreaLeft" fmla="*/ 0 w 10868040"/>
              <a:gd name="textAreaRight" fmla="*/ 10869480 w 1086804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30193" h="1376">
                <a:moveTo>
                  <a:pt x="0" y="0"/>
                </a:moveTo>
                <a:lnTo>
                  <a:pt x="30193" y="0"/>
                </a:lnTo>
                <a:lnTo>
                  <a:pt x="3019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3756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37560" y="1449000"/>
            <a:ext cx="10906200" cy="2772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30299" h="81">
                <a:moveTo>
                  <a:pt x="0" y="0"/>
                </a:moveTo>
                <a:lnTo>
                  <a:pt x="30299" y="0"/>
                </a:lnTo>
                <a:lnTo>
                  <a:pt x="30299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151640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37560" y="1944000"/>
            <a:ext cx="10906200" cy="273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30299" h="80">
                <a:moveTo>
                  <a:pt x="0" y="0"/>
                </a:moveTo>
                <a:lnTo>
                  <a:pt x="30299" y="0"/>
                </a:lnTo>
                <a:lnTo>
                  <a:pt x="302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37560" y="197244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1516400" y="197244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637560" y="2467440"/>
            <a:ext cx="27360" cy="503280"/>
          </a:xfrm>
          <a:custGeom>
            <a:avLst/>
            <a:gdLst>
              <a:gd name="textAreaLeft" fmla="*/ 0 w 27360"/>
              <a:gd name="textAreaRight" fmla="*/ 28800 w 2736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80" h="1402">
                <a:moveTo>
                  <a:pt x="0" y="0"/>
                </a:moveTo>
                <a:lnTo>
                  <a:pt x="80" y="0"/>
                </a:lnTo>
                <a:lnTo>
                  <a:pt x="80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37560" y="2439000"/>
            <a:ext cx="10906200" cy="273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30299" h="80">
                <a:moveTo>
                  <a:pt x="0" y="0"/>
                </a:moveTo>
                <a:lnTo>
                  <a:pt x="30299" y="0"/>
                </a:lnTo>
                <a:lnTo>
                  <a:pt x="302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1516400" y="2467440"/>
            <a:ext cx="27360" cy="503280"/>
          </a:xfrm>
          <a:custGeom>
            <a:avLst/>
            <a:gdLst>
              <a:gd name="textAreaLeft" fmla="*/ 0 w 27360"/>
              <a:gd name="textAreaRight" fmla="*/ 28800 w 2736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80" h="1402">
                <a:moveTo>
                  <a:pt x="0" y="0"/>
                </a:moveTo>
                <a:lnTo>
                  <a:pt x="80" y="0"/>
                </a:lnTo>
                <a:lnTo>
                  <a:pt x="80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37560" y="2971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637560" y="2943360"/>
            <a:ext cx="10906200" cy="273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30299" h="80">
                <a:moveTo>
                  <a:pt x="0" y="0"/>
                </a:moveTo>
                <a:lnTo>
                  <a:pt x="30299" y="0"/>
                </a:lnTo>
                <a:lnTo>
                  <a:pt x="302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11516400" y="2971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637560" y="3466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37560" y="3438360"/>
            <a:ext cx="10906200" cy="273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30299" h="80">
                <a:moveTo>
                  <a:pt x="0" y="0"/>
                </a:moveTo>
                <a:lnTo>
                  <a:pt x="30299" y="0"/>
                </a:lnTo>
                <a:lnTo>
                  <a:pt x="302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1516400" y="3466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37560" y="3961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637560" y="3933360"/>
            <a:ext cx="10906200" cy="273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30299" h="80">
                <a:moveTo>
                  <a:pt x="0" y="0"/>
                </a:moveTo>
                <a:lnTo>
                  <a:pt x="30299" y="0"/>
                </a:lnTo>
                <a:lnTo>
                  <a:pt x="302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1516400" y="3961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637560" y="4456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37560" y="4428360"/>
            <a:ext cx="10906200" cy="273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30299" h="80">
                <a:moveTo>
                  <a:pt x="0" y="0"/>
                </a:moveTo>
                <a:lnTo>
                  <a:pt x="30299" y="0"/>
                </a:lnTo>
                <a:lnTo>
                  <a:pt x="302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1516400" y="4456800"/>
            <a:ext cx="27360" cy="493920"/>
          </a:xfrm>
          <a:custGeom>
            <a:avLst/>
            <a:gdLst>
              <a:gd name="textAreaLeft" fmla="*/ 0 w 27360"/>
              <a:gd name="textAreaRight" fmla="*/ 28800 w 27360"/>
              <a:gd name="textAreaTop" fmla="*/ 0 h 493920"/>
              <a:gd name="textAreaBottom" fmla="*/ 495360 h 493920"/>
            </a:gdLst>
            <a:ahLst/>
            <a:cxnLst/>
            <a:rect l="textAreaLeft" t="textAreaTop" r="textAreaRight" b="textAreaBottom"/>
            <a:pathLst>
              <a:path w="80" h="1376">
                <a:moveTo>
                  <a:pt x="0" y="0"/>
                </a:moveTo>
                <a:lnTo>
                  <a:pt x="80" y="0"/>
                </a:lnTo>
                <a:lnTo>
                  <a:pt x="8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37560" y="4951800"/>
            <a:ext cx="27360" cy="493560"/>
          </a:xfrm>
          <a:custGeom>
            <a:avLst/>
            <a:gdLst>
              <a:gd name="textAreaLeft" fmla="*/ 0 w 27360"/>
              <a:gd name="textAreaRight" fmla="*/ 28800 w 27360"/>
              <a:gd name="textAreaTop" fmla="*/ 0 h 493560"/>
              <a:gd name="textAreaBottom" fmla="*/ 495000 h 493560"/>
            </a:gdLst>
            <a:ahLst/>
            <a:cxnLst/>
            <a:rect l="textAreaLeft" t="textAreaTop" r="textAreaRight" b="textAreaBottom"/>
            <a:pathLst>
              <a:path w="80" h="1375">
                <a:moveTo>
                  <a:pt x="0" y="0"/>
                </a:moveTo>
                <a:lnTo>
                  <a:pt x="80" y="0"/>
                </a:lnTo>
                <a:lnTo>
                  <a:pt x="80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637560" y="4923000"/>
            <a:ext cx="10906200" cy="2772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30299" h="81">
                <a:moveTo>
                  <a:pt x="0" y="0"/>
                </a:moveTo>
                <a:lnTo>
                  <a:pt x="30299" y="0"/>
                </a:lnTo>
                <a:lnTo>
                  <a:pt x="30299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1516400" y="4951800"/>
            <a:ext cx="27360" cy="493560"/>
          </a:xfrm>
          <a:custGeom>
            <a:avLst/>
            <a:gdLst>
              <a:gd name="textAreaLeft" fmla="*/ 0 w 27360"/>
              <a:gd name="textAreaRight" fmla="*/ 28800 w 27360"/>
              <a:gd name="textAreaTop" fmla="*/ 0 h 493560"/>
              <a:gd name="textAreaBottom" fmla="*/ 495000 h 493560"/>
            </a:gdLst>
            <a:ahLst/>
            <a:cxnLst/>
            <a:rect l="textAreaLeft" t="textAreaTop" r="textAreaRight" b="textAreaBottom"/>
            <a:pathLst>
              <a:path w="80" h="1375">
                <a:moveTo>
                  <a:pt x="0" y="0"/>
                </a:moveTo>
                <a:lnTo>
                  <a:pt x="80" y="0"/>
                </a:lnTo>
                <a:lnTo>
                  <a:pt x="80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37560" y="5418000"/>
            <a:ext cx="10906200" cy="2736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30299" h="80">
                <a:moveTo>
                  <a:pt x="0" y="0"/>
                </a:moveTo>
                <a:lnTo>
                  <a:pt x="30299" y="0"/>
                </a:lnTo>
                <a:lnTo>
                  <a:pt x="302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39360" y="650880"/>
            <a:ext cx="765108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NOTACIÓN DE PATA DE GALLO / IE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804960" y="1557720"/>
            <a:ext cx="1323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804960" y="2062080"/>
            <a:ext cx="2378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id_estudiante (clave)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804960" y="2557080"/>
            <a:ext cx="84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nombre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804960" y="3052080"/>
            <a:ext cx="874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apellido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804960" y="3546720"/>
            <a:ext cx="2022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fecha_nacimiento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804960" y="4041720"/>
            <a:ext cx="557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edad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804960" y="4536720"/>
            <a:ext cx="1071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telefonos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804960" y="5041080"/>
            <a:ext cx="577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email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90840" y="5668920"/>
            <a:ext cx="112896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Notación de pata de gallo / IE — más compacta, la que usan las herramientas CASE modernas (dbdiagram.io)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690840" y="5964120"/>
            <a:ext cx="14194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y la industria.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0320" cy="6856560"/>
          </a:xfrm>
          <a:custGeom>
            <a:avLst/>
            <a:gdLst>
              <a:gd name="textAreaLeft" fmla="*/ 0 w 12190320"/>
              <a:gd name="textAreaRight" fmla="*/ 12191760 w 12190320"/>
              <a:gd name="textAreaTop" fmla="*/ 0 h 6856560"/>
              <a:gd name="textAreaBottom" fmla="*/ 6858000 h 685656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2520"/>
            <a:ext cx="12181320" cy="6851520"/>
          </a:xfrm>
          <a:custGeom>
            <a:avLst/>
            <a:gdLst>
              <a:gd name="textAreaLeft" fmla="*/ 0 w 12181320"/>
              <a:gd name="textAreaRight" fmla="*/ 12182760 w 12181320"/>
              <a:gd name="textAreaTop" fmla="*/ 0 h 6851520"/>
              <a:gd name="textAreaBottom" fmla="*/ 6852960 h 685152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637560" y="1201680"/>
            <a:ext cx="10906200" cy="46440"/>
          </a:xfrm>
          <a:custGeom>
            <a:avLst/>
            <a:gdLst>
              <a:gd name="textAreaLeft" fmla="*/ 0 w 10906200"/>
              <a:gd name="textAreaRight" fmla="*/ 10907640 w 10906200"/>
              <a:gd name="textAreaTop" fmla="*/ 0 h 46440"/>
              <a:gd name="textAreaBottom" fmla="*/ 47880 h 4644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656640" y="1458720"/>
            <a:ext cx="1749960" cy="503280"/>
          </a:xfrm>
          <a:custGeom>
            <a:avLst/>
            <a:gdLst>
              <a:gd name="textAreaLeft" fmla="*/ 0 w 1749960"/>
              <a:gd name="textAreaRight" fmla="*/ 1751400 w 174996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4865" h="1402">
                <a:moveTo>
                  <a:pt x="0" y="0"/>
                </a:moveTo>
                <a:lnTo>
                  <a:pt x="4865" y="0"/>
                </a:lnTo>
                <a:lnTo>
                  <a:pt x="4865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407680" y="1458720"/>
            <a:ext cx="3939480" cy="503280"/>
          </a:xfrm>
          <a:custGeom>
            <a:avLst/>
            <a:gdLst>
              <a:gd name="textAreaLeft" fmla="*/ 0 w 3939480"/>
              <a:gd name="textAreaRight" fmla="*/ 3940920 w 393948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10947" h="1402">
                <a:moveTo>
                  <a:pt x="0" y="0"/>
                </a:moveTo>
                <a:lnTo>
                  <a:pt x="10947" y="0"/>
                </a:lnTo>
                <a:lnTo>
                  <a:pt x="10947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348240" y="1458720"/>
            <a:ext cx="5176440" cy="503280"/>
          </a:xfrm>
          <a:custGeom>
            <a:avLst/>
            <a:gdLst>
              <a:gd name="textAreaLeft" fmla="*/ 0 w 5176440"/>
              <a:gd name="textAreaRight" fmla="*/ 5177880 w 5176440"/>
              <a:gd name="textAreaTop" fmla="*/ 0 h 503280"/>
              <a:gd name="textAreaBottom" fmla="*/ 504720 h 503280"/>
            </a:gdLst>
            <a:ahLst/>
            <a:cxnLst/>
            <a:rect l="textAreaLeft" t="textAreaTop" r="textAreaRight" b="textAreaBottom"/>
            <a:pathLst>
              <a:path w="14383" h="1402">
                <a:moveTo>
                  <a:pt x="0" y="0"/>
                </a:moveTo>
                <a:lnTo>
                  <a:pt x="14383" y="0"/>
                </a:lnTo>
                <a:lnTo>
                  <a:pt x="14383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56640" y="1963080"/>
            <a:ext cx="1749960" cy="798480"/>
          </a:xfrm>
          <a:custGeom>
            <a:avLst/>
            <a:gdLst>
              <a:gd name="textAreaLeft" fmla="*/ 0 w 1749960"/>
              <a:gd name="textAreaRight" fmla="*/ 1751400 w 174996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4865" h="2222">
                <a:moveTo>
                  <a:pt x="0" y="0"/>
                </a:moveTo>
                <a:lnTo>
                  <a:pt x="4865" y="0"/>
                </a:lnTo>
                <a:lnTo>
                  <a:pt x="4865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407680" y="1963080"/>
            <a:ext cx="3939480" cy="798480"/>
          </a:xfrm>
          <a:custGeom>
            <a:avLst/>
            <a:gdLst>
              <a:gd name="textAreaLeft" fmla="*/ 0 w 3939480"/>
              <a:gd name="textAreaRight" fmla="*/ 3940920 w 393948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10947" h="2222">
                <a:moveTo>
                  <a:pt x="0" y="0"/>
                </a:moveTo>
                <a:lnTo>
                  <a:pt x="10947" y="0"/>
                </a:lnTo>
                <a:lnTo>
                  <a:pt x="10947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6348240" y="1963080"/>
            <a:ext cx="5176440" cy="798480"/>
          </a:xfrm>
          <a:custGeom>
            <a:avLst/>
            <a:gdLst>
              <a:gd name="textAreaLeft" fmla="*/ 0 w 5176440"/>
              <a:gd name="textAreaRight" fmla="*/ 5177880 w 517644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14383" h="2222">
                <a:moveTo>
                  <a:pt x="0" y="0"/>
                </a:moveTo>
                <a:lnTo>
                  <a:pt x="14383" y="0"/>
                </a:lnTo>
                <a:lnTo>
                  <a:pt x="14383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56640" y="2762640"/>
            <a:ext cx="1749960" cy="807840"/>
          </a:xfrm>
          <a:custGeom>
            <a:avLst/>
            <a:gdLst>
              <a:gd name="textAreaLeft" fmla="*/ 0 w 1749960"/>
              <a:gd name="textAreaRight" fmla="*/ 1751400 w 1749960"/>
              <a:gd name="textAreaTop" fmla="*/ 0 h 807840"/>
              <a:gd name="textAreaBottom" fmla="*/ 809280 h 807840"/>
            </a:gdLst>
            <a:ahLst/>
            <a:cxnLst/>
            <a:rect l="textAreaLeft" t="textAreaTop" r="textAreaRight" b="textAreaBottom"/>
            <a:pathLst>
              <a:path w="4865" h="2248">
                <a:moveTo>
                  <a:pt x="0" y="0"/>
                </a:moveTo>
                <a:lnTo>
                  <a:pt x="4865" y="0"/>
                </a:lnTo>
                <a:lnTo>
                  <a:pt x="4865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407680" y="2762640"/>
            <a:ext cx="3939480" cy="807840"/>
          </a:xfrm>
          <a:custGeom>
            <a:avLst/>
            <a:gdLst>
              <a:gd name="textAreaLeft" fmla="*/ 0 w 3939480"/>
              <a:gd name="textAreaRight" fmla="*/ 3940920 w 3939480"/>
              <a:gd name="textAreaTop" fmla="*/ 0 h 807840"/>
              <a:gd name="textAreaBottom" fmla="*/ 809280 h 807840"/>
            </a:gdLst>
            <a:ahLst/>
            <a:cxnLst/>
            <a:rect l="textAreaLeft" t="textAreaTop" r="textAreaRight" b="textAreaBottom"/>
            <a:pathLst>
              <a:path w="10947" h="2248">
                <a:moveTo>
                  <a:pt x="0" y="0"/>
                </a:moveTo>
                <a:lnTo>
                  <a:pt x="10947" y="0"/>
                </a:lnTo>
                <a:lnTo>
                  <a:pt x="10947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6348240" y="2762640"/>
            <a:ext cx="5176440" cy="807840"/>
          </a:xfrm>
          <a:custGeom>
            <a:avLst/>
            <a:gdLst>
              <a:gd name="textAreaLeft" fmla="*/ 0 w 5176440"/>
              <a:gd name="textAreaRight" fmla="*/ 5177880 w 5176440"/>
              <a:gd name="textAreaTop" fmla="*/ 0 h 807840"/>
              <a:gd name="textAreaBottom" fmla="*/ 809280 h 807840"/>
            </a:gdLst>
            <a:ahLst/>
            <a:cxnLst/>
            <a:rect l="textAreaLeft" t="textAreaTop" r="textAreaRight" b="textAreaBottom"/>
            <a:pathLst>
              <a:path w="14383" h="2248">
                <a:moveTo>
                  <a:pt x="0" y="0"/>
                </a:moveTo>
                <a:lnTo>
                  <a:pt x="14383" y="0"/>
                </a:lnTo>
                <a:lnTo>
                  <a:pt x="14383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56640" y="3571560"/>
            <a:ext cx="1749960" cy="798480"/>
          </a:xfrm>
          <a:custGeom>
            <a:avLst/>
            <a:gdLst>
              <a:gd name="textAreaLeft" fmla="*/ 0 w 1749960"/>
              <a:gd name="textAreaRight" fmla="*/ 1751400 w 174996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4865" h="2222">
                <a:moveTo>
                  <a:pt x="0" y="0"/>
                </a:moveTo>
                <a:lnTo>
                  <a:pt x="4865" y="0"/>
                </a:lnTo>
                <a:lnTo>
                  <a:pt x="4865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407680" y="3571560"/>
            <a:ext cx="3939480" cy="798480"/>
          </a:xfrm>
          <a:custGeom>
            <a:avLst/>
            <a:gdLst>
              <a:gd name="textAreaLeft" fmla="*/ 0 w 3939480"/>
              <a:gd name="textAreaRight" fmla="*/ 3940920 w 393948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10947" h="2222">
                <a:moveTo>
                  <a:pt x="0" y="0"/>
                </a:moveTo>
                <a:lnTo>
                  <a:pt x="10947" y="0"/>
                </a:lnTo>
                <a:lnTo>
                  <a:pt x="10947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348240" y="3571560"/>
            <a:ext cx="5176440" cy="798480"/>
          </a:xfrm>
          <a:custGeom>
            <a:avLst/>
            <a:gdLst>
              <a:gd name="textAreaLeft" fmla="*/ 0 w 5176440"/>
              <a:gd name="textAreaRight" fmla="*/ 5177880 w 517644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14383" h="2222">
                <a:moveTo>
                  <a:pt x="0" y="0"/>
                </a:moveTo>
                <a:lnTo>
                  <a:pt x="14383" y="0"/>
                </a:lnTo>
                <a:lnTo>
                  <a:pt x="14383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3756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637560" y="1449000"/>
            <a:ext cx="1788120" cy="27720"/>
          </a:xfrm>
          <a:custGeom>
            <a:avLst/>
            <a:gdLst>
              <a:gd name="textAreaLeft" fmla="*/ 0 w 1788120"/>
              <a:gd name="textAreaRight" fmla="*/ 1789560 w 178812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4971" h="81">
                <a:moveTo>
                  <a:pt x="0" y="0"/>
                </a:moveTo>
                <a:lnTo>
                  <a:pt x="4971" y="0"/>
                </a:lnTo>
                <a:lnTo>
                  <a:pt x="4971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39832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426760" y="1449000"/>
            <a:ext cx="3929760" cy="27720"/>
          </a:xfrm>
          <a:custGeom>
            <a:avLst/>
            <a:gdLst>
              <a:gd name="textAreaLeft" fmla="*/ 0 w 3929760"/>
              <a:gd name="textAreaRight" fmla="*/ 3931200 w 39297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0920" h="81">
                <a:moveTo>
                  <a:pt x="0" y="0"/>
                </a:moveTo>
                <a:lnTo>
                  <a:pt x="10920" y="0"/>
                </a:lnTo>
                <a:lnTo>
                  <a:pt x="1092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32916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357600" y="1449000"/>
            <a:ext cx="5186160" cy="27720"/>
          </a:xfrm>
          <a:custGeom>
            <a:avLst/>
            <a:gdLst>
              <a:gd name="textAreaLeft" fmla="*/ 0 w 5186160"/>
              <a:gd name="textAreaRight" fmla="*/ 5187600 w 51861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4410" h="81">
                <a:moveTo>
                  <a:pt x="0" y="0"/>
                </a:moveTo>
                <a:lnTo>
                  <a:pt x="14410" y="0"/>
                </a:lnTo>
                <a:lnTo>
                  <a:pt x="1441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1516400" y="1449000"/>
            <a:ext cx="27360" cy="522360"/>
          </a:xfrm>
          <a:custGeom>
            <a:avLst/>
            <a:gdLst>
              <a:gd name="textAreaLeft" fmla="*/ 0 w 27360"/>
              <a:gd name="textAreaRight" fmla="*/ 28800 w 27360"/>
              <a:gd name="textAreaTop" fmla="*/ 0 h 522360"/>
              <a:gd name="textAreaBottom" fmla="*/ 523800 h 52236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637560" y="1944000"/>
            <a:ext cx="1788120" cy="27360"/>
          </a:xfrm>
          <a:custGeom>
            <a:avLst/>
            <a:gdLst>
              <a:gd name="textAreaLeft" fmla="*/ 0 w 1788120"/>
              <a:gd name="textAreaRight" fmla="*/ 1789560 w 178812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4971" h="80">
                <a:moveTo>
                  <a:pt x="0" y="0"/>
                </a:moveTo>
                <a:lnTo>
                  <a:pt x="4971" y="0"/>
                </a:lnTo>
                <a:lnTo>
                  <a:pt x="4971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2426760" y="1944000"/>
            <a:ext cx="3929760" cy="27360"/>
          </a:xfrm>
          <a:custGeom>
            <a:avLst/>
            <a:gdLst>
              <a:gd name="textAreaLeft" fmla="*/ 0 w 3929760"/>
              <a:gd name="textAreaRight" fmla="*/ 3931200 w 392976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0920" h="80">
                <a:moveTo>
                  <a:pt x="0" y="0"/>
                </a:moveTo>
                <a:lnTo>
                  <a:pt x="10920" y="0"/>
                </a:lnTo>
                <a:lnTo>
                  <a:pt x="1092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357600" y="1944000"/>
            <a:ext cx="5186160" cy="27360"/>
          </a:xfrm>
          <a:custGeom>
            <a:avLst/>
            <a:gdLst>
              <a:gd name="textAreaLeft" fmla="*/ 0 w 5186160"/>
              <a:gd name="textAreaRight" fmla="*/ 5187600 w 5186160"/>
              <a:gd name="textAreaTop" fmla="*/ 0 h 27360"/>
              <a:gd name="textAreaBottom" fmla="*/ 28800 h 27360"/>
            </a:gdLst>
            <a:ahLst/>
            <a:cxnLst/>
            <a:rect l="textAreaLeft" t="textAreaTop" r="textAreaRight" b="textAreaBottom"/>
            <a:pathLst>
              <a:path w="14410" h="80">
                <a:moveTo>
                  <a:pt x="0" y="0"/>
                </a:moveTo>
                <a:lnTo>
                  <a:pt x="14410" y="0"/>
                </a:lnTo>
                <a:lnTo>
                  <a:pt x="1441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37560" y="1972440"/>
            <a:ext cx="27360" cy="808200"/>
          </a:xfrm>
          <a:custGeom>
            <a:avLst/>
            <a:gdLst>
              <a:gd name="textAreaLeft" fmla="*/ 0 w 27360"/>
              <a:gd name="textAreaRight" fmla="*/ 28800 w 27360"/>
              <a:gd name="textAreaTop" fmla="*/ 0 h 808200"/>
              <a:gd name="textAreaBottom" fmla="*/ 809640 h 80820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398320" y="1972440"/>
            <a:ext cx="27360" cy="808200"/>
          </a:xfrm>
          <a:custGeom>
            <a:avLst/>
            <a:gdLst>
              <a:gd name="textAreaLeft" fmla="*/ 0 w 27360"/>
              <a:gd name="textAreaRight" fmla="*/ 28800 w 27360"/>
              <a:gd name="textAreaTop" fmla="*/ 0 h 808200"/>
              <a:gd name="textAreaBottom" fmla="*/ 809640 h 80820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6329160" y="1972440"/>
            <a:ext cx="27360" cy="808200"/>
          </a:xfrm>
          <a:custGeom>
            <a:avLst/>
            <a:gdLst>
              <a:gd name="textAreaLeft" fmla="*/ 0 w 27360"/>
              <a:gd name="textAreaRight" fmla="*/ 28800 w 27360"/>
              <a:gd name="textAreaTop" fmla="*/ 0 h 808200"/>
              <a:gd name="textAreaBottom" fmla="*/ 809640 h 80820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1516400" y="1972440"/>
            <a:ext cx="27360" cy="808200"/>
          </a:xfrm>
          <a:custGeom>
            <a:avLst/>
            <a:gdLst>
              <a:gd name="textAreaLeft" fmla="*/ 0 w 27360"/>
              <a:gd name="textAreaRight" fmla="*/ 28800 w 27360"/>
              <a:gd name="textAreaTop" fmla="*/ 0 h 808200"/>
              <a:gd name="textAreaBottom" fmla="*/ 809640 h 80820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37560" y="2781720"/>
            <a:ext cx="27360" cy="798480"/>
          </a:xfrm>
          <a:custGeom>
            <a:avLst/>
            <a:gdLst>
              <a:gd name="textAreaLeft" fmla="*/ 0 w 27360"/>
              <a:gd name="textAreaRight" fmla="*/ 28800 w 2736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37560" y="2752920"/>
            <a:ext cx="1788120" cy="27720"/>
          </a:xfrm>
          <a:custGeom>
            <a:avLst/>
            <a:gdLst>
              <a:gd name="textAreaLeft" fmla="*/ 0 w 1788120"/>
              <a:gd name="textAreaRight" fmla="*/ 1789560 w 178812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4971" h="81">
                <a:moveTo>
                  <a:pt x="0" y="0"/>
                </a:moveTo>
                <a:lnTo>
                  <a:pt x="4971" y="0"/>
                </a:lnTo>
                <a:lnTo>
                  <a:pt x="4971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398320" y="2781720"/>
            <a:ext cx="27360" cy="798480"/>
          </a:xfrm>
          <a:custGeom>
            <a:avLst/>
            <a:gdLst>
              <a:gd name="textAreaLeft" fmla="*/ 0 w 27360"/>
              <a:gd name="textAreaRight" fmla="*/ 28800 w 2736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426760" y="2752920"/>
            <a:ext cx="3929760" cy="27720"/>
          </a:xfrm>
          <a:custGeom>
            <a:avLst/>
            <a:gdLst>
              <a:gd name="textAreaLeft" fmla="*/ 0 w 3929760"/>
              <a:gd name="textAreaRight" fmla="*/ 3931200 w 39297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0920" h="81">
                <a:moveTo>
                  <a:pt x="0" y="0"/>
                </a:moveTo>
                <a:lnTo>
                  <a:pt x="10920" y="0"/>
                </a:lnTo>
                <a:lnTo>
                  <a:pt x="1092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6329160" y="2781720"/>
            <a:ext cx="27360" cy="798480"/>
          </a:xfrm>
          <a:custGeom>
            <a:avLst/>
            <a:gdLst>
              <a:gd name="textAreaLeft" fmla="*/ 0 w 27360"/>
              <a:gd name="textAreaRight" fmla="*/ 28800 w 2736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6357600" y="2752920"/>
            <a:ext cx="5186160" cy="27720"/>
          </a:xfrm>
          <a:custGeom>
            <a:avLst/>
            <a:gdLst>
              <a:gd name="textAreaLeft" fmla="*/ 0 w 5186160"/>
              <a:gd name="textAreaRight" fmla="*/ 5187600 w 51861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4410" h="81">
                <a:moveTo>
                  <a:pt x="0" y="0"/>
                </a:moveTo>
                <a:lnTo>
                  <a:pt x="14410" y="0"/>
                </a:lnTo>
                <a:lnTo>
                  <a:pt x="1441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1516400" y="2781720"/>
            <a:ext cx="27360" cy="798480"/>
          </a:xfrm>
          <a:custGeom>
            <a:avLst/>
            <a:gdLst>
              <a:gd name="textAreaLeft" fmla="*/ 0 w 27360"/>
              <a:gd name="textAreaRight" fmla="*/ 28800 w 27360"/>
              <a:gd name="textAreaTop" fmla="*/ 0 h 798480"/>
              <a:gd name="textAreaBottom" fmla="*/ 799920 h 79848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637560" y="3581280"/>
            <a:ext cx="27360" cy="807840"/>
          </a:xfrm>
          <a:custGeom>
            <a:avLst/>
            <a:gdLst>
              <a:gd name="textAreaLeft" fmla="*/ 0 w 27360"/>
              <a:gd name="textAreaRight" fmla="*/ 28800 w 27360"/>
              <a:gd name="textAreaTop" fmla="*/ 0 h 807840"/>
              <a:gd name="textAreaBottom" fmla="*/ 809280 h 807840"/>
            </a:gdLst>
            <a:ahLst/>
            <a:cxnLst/>
            <a:rect l="textAreaLeft" t="textAreaTop" r="textAreaRight" b="textAreaBottom"/>
            <a:pathLst>
              <a:path w="80" h="2248">
                <a:moveTo>
                  <a:pt x="0" y="0"/>
                </a:moveTo>
                <a:lnTo>
                  <a:pt x="80" y="0"/>
                </a:lnTo>
                <a:lnTo>
                  <a:pt x="80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637560" y="3552480"/>
            <a:ext cx="1788120" cy="27720"/>
          </a:xfrm>
          <a:custGeom>
            <a:avLst/>
            <a:gdLst>
              <a:gd name="textAreaLeft" fmla="*/ 0 w 1788120"/>
              <a:gd name="textAreaRight" fmla="*/ 1789560 w 178812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4971" h="81">
                <a:moveTo>
                  <a:pt x="0" y="0"/>
                </a:moveTo>
                <a:lnTo>
                  <a:pt x="4971" y="0"/>
                </a:lnTo>
                <a:lnTo>
                  <a:pt x="4971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398320" y="3581280"/>
            <a:ext cx="27360" cy="807840"/>
          </a:xfrm>
          <a:custGeom>
            <a:avLst/>
            <a:gdLst>
              <a:gd name="textAreaLeft" fmla="*/ 0 w 27360"/>
              <a:gd name="textAreaRight" fmla="*/ 28800 w 27360"/>
              <a:gd name="textAreaTop" fmla="*/ 0 h 807840"/>
              <a:gd name="textAreaBottom" fmla="*/ 809280 h 807840"/>
            </a:gdLst>
            <a:ahLst/>
            <a:cxnLst/>
            <a:rect l="textAreaLeft" t="textAreaTop" r="textAreaRight" b="textAreaBottom"/>
            <a:pathLst>
              <a:path w="80" h="2248">
                <a:moveTo>
                  <a:pt x="0" y="0"/>
                </a:moveTo>
                <a:lnTo>
                  <a:pt x="80" y="0"/>
                </a:lnTo>
                <a:lnTo>
                  <a:pt x="80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426760" y="3552480"/>
            <a:ext cx="3929760" cy="27720"/>
          </a:xfrm>
          <a:custGeom>
            <a:avLst/>
            <a:gdLst>
              <a:gd name="textAreaLeft" fmla="*/ 0 w 3929760"/>
              <a:gd name="textAreaRight" fmla="*/ 3931200 w 39297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0920" h="81">
                <a:moveTo>
                  <a:pt x="0" y="0"/>
                </a:moveTo>
                <a:lnTo>
                  <a:pt x="10920" y="0"/>
                </a:lnTo>
                <a:lnTo>
                  <a:pt x="1092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329160" y="3581280"/>
            <a:ext cx="27360" cy="807840"/>
          </a:xfrm>
          <a:custGeom>
            <a:avLst/>
            <a:gdLst>
              <a:gd name="textAreaLeft" fmla="*/ 0 w 27360"/>
              <a:gd name="textAreaRight" fmla="*/ 28800 w 27360"/>
              <a:gd name="textAreaTop" fmla="*/ 0 h 807840"/>
              <a:gd name="textAreaBottom" fmla="*/ 809280 h 807840"/>
            </a:gdLst>
            <a:ahLst/>
            <a:cxnLst/>
            <a:rect l="textAreaLeft" t="textAreaTop" r="textAreaRight" b="textAreaBottom"/>
            <a:pathLst>
              <a:path w="80" h="2248">
                <a:moveTo>
                  <a:pt x="0" y="0"/>
                </a:moveTo>
                <a:lnTo>
                  <a:pt x="80" y="0"/>
                </a:lnTo>
                <a:lnTo>
                  <a:pt x="80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6357600" y="3552480"/>
            <a:ext cx="5186160" cy="27720"/>
          </a:xfrm>
          <a:custGeom>
            <a:avLst/>
            <a:gdLst>
              <a:gd name="textAreaLeft" fmla="*/ 0 w 5186160"/>
              <a:gd name="textAreaRight" fmla="*/ 5187600 w 51861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4410" h="81">
                <a:moveTo>
                  <a:pt x="0" y="0"/>
                </a:moveTo>
                <a:lnTo>
                  <a:pt x="14410" y="0"/>
                </a:lnTo>
                <a:lnTo>
                  <a:pt x="1441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1516400" y="3581280"/>
            <a:ext cx="27360" cy="807840"/>
          </a:xfrm>
          <a:custGeom>
            <a:avLst/>
            <a:gdLst>
              <a:gd name="textAreaLeft" fmla="*/ 0 w 27360"/>
              <a:gd name="textAreaRight" fmla="*/ 28800 w 27360"/>
              <a:gd name="textAreaTop" fmla="*/ 0 h 807840"/>
              <a:gd name="textAreaBottom" fmla="*/ 809280 h 807840"/>
            </a:gdLst>
            <a:ahLst/>
            <a:cxnLst/>
            <a:rect l="textAreaLeft" t="textAreaTop" r="textAreaRight" b="textAreaBottom"/>
            <a:pathLst>
              <a:path w="80" h="2248">
                <a:moveTo>
                  <a:pt x="0" y="0"/>
                </a:moveTo>
                <a:lnTo>
                  <a:pt x="80" y="0"/>
                </a:lnTo>
                <a:lnTo>
                  <a:pt x="80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637560" y="4361400"/>
            <a:ext cx="1788120" cy="27720"/>
          </a:xfrm>
          <a:custGeom>
            <a:avLst/>
            <a:gdLst>
              <a:gd name="textAreaLeft" fmla="*/ 0 w 1788120"/>
              <a:gd name="textAreaRight" fmla="*/ 1789560 w 178812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4971" h="81">
                <a:moveTo>
                  <a:pt x="0" y="0"/>
                </a:moveTo>
                <a:lnTo>
                  <a:pt x="4971" y="0"/>
                </a:lnTo>
                <a:lnTo>
                  <a:pt x="4971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426760" y="4361400"/>
            <a:ext cx="3929760" cy="27720"/>
          </a:xfrm>
          <a:custGeom>
            <a:avLst/>
            <a:gdLst>
              <a:gd name="textAreaLeft" fmla="*/ 0 w 3929760"/>
              <a:gd name="textAreaRight" fmla="*/ 3931200 w 39297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0920" h="81">
                <a:moveTo>
                  <a:pt x="0" y="0"/>
                </a:moveTo>
                <a:lnTo>
                  <a:pt x="10920" y="0"/>
                </a:lnTo>
                <a:lnTo>
                  <a:pt x="1092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6357600" y="4361400"/>
            <a:ext cx="5186160" cy="27720"/>
          </a:xfrm>
          <a:custGeom>
            <a:avLst/>
            <a:gdLst>
              <a:gd name="textAreaLeft" fmla="*/ 0 w 5186160"/>
              <a:gd name="textAreaRight" fmla="*/ 5187600 w 5186160"/>
              <a:gd name="textAreaTop" fmla="*/ 0 h 27720"/>
              <a:gd name="textAreaBottom" fmla="*/ 29160 h 27720"/>
            </a:gdLst>
            <a:ahLst/>
            <a:cxnLst/>
            <a:rect l="textAreaLeft" t="textAreaTop" r="textAreaRight" b="textAreaBottom"/>
            <a:pathLst>
              <a:path w="14410" h="81">
                <a:moveTo>
                  <a:pt x="0" y="0"/>
                </a:moveTo>
                <a:lnTo>
                  <a:pt x="14410" y="0"/>
                </a:lnTo>
                <a:lnTo>
                  <a:pt x="1441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639360" y="650880"/>
            <a:ext cx="583236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CHEN VS. PATA DE GALLO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2563200" y="1557720"/>
            <a:ext cx="576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CHEN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6498000" y="1557720"/>
            <a:ext cx="2044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PATA DE GALLO / IE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804960" y="2214360"/>
            <a:ext cx="1047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Atributos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2563200" y="2214360"/>
            <a:ext cx="34754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Óvalos conectados a la entidad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6498000" y="2062080"/>
            <a:ext cx="4021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Listados dentro del rectángulo de la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6498000" y="2366640"/>
            <a:ext cx="8614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entidad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804960" y="3013920"/>
            <a:ext cx="1115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Uso típico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2563200" y="2861640"/>
            <a:ext cx="293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Libros de texto, exámenes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2563200" y="3175560"/>
            <a:ext cx="900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escritos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6498000" y="3013920"/>
            <a:ext cx="48934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Herramientas CASE (dbdiagram.io), industria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804960" y="3670560"/>
            <a:ext cx="817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 este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804960" y="3975120"/>
            <a:ext cx="62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curso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2563200" y="3822840"/>
            <a:ext cx="314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Se usa para leer y reconocer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6498000" y="3670560"/>
            <a:ext cx="4332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Se usa mayoritariamente en la práctica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6498000" y="3975120"/>
            <a:ext cx="808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(S7/S8)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0"/>
            <a:ext cx="12191040" cy="6857280"/>
          </a:xfrm>
          <a:custGeom>
            <a:avLst/>
            <a:gdLst>
              <a:gd name="textAreaLeft" fmla="*/ 0 w 12191040"/>
              <a:gd name="textAreaRight" fmla="*/ 12191760 w 1219104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2520"/>
            <a:ext cx="12182040" cy="6852240"/>
          </a:xfrm>
          <a:custGeom>
            <a:avLst/>
            <a:gdLst>
              <a:gd name="textAreaLeft" fmla="*/ 0 w 12182040"/>
              <a:gd name="textAreaRight" fmla="*/ 12182760 w 12182040"/>
              <a:gd name="textAreaTop" fmla="*/ 0 h 6852240"/>
              <a:gd name="textAreaBottom" fmla="*/ 6852960 h 685224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637560" y="1201680"/>
            <a:ext cx="10906920" cy="4716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47160"/>
              <a:gd name="textAreaBottom" fmla="*/ 47880 h 4716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637560" y="2106000"/>
            <a:ext cx="47160" cy="1046520"/>
          </a:xfrm>
          <a:custGeom>
            <a:avLst/>
            <a:gdLst>
              <a:gd name="textAreaLeft" fmla="*/ 0 w 47160"/>
              <a:gd name="textAreaRight" fmla="*/ 47880 w 47160"/>
              <a:gd name="textAreaTop" fmla="*/ 0 h 1046520"/>
              <a:gd name="textAreaBottom" fmla="*/ 1047240 h 1046520"/>
            </a:gdLst>
            <a:ahLst/>
            <a:cxnLst/>
            <a:rect l="textAreaLeft" t="textAreaTop" r="textAreaRight" b="textAreaBottom"/>
            <a:pathLst>
              <a:path w="133" h="2909">
                <a:moveTo>
                  <a:pt x="0" y="0"/>
                </a:moveTo>
                <a:lnTo>
                  <a:pt x="133" y="0"/>
                </a:lnTo>
                <a:lnTo>
                  <a:pt x="133" y="2909"/>
                </a:lnTo>
                <a:lnTo>
                  <a:pt x="0" y="290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637560" y="1458720"/>
            <a:ext cx="1227240" cy="361080"/>
          </a:xfrm>
          <a:custGeom>
            <a:avLst/>
            <a:gdLst>
              <a:gd name="textAreaLeft" fmla="*/ 0 w 1227240"/>
              <a:gd name="textAreaRight" fmla="*/ 1227960 w 1227240"/>
              <a:gd name="textAreaTop" fmla="*/ 0 h 361080"/>
              <a:gd name="textAreaBottom" fmla="*/ 361800 h 361080"/>
            </a:gdLst>
            <a:ahLst/>
            <a:cxnLst/>
            <a:rect l="textAreaLeft" t="textAreaTop" r="textAreaRight" b="textAreaBottom"/>
            <a:pathLst>
              <a:path w="3411" h="1005">
                <a:moveTo>
                  <a:pt x="0" y="0"/>
                </a:moveTo>
                <a:lnTo>
                  <a:pt x="3411" y="0"/>
                </a:lnTo>
                <a:lnTo>
                  <a:pt x="3411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39360" y="650880"/>
            <a:ext cx="23004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RELACIÓN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753840" y="1518840"/>
            <a:ext cx="8726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RELACIÓN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812520" y="2347200"/>
            <a:ext cx="98823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 conjunto de entidades rara vez existe aislado: casi siempre se conecta con otros mediante una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812520" y="2642400"/>
            <a:ext cx="853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relación.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1846440" y="3324240"/>
            <a:ext cx="1436760" cy="351720"/>
          </a:xfrm>
          <a:custGeom>
            <a:avLst/>
            <a:gdLst>
              <a:gd name="textAreaLeft" fmla="*/ 0 w 1436760"/>
              <a:gd name="textAreaRight" fmla="*/ 1437480 w 143676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3993" h="979">
                <a:moveTo>
                  <a:pt x="0" y="0"/>
                </a:moveTo>
                <a:lnTo>
                  <a:pt x="3993" y="0"/>
                </a:lnTo>
                <a:lnTo>
                  <a:pt x="3993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860480" y="3338280"/>
            <a:ext cx="1408320" cy="323280"/>
          </a:xfrm>
          <a:custGeom>
            <a:avLst/>
            <a:gdLst>
              <a:gd name="textAreaLeft" fmla="*/ 0 w 1408320"/>
              <a:gd name="textAreaRight" fmla="*/ 1409040 w 1408320"/>
              <a:gd name="textAreaTop" fmla="*/ 0 h 323280"/>
              <a:gd name="textAreaBottom" fmla="*/ 324000 h 323280"/>
            </a:gdLst>
            <a:ahLst/>
            <a:cxnLst/>
            <a:rect l="textAreaLeft" t="textAreaTop" r="textAreaRight" b="textAreaBottom"/>
            <a:pathLst>
              <a:path w="3914" h="900">
                <a:moveTo>
                  <a:pt x="0" y="0"/>
                </a:moveTo>
                <a:lnTo>
                  <a:pt x="3914" y="0"/>
                </a:lnTo>
                <a:lnTo>
                  <a:pt x="3914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639360" y="3375360"/>
            <a:ext cx="12031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Ejemplo: un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1937160" y="3367440"/>
            <a:ext cx="12528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Estudiante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5244120" y="3324240"/>
            <a:ext cx="808560" cy="351720"/>
          </a:xfrm>
          <a:custGeom>
            <a:avLst/>
            <a:gdLst>
              <a:gd name="textAreaLeft" fmla="*/ 0 w 808560"/>
              <a:gd name="textAreaRight" fmla="*/ 809280 w 80856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2248" h="979">
                <a:moveTo>
                  <a:pt x="0" y="0"/>
                </a:moveTo>
                <a:lnTo>
                  <a:pt x="2248" y="0"/>
                </a:lnTo>
                <a:lnTo>
                  <a:pt x="224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5258520" y="3338280"/>
            <a:ext cx="780120" cy="323280"/>
          </a:xfrm>
          <a:custGeom>
            <a:avLst/>
            <a:gdLst>
              <a:gd name="textAreaLeft" fmla="*/ 0 w 780120"/>
              <a:gd name="textAreaRight" fmla="*/ 780840 w 780120"/>
              <a:gd name="textAreaTop" fmla="*/ 0 h 323280"/>
              <a:gd name="textAreaBottom" fmla="*/ 324000 h 323280"/>
            </a:gdLst>
            <a:ahLst/>
            <a:cxnLst/>
            <a:rect l="textAreaLeft" t="textAreaTop" r="textAreaRight" b="textAreaBottom"/>
            <a:pathLst>
              <a:path w="2169" h="900">
                <a:moveTo>
                  <a:pt x="0" y="0"/>
                </a:moveTo>
                <a:lnTo>
                  <a:pt x="2169" y="0"/>
                </a:lnTo>
                <a:lnTo>
                  <a:pt x="2169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3285000" y="3375360"/>
            <a:ext cx="1952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se matricula en un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5334120" y="3367440"/>
            <a:ext cx="6264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Curso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6053760" y="3375360"/>
            <a:ext cx="53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690840" y="3879720"/>
            <a:ext cx="99190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 Chen se dibuja como un rombo; en pata de gallo, como una línea directa entre las entidades.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637560" y="1201680"/>
            <a:ext cx="10906920" cy="4716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47160"/>
              <a:gd name="textAreaBottom" fmla="*/ 47880 h 4716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723240" y="1858320"/>
            <a:ext cx="2055240" cy="532800"/>
          </a:xfrm>
          <a:custGeom>
            <a:avLst/>
            <a:gdLst>
              <a:gd name="textAreaLeft" fmla="*/ 0 w 2055240"/>
              <a:gd name="textAreaRight" fmla="*/ 2055960 w 205524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711" h="1482">
                <a:moveTo>
                  <a:pt x="0" y="0"/>
                </a:moveTo>
                <a:lnTo>
                  <a:pt x="5711" y="0"/>
                </a:lnTo>
                <a:lnTo>
                  <a:pt x="571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639360" y="650880"/>
            <a:ext cx="44737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EL ROMBO DE CHEN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928440" y="2000520"/>
            <a:ext cx="16506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2867400" y="199404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3366000" y="199404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4828680" y="199404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5472720" y="1858320"/>
            <a:ext cx="1303560" cy="532800"/>
          </a:xfrm>
          <a:custGeom>
            <a:avLst/>
            <a:gdLst>
              <a:gd name="textAreaLeft" fmla="*/ 0 w 1303560"/>
              <a:gd name="textAreaRight" fmla="*/ 1304280 w 130356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3623" h="1482">
                <a:moveTo>
                  <a:pt x="0" y="0"/>
                </a:moveTo>
                <a:lnTo>
                  <a:pt x="3623" y="0"/>
                </a:lnTo>
                <a:lnTo>
                  <a:pt x="362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5327640" y="199404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5670360" y="2000520"/>
            <a:ext cx="901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CURSO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3326760" y="1359360"/>
            <a:ext cx="1587960" cy="1587960"/>
          </a:xfrm>
          <a:custGeom>
            <a:avLst/>
            <a:gdLst>
              <a:gd name="textAreaLeft" fmla="*/ 0 w 1587960"/>
              <a:gd name="textAreaRight" fmla="*/ 1588680 w 1587960"/>
              <a:gd name="textAreaTop" fmla="*/ 0 h 1587960"/>
              <a:gd name="textAreaBottom" fmla="*/ 1588680 h 1587960"/>
            </a:gdLst>
            <a:ahLst/>
            <a:cxnLst/>
            <a:rect l="textAreaLeft" t="textAreaTop" r="textAreaRight" b="textAreaBottom"/>
            <a:pathLst>
              <a:path w="4413" h="4413">
                <a:moveTo>
                  <a:pt x="2207" y="0"/>
                </a:moveTo>
                <a:lnTo>
                  <a:pt x="4413" y="2206"/>
                </a:lnTo>
                <a:lnTo>
                  <a:pt x="2207" y="4413"/>
                </a:lnTo>
                <a:lnTo>
                  <a:pt x="0" y="2206"/>
                </a:lnTo>
                <a:lnTo>
                  <a:pt x="22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3353760" y="1386360"/>
            <a:ext cx="1533960" cy="1533960"/>
          </a:xfrm>
          <a:custGeom>
            <a:avLst/>
            <a:gdLst>
              <a:gd name="textAreaLeft" fmla="*/ 0 w 1533960"/>
              <a:gd name="textAreaRight" fmla="*/ 1534680 w 1533960"/>
              <a:gd name="textAreaTop" fmla="*/ 0 h 1533960"/>
              <a:gd name="textAreaBottom" fmla="*/ 1534680 h 1533960"/>
            </a:gdLst>
            <a:ahLst/>
            <a:cxnLst/>
            <a:rect l="textAreaLeft" t="textAreaTop" r="textAreaRight" b="textAreaBottom"/>
            <a:pathLst>
              <a:path w="4263" h="4263">
                <a:moveTo>
                  <a:pt x="2132" y="0"/>
                </a:moveTo>
                <a:lnTo>
                  <a:pt x="4263" y="2131"/>
                </a:lnTo>
                <a:lnTo>
                  <a:pt x="2132" y="4263"/>
                </a:lnTo>
                <a:lnTo>
                  <a:pt x="0" y="2131"/>
                </a:lnTo>
                <a:lnTo>
                  <a:pt x="2132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690840" y="3080160"/>
            <a:ext cx="101113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 Chen, la relación se dibuja como un rombo conectado por líneas a las entidades que relaciona.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3763800" y="2090880"/>
            <a:ext cx="7693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MATRICULA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 flipH="1">
            <a:off x="2778840" y="2160000"/>
            <a:ext cx="574920" cy="36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-35640" rIns="99360" bIns="-3564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4888080" y="2160000"/>
            <a:ext cx="584640" cy="36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-35640" rIns="99360" bIns="-3564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0"/>
            <a:ext cx="12191040" cy="6857280"/>
          </a:xfrm>
          <a:custGeom>
            <a:avLst/>
            <a:gdLst>
              <a:gd name="textAreaLeft" fmla="*/ 0 w 12191040"/>
              <a:gd name="textAreaRight" fmla="*/ 12191760 w 1219104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2520"/>
            <a:ext cx="12182040" cy="6852240"/>
          </a:xfrm>
          <a:custGeom>
            <a:avLst/>
            <a:gdLst>
              <a:gd name="textAreaLeft" fmla="*/ 0 w 12182040"/>
              <a:gd name="textAreaRight" fmla="*/ 12182760 w 12182040"/>
              <a:gd name="textAreaTop" fmla="*/ 0 h 6852240"/>
              <a:gd name="textAreaBottom" fmla="*/ 6852960 h 685224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637560" y="1201680"/>
            <a:ext cx="10906920" cy="4716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47160"/>
              <a:gd name="textAreaBottom" fmla="*/ 47880 h 4716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656640" y="2115360"/>
            <a:ext cx="1446120" cy="504000"/>
          </a:xfrm>
          <a:custGeom>
            <a:avLst/>
            <a:gdLst>
              <a:gd name="textAreaLeft" fmla="*/ 0 w 1446120"/>
              <a:gd name="textAreaRight" fmla="*/ 1446840 w 1446120"/>
              <a:gd name="textAreaTop" fmla="*/ 0 h 504000"/>
              <a:gd name="textAreaBottom" fmla="*/ 504720 h 504000"/>
            </a:gdLst>
            <a:ahLst/>
            <a:cxnLst/>
            <a:rect l="textAreaLeft" t="textAreaTop" r="textAreaRight" b="textAreaBottom"/>
            <a:pathLst>
              <a:path w="4019" h="1402">
                <a:moveTo>
                  <a:pt x="0" y="0"/>
                </a:moveTo>
                <a:lnTo>
                  <a:pt x="4019" y="0"/>
                </a:lnTo>
                <a:lnTo>
                  <a:pt x="4019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103120" y="2115360"/>
            <a:ext cx="9422280" cy="50400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504000"/>
              <a:gd name="textAreaBottom" fmla="*/ 504720 h 504000"/>
            </a:gdLst>
            <a:ahLst/>
            <a:cxnLst/>
            <a:rect l="textAreaLeft" t="textAreaTop" r="textAreaRight" b="textAreaBottom"/>
            <a:pathLst>
              <a:path w="26175" h="1402">
                <a:moveTo>
                  <a:pt x="0" y="0"/>
                </a:moveTo>
                <a:lnTo>
                  <a:pt x="26175" y="0"/>
                </a:lnTo>
                <a:lnTo>
                  <a:pt x="26175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656640" y="2619720"/>
            <a:ext cx="1446120" cy="494640"/>
          </a:xfrm>
          <a:custGeom>
            <a:avLst/>
            <a:gdLst>
              <a:gd name="textAreaLeft" fmla="*/ 0 w 1446120"/>
              <a:gd name="textAreaRight" fmla="*/ 1446840 w 1446120"/>
              <a:gd name="textAreaTop" fmla="*/ 0 h 494640"/>
              <a:gd name="textAreaBottom" fmla="*/ 495360 h 494640"/>
            </a:gdLst>
            <a:ahLst/>
            <a:cxnLst/>
            <a:rect l="textAreaLeft" t="textAreaTop" r="textAreaRight" b="textAreaBottom"/>
            <a:pathLst>
              <a:path w="4019" h="1376">
                <a:moveTo>
                  <a:pt x="0" y="0"/>
                </a:moveTo>
                <a:lnTo>
                  <a:pt x="4019" y="0"/>
                </a:lnTo>
                <a:lnTo>
                  <a:pt x="4019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656640" y="3114720"/>
            <a:ext cx="1446120" cy="799200"/>
          </a:xfrm>
          <a:custGeom>
            <a:avLst/>
            <a:gdLst>
              <a:gd name="textAreaLeft" fmla="*/ 0 w 1446120"/>
              <a:gd name="textAreaRight" fmla="*/ 1446840 w 144612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4019" h="2222">
                <a:moveTo>
                  <a:pt x="0" y="0"/>
                </a:moveTo>
                <a:lnTo>
                  <a:pt x="4019" y="0"/>
                </a:lnTo>
                <a:lnTo>
                  <a:pt x="4019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2103120" y="3114720"/>
            <a:ext cx="9422280" cy="79920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26175" h="2222">
                <a:moveTo>
                  <a:pt x="0" y="0"/>
                </a:moveTo>
                <a:lnTo>
                  <a:pt x="26175" y="0"/>
                </a:lnTo>
                <a:lnTo>
                  <a:pt x="26175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656640" y="3914280"/>
            <a:ext cx="1446120" cy="808560"/>
          </a:xfrm>
          <a:custGeom>
            <a:avLst/>
            <a:gdLst>
              <a:gd name="textAreaLeft" fmla="*/ 0 w 1446120"/>
              <a:gd name="textAreaRight" fmla="*/ 1446840 w 1446120"/>
              <a:gd name="textAreaTop" fmla="*/ 0 h 808560"/>
              <a:gd name="textAreaBottom" fmla="*/ 809280 h 808560"/>
            </a:gdLst>
            <a:ahLst/>
            <a:cxnLst/>
            <a:rect l="textAreaLeft" t="textAreaTop" r="textAreaRight" b="textAreaBottom"/>
            <a:pathLst>
              <a:path w="4019" h="2248">
                <a:moveTo>
                  <a:pt x="0" y="0"/>
                </a:moveTo>
                <a:lnTo>
                  <a:pt x="4019" y="0"/>
                </a:lnTo>
                <a:lnTo>
                  <a:pt x="4019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2103120" y="3914280"/>
            <a:ext cx="9422280" cy="80856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808560"/>
              <a:gd name="textAreaBottom" fmla="*/ 809280 h 808560"/>
            </a:gdLst>
            <a:ahLst/>
            <a:cxnLst/>
            <a:rect l="textAreaLeft" t="textAreaTop" r="textAreaRight" b="textAreaBottom"/>
            <a:pathLst>
              <a:path w="26175" h="2248">
                <a:moveTo>
                  <a:pt x="0" y="0"/>
                </a:moveTo>
                <a:lnTo>
                  <a:pt x="26175" y="0"/>
                </a:lnTo>
                <a:lnTo>
                  <a:pt x="26175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637560" y="2106000"/>
            <a:ext cx="28080" cy="523080"/>
          </a:xfrm>
          <a:custGeom>
            <a:avLst/>
            <a:gdLst>
              <a:gd name="textAreaLeft" fmla="*/ 0 w 28080"/>
              <a:gd name="textAreaRight" fmla="*/ 28800 w 28080"/>
              <a:gd name="textAreaTop" fmla="*/ 0 h 523080"/>
              <a:gd name="textAreaBottom" fmla="*/ 523800 h 52308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637560" y="2106000"/>
            <a:ext cx="1484280" cy="28080"/>
          </a:xfrm>
          <a:custGeom>
            <a:avLst/>
            <a:gdLst>
              <a:gd name="textAreaLeft" fmla="*/ 0 w 1484280"/>
              <a:gd name="textAreaRight" fmla="*/ 1485000 w 1484280"/>
              <a:gd name="textAreaTop" fmla="*/ 0 h 28080"/>
              <a:gd name="textAreaBottom" fmla="*/ 28800 h 28080"/>
            </a:gdLst>
            <a:ahLst/>
            <a:cxnLst/>
            <a:rect l="textAreaLeft" t="textAreaTop" r="textAreaRight" b="textAreaBottom"/>
            <a:pathLst>
              <a:path w="4125" h="80">
                <a:moveTo>
                  <a:pt x="0" y="0"/>
                </a:moveTo>
                <a:lnTo>
                  <a:pt x="4125" y="0"/>
                </a:lnTo>
                <a:lnTo>
                  <a:pt x="4125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093760" y="2106000"/>
            <a:ext cx="28080" cy="523080"/>
          </a:xfrm>
          <a:custGeom>
            <a:avLst/>
            <a:gdLst>
              <a:gd name="textAreaLeft" fmla="*/ 0 w 28080"/>
              <a:gd name="textAreaRight" fmla="*/ 28800 w 28080"/>
              <a:gd name="textAreaTop" fmla="*/ 0 h 523080"/>
              <a:gd name="textAreaBottom" fmla="*/ 523800 h 52308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2122200" y="2106000"/>
            <a:ext cx="9422280" cy="2808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28080"/>
              <a:gd name="textAreaBottom" fmla="*/ 28800 h 28080"/>
            </a:gdLst>
            <a:ahLst/>
            <a:cxnLst/>
            <a:rect l="textAreaLeft" t="textAreaTop" r="textAreaRight" b="textAreaBottom"/>
            <a:pathLst>
              <a:path w="26175" h="80">
                <a:moveTo>
                  <a:pt x="0" y="0"/>
                </a:moveTo>
                <a:lnTo>
                  <a:pt x="26175" y="0"/>
                </a:lnTo>
                <a:lnTo>
                  <a:pt x="26175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1516400" y="2106000"/>
            <a:ext cx="28080" cy="523080"/>
          </a:xfrm>
          <a:custGeom>
            <a:avLst/>
            <a:gdLst>
              <a:gd name="textAreaLeft" fmla="*/ 0 w 28080"/>
              <a:gd name="textAreaRight" fmla="*/ 28800 w 28080"/>
              <a:gd name="textAreaTop" fmla="*/ 0 h 523080"/>
              <a:gd name="textAreaBottom" fmla="*/ 523800 h 52308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637560" y="2600640"/>
            <a:ext cx="1484280" cy="28440"/>
          </a:xfrm>
          <a:custGeom>
            <a:avLst/>
            <a:gdLst>
              <a:gd name="textAreaLeft" fmla="*/ 0 w 1484280"/>
              <a:gd name="textAreaRight" fmla="*/ 1485000 w 148428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4125" h="81">
                <a:moveTo>
                  <a:pt x="0" y="0"/>
                </a:moveTo>
                <a:lnTo>
                  <a:pt x="4125" y="0"/>
                </a:lnTo>
                <a:lnTo>
                  <a:pt x="4125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2122200" y="2600640"/>
            <a:ext cx="9422280" cy="2844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26175" h="81">
                <a:moveTo>
                  <a:pt x="0" y="0"/>
                </a:moveTo>
                <a:lnTo>
                  <a:pt x="26175" y="0"/>
                </a:lnTo>
                <a:lnTo>
                  <a:pt x="26175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637560" y="2629440"/>
            <a:ext cx="28080" cy="494280"/>
          </a:xfrm>
          <a:custGeom>
            <a:avLst/>
            <a:gdLst>
              <a:gd name="textAreaLeft" fmla="*/ 0 w 28080"/>
              <a:gd name="textAreaRight" fmla="*/ 28800 w 28080"/>
              <a:gd name="textAreaTop" fmla="*/ 0 h 494280"/>
              <a:gd name="textAreaBottom" fmla="*/ 495000 h 494280"/>
            </a:gdLst>
            <a:ahLst/>
            <a:cxnLst/>
            <a:rect l="textAreaLeft" t="textAreaTop" r="textAreaRight" b="textAreaBottom"/>
            <a:pathLst>
              <a:path w="80" h="1375">
                <a:moveTo>
                  <a:pt x="0" y="0"/>
                </a:moveTo>
                <a:lnTo>
                  <a:pt x="80" y="0"/>
                </a:lnTo>
                <a:lnTo>
                  <a:pt x="80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2093760" y="2629440"/>
            <a:ext cx="28080" cy="494280"/>
          </a:xfrm>
          <a:custGeom>
            <a:avLst/>
            <a:gdLst>
              <a:gd name="textAreaLeft" fmla="*/ 0 w 28080"/>
              <a:gd name="textAreaRight" fmla="*/ 28800 w 28080"/>
              <a:gd name="textAreaTop" fmla="*/ 0 h 494280"/>
              <a:gd name="textAreaBottom" fmla="*/ 495000 h 494280"/>
            </a:gdLst>
            <a:ahLst/>
            <a:cxnLst/>
            <a:rect l="textAreaLeft" t="textAreaTop" r="textAreaRight" b="textAreaBottom"/>
            <a:pathLst>
              <a:path w="80" h="1375">
                <a:moveTo>
                  <a:pt x="0" y="0"/>
                </a:moveTo>
                <a:lnTo>
                  <a:pt x="80" y="0"/>
                </a:lnTo>
                <a:lnTo>
                  <a:pt x="80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1516400" y="2629440"/>
            <a:ext cx="28080" cy="494280"/>
          </a:xfrm>
          <a:custGeom>
            <a:avLst/>
            <a:gdLst>
              <a:gd name="textAreaLeft" fmla="*/ 0 w 28080"/>
              <a:gd name="textAreaRight" fmla="*/ 28800 w 28080"/>
              <a:gd name="textAreaTop" fmla="*/ 0 h 494280"/>
              <a:gd name="textAreaBottom" fmla="*/ 495000 h 494280"/>
            </a:gdLst>
            <a:ahLst/>
            <a:cxnLst/>
            <a:rect l="textAreaLeft" t="textAreaTop" r="textAreaRight" b="textAreaBottom"/>
            <a:pathLst>
              <a:path w="80" h="1375">
                <a:moveTo>
                  <a:pt x="0" y="0"/>
                </a:moveTo>
                <a:lnTo>
                  <a:pt x="80" y="0"/>
                </a:lnTo>
                <a:lnTo>
                  <a:pt x="80" y="1375"/>
                </a:lnTo>
                <a:lnTo>
                  <a:pt x="0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637560" y="3124080"/>
            <a:ext cx="28080" cy="808920"/>
          </a:xfrm>
          <a:custGeom>
            <a:avLst/>
            <a:gdLst>
              <a:gd name="textAreaLeft" fmla="*/ 0 w 28080"/>
              <a:gd name="textAreaRight" fmla="*/ 28800 w 28080"/>
              <a:gd name="textAreaTop" fmla="*/ 0 h 808920"/>
              <a:gd name="textAreaBottom" fmla="*/ 809640 h 80892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637560" y="3095640"/>
            <a:ext cx="1484280" cy="28080"/>
          </a:xfrm>
          <a:custGeom>
            <a:avLst/>
            <a:gdLst>
              <a:gd name="textAreaLeft" fmla="*/ 0 w 1484280"/>
              <a:gd name="textAreaRight" fmla="*/ 1485000 w 1484280"/>
              <a:gd name="textAreaTop" fmla="*/ 0 h 28080"/>
              <a:gd name="textAreaBottom" fmla="*/ 28800 h 28080"/>
            </a:gdLst>
            <a:ahLst/>
            <a:cxnLst/>
            <a:rect l="textAreaLeft" t="textAreaTop" r="textAreaRight" b="textAreaBottom"/>
            <a:pathLst>
              <a:path w="4125" h="80">
                <a:moveTo>
                  <a:pt x="0" y="0"/>
                </a:moveTo>
                <a:lnTo>
                  <a:pt x="4125" y="0"/>
                </a:lnTo>
                <a:lnTo>
                  <a:pt x="4125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2093760" y="3124080"/>
            <a:ext cx="28080" cy="808920"/>
          </a:xfrm>
          <a:custGeom>
            <a:avLst/>
            <a:gdLst>
              <a:gd name="textAreaLeft" fmla="*/ 0 w 28080"/>
              <a:gd name="textAreaRight" fmla="*/ 28800 w 28080"/>
              <a:gd name="textAreaTop" fmla="*/ 0 h 808920"/>
              <a:gd name="textAreaBottom" fmla="*/ 809640 h 80892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122200" y="3095640"/>
            <a:ext cx="9422280" cy="2808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28080"/>
              <a:gd name="textAreaBottom" fmla="*/ 28800 h 28080"/>
            </a:gdLst>
            <a:ahLst/>
            <a:cxnLst/>
            <a:rect l="textAreaLeft" t="textAreaTop" r="textAreaRight" b="textAreaBottom"/>
            <a:pathLst>
              <a:path w="26175" h="80">
                <a:moveTo>
                  <a:pt x="0" y="0"/>
                </a:moveTo>
                <a:lnTo>
                  <a:pt x="26175" y="0"/>
                </a:lnTo>
                <a:lnTo>
                  <a:pt x="26175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1516400" y="3124080"/>
            <a:ext cx="28080" cy="808920"/>
          </a:xfrm>
          <a:custGeom>
            <a:avLst/>
            <a:gdLst>
              <a:gd name="textAreaLeft" fmla="*/ 0 w 28080"/>
              <a:gd name="textAreaRight" fmla="*/ 28800 w 28080"/>
              <a:gd name="textAreaTop" fmla="*/ 0 h 808920"/>
              <a:gd name="textAreaBottom" fmla="*/ 809640 h 80892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637560" y="3933360"/>
            <a:ext cx="28080" cy="799200"/>
          </a:xfrm>
          <a:custGeom>
            <a:avLst/>
            <a:gdLst>
              <a:gd name="textAreaLeft" fmla="*/ 0 w 28080"/>
              <a:gd name="textAreaRight" fmla="*/ 28800 w 280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637560" y="3904560"/>
            <a:ext cx="1484280" cy="28440"/>
          </a:xfrm>
          <a:custGeom>
            <a:avLst/>
            <a:gdLst>
              <a:gd name="textAreaLeft" fmla="*/ 0 w 1484280"/>
              <a:gd name="textAreaRight" fmla="*/ 1485000 w 148428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4125" h="81">
                <a:moveTo>
                  <a:pt x="0" y="0"/>
                </a:moveTo>
                <a:lnTo>
                  <a:pt x="4125" y="0"/>
                </a:lnTo>
                <a:lnTo>
                  <a:pt x="4125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093760" y="3933360"/>
            <a:ext cx="28080" cy="799200"/>
          </a:xfrm>
          <a:custGeom>
            <a:avLst/>
            <a:gdLst>
              <a:gd name="textAreaLeft" fmla="*/ 0 w 28080"/>
              <a:gd name="textAreaRight" fmla="*/ 28800 w 280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122200" y="3904560"/>
            <a:ext cx="9422280" cy="2844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26175" h="81">
                <a:moveTo>
                  <a:pt x="0" y="0"/>
                </a:moveTo>
                <a:lnTo>
                  <a:pt x="26175" y="0"/>
                </a:lnTo>
                <a:lnTo>
                  <a:pt x="26175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1516400" y="3933360"/>
            <a:ext cx="28080" cy="799200"/>
          </a:xfrm>
          <a:custGeom>
            <a:avLst/>
            <a:gdLst>
              <a:gd name="textAreaLeft" fmla="*/ 0 w 28080"/>
              <a:gd name="textAreaRight" fmla="*/ 28800 w 280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37560" y="4704120"/>
            <a:ext cx="1484280" cy="28440"/>
          </a:xfrm>
          <a:custGeom>
            <a:avLst/>
            <a:gdLst>
              <a:gd name="textAreaLeft" fmla="*/ 0 w 1484280"/>
              <a:gd name="textAreaRight" fmla="*/ 1485000 w 148428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4125" h="81">
                <a:moveTo>
                  <a:pt x="0" y="0"/>
                </a:moveTo>
                <a:lnTo>
                  <a:pt x="4125" y="0"/>
                </a:lnTo>
                <a:lnTo>
                  <a:pt x="4125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122200" y="4704120"/>
            <a:ext cx="9422280" cy="28440"/>
          </a:xfrm>
          <a:custGeom>
            <a:avLst/>
            <a:gdLst>
              <a:gd name="textAreaLeft" fmla="*/ 0 w 9422280"/>
              <a:gd name="textAreaRight" fmla="*/ 9423000 w 942228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26175" h="81">
                <a:moveTo>
                  <a:pt x="0" y="0"/>
                </a:moveTo>
                <a:lnTo>
                  <a:pt x="26175" y="0"/>
                </a:lnTo>
                <a:lnTo>
                  <a:pt x="26175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37560" y="1458720"/>
            <a:ext cx="1722240" cy="361080"/>
          </a:xfrm>
          <a:custGeom>
            <a:avLst/>
            <a:gdLst>
              <a:gd name="textAreaLeft" fmla="*/ 0 w 1722240"/>
              <a:gd name="textAreaRight" fmla="*/ 1722960 w 1722240"/>
              <a:gd name="textAreaTop" fmla="*/ 0 h 361080"/>
              <a:gd name="textAreaBottom" fmla="*/ 361800 h 361080"/>
            </a:gdLst>
            <a:ahLst/>
            <a:cxnLst/>
            <a:rect l="textAreaLeft" t="textAreaTop" r="textAreaRight" b="textAreaBottom"/>
            <a:pathLst>
              <a:path w="4786" h="1005">
                <a:moveTo>
                  <a:pt x="0" y="0"/>
                </a:moveTo>
                <a:lnTo>
                  <a:pt x="4786" y="0"/>
                </a:lnTo>
                <a:lnTo>
                  <a:pt x="4786" y="1005"/>
                </a:lnTo>
                <a:lnTo>
                  <a:pt x="0" y="100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639360" y="650880"/>
            <a:ext cx="67978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CARDINALIDAD: EL CONCEPTO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753840" y="1518840"/>
            <a:ext cx="1302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CARDINALIDAD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804960" y="2214360"/>
            <a:ext cx="1144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CONCEPTO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2255400" y="2214360"/>
            <a:ext cx="1001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EJEMPLO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804960" y="2718720"/>
            <a:ext cx="249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1:1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2607840" y="2676960"/>
            <a:ext cx="1189080" cy="361440"/>
          </a:xfrm>
          <a:custGeom>
            <a:avLst/>
            <a:gdLst>
              <a:gd name="textAreaLeft" fmla="*/ 0 w 1189080"/>
              <a:gd name="textAreaRight" fmla="*/ 1189800 w 1189080"/>
              <a:gd name="textAreaTop" fmla="*/ 0 h 361440"/>
              <a:gd name="textAreaBottom" fmla="*/ 362160 h 361440"/>
            </a:gdLst>
            <a:ahLst/>
            <a:cxnLst/>
            <a:rect l="textAreaLeft" t="textAreaTop" r="textAreaRight" b="textAreaBottom"/>
            <a:pathLst>
              <a:path w="3305" h="1006">
                <a:moveTo>
                  <a:pt x="0" y="0"/>
                </a:moveTo>
                <a:lnTo>
                  <a:pt x="3305" y="0"/>
                </a:lnTo>
                <a:lnTo>
                  <a:pt x="330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621880" y="2691360"/>
            <a:ext cx="1161000" cy="332640"/>
          </a:xfrm>
          <a:custGeom>
            <a:avLst/>
            <a:gdLst>
              <a:gd name="textAreaLeft" fmla="*/ 0 w 1161000"/>
              <a:gd name="textAreaRight" fmla="*/ 1161720 w 1161000"/>
              <a:gd name="textAreaTop" fmla="*/ 0 h 332640"/>
              <a:gd name="textAreaBottom" fmla="*/ 333360 h 332640"/>
            </a:gdLst>
            <a:ahLst/>
            <a:cxnLst/>
            <a:rect l="textAreaLeft" t="textAreaTop" r="textAreaRight" b="textAreaBottom"/>
            <a:pathLst>
              <a:path w="3227" h="926">
                <a:moveTo>
                  <a:pt x="0" y="0"/>
                </a:moveTo>
                <a:lnTo>
                  <a:pt x="3227" y="0"/>
                </a:lnTo>
                <a:lnTo>
                  <a:pt x="3227" y="926"/>
                </a:lnTo>
                <a:lnTo>
                  <a:pt x="0" y="926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255400" y="2718720"/>
            <a:ext cx="3513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2697840" y="2720520"/>
            <a:ext cx="10022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Empleado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5977080" y="2676960"/>
            <a:ext cx="1693800" cy="361440"/>
          </a:xfrm>
          <a:custGeom>
            <a:avLst/>
            <a:gdLst>
              <a:gd name="textAreaLeft" fmla="*/ 0 w 1693800"/>
              <a:gd name="textAreaRight" fmla="*/ 1694520 w 1693800"/>
              <a:gd name="textAreaTop" fmla="*/ 0 h 361440"/>
              <a:gd name="textAreaBottom" fmla="*/ 362160 h 361440"/>
            </a:gdLst>
            <a:ahLst/>
            <a:cxnLst/>
            <a:rect l="textAreaLeft" t="textAreaTop" r="textAreaRight" b="textAreaBottom"/>
            <a:pathLst>
              <a:path w="4707" h="1006">
                <a:moveTo>
                  <a:pt x="0" y="0"/>
                </a:moveTo>
                <a:lnTo>
                  <a:pt x="4707" y="0"/>
                </a:lnTo>
                <a:lnTo>
                  <a:pt x="470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5991120" y="2691360"/>
            <a:ext cx="1665360" cy="332640"/>
          </a:xfrm>
          <a:custGeom>
            <a:avLst/>
            <a:gdLst>
              <a:gd name="textAreaLeft" fmla="*/ 0 w 1665360"/>
              <a:gd name="textAreaRight" fmla="*/ 1666080 w 1665360"/>
              <a:gd name="textAreaTop" fmla="*/ 0 h 332640"/>
              <a:gd name="textAreaBottom" fmla="*/ 333360 h 332640"/>
            </a:gdLst>
            <a:ahLst/>
            <a:cxnLst/>
            <a:rect l="textAreaLeft" t="textAreaTop" r="textAreaRight" b="textAreaBottom"/>
            <a:pathLst>
              <a:path w="4628" h="926">
                <a:moveTo>
                  <a:pt x="0" y="0"/>
                </a:moveTo>
                <a:lnTo>
                  <a:pt x="4628" y="0"/>
                </a:lnTo>
                <a:lnTo>
                  <a:pt x="4628" y="926"/>
                </a:lnTo>
                <a:lnTo>
                  <a:pt x="0" y="926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3794400" y="2718720"/>
            <a:ext cx="21873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dirige a lo sumo un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6071040" y="2720520"/>
            <a:ext cx="15033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Departamento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804960" y="3366000"/>
            <a:ext cx="305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1:N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2607840" y="3181320"/>
            <a:ext cx="1189080" cy="351720"/>
          </a:xfrm>
          <a:custGeom>
            <a:avLst/>
            <a:gdLst>
              <a:gd name="textAreaLeft" fmla="*/ 0 w 1189080"/>
              <a:gd name="textAreaRight" fmla="*/ 1189800 w 118908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3305" h="979">
                <a:moveTo>
                  <a:pt x="0" y="0"/>
                </a:moveTo>
                <a:lnTo>
                  <a:pt x="3305" y="0"/>
                </a:lnTo>
                <a:lnTo>
                  <a:pt x="3305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621880" y="3195720"/>
            <a:ext cx="1161000" cy="323280"/>
          </a:xfrm>
          <a:custGeom>
            <a:avLst/>
            <a:gdLst>
              <a:gd name="textAreaLeft" fmla="*/ 0 w 1161000"/>
              <a:gd name="textAreaRight" fmla="*/ 1161720 w 1161000"/>
              <a:gd name="textAreaTop" fmla="*/ 0 h 323280"/>
              <a:gd name="textAreaBottom" fmla="*/ 324000 h 323280"/>
            </a:gdLst>
            <a:ahLst/>
            <a:cxnLst/>
            <a:rect l="textAreaLeft" t="textAreaTop" r="textAreaRight" b="textAreaBottom"/>
            <a:pathLst>
              <a:path w="3227" h="900">
                <a:moveTo>
                  <a:pt x="0" y="0"/>
                </a:moveTo>
                <a:lnTo>
                  <a:pt x="3227" y="0"/>
                </a:lnTo>
                <a:lnTo>
                  <a:pt x="3227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255400" y="3213720"/>
            <a:ext cx="3513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2697840" y="3224880"/>
            <a:ext cx="10022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Programa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5415480" y="3181320"/>
            <a:ext cx="1436760" cy="351720"/>
          </a:xfrm>
          <a:custGeom>
            <a:avLst/>
            <a:gdLst>
              <a:gd name="textAreaLeft" fmla="*/ 0 w 1436760"/>
              <a:gd name="textAreaRight" fmla="*/ 1437480 w 143676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3993" h="979">
                <a:moveTo>
                  <a:pt x="0" y="0"/>
                </a:moveTo>
                <a:lnTo>
                  <a:pt x="3993" y="0"/>
                </a:lnTo>
                <a:lnTo>
                  <a:pt x="3993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5429880" y="3195720"/>
            <a:ext cx="1407960" cy="323280"/>
          </a:xfrm>
          <a:custGeom>
            <a:avLst/>
            <a:gdLst>
              <a:gd name="textAreaLeft" fmla="*/ 0 w 1407960"/>
              <a:gd name="textAreaRight" fmla="*/ 1408680 w 1407960"/>
              <a:gd name="textAreaTop" fmla="*/ 0 h 323280"/>
              <a:gd name="textAreaBottom" fmla="*/ 324000 h 323280"/>
            </a:gdLst>
            <a:ahLst/>
            <a:cxnLst/>
            <a:rect l="textAreaLeft" t="textAreaTop" r="textAreaRight" b="textAreaBottom"/>
            <a:pathLst>
              <a:path w="3913" h="900">
                <a:moveTo>
                  <a:pt x="0" y="0"/>
                </a:moveTo>
                <a:lnTo>
                  <a:pt x="3913" y="0"/>
                </a:lnTo>
                <a:lnTo>
                  <a:pt x="3913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3794400" y="3213720"/>
            <a:ext cx="1621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tiene muchos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5505840" y="3224880"/>
            <a:ext cx="12528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Estudiante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6853680" y="3213720"/>
            <a:ext cx="4222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, pero cada estudiante pertenece a un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2255400" y="3518280"/>
            <a:ext cx="15771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solo programa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804960" y="4165560"/>
            <a:ext cx="407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N:M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2607840" y="3980880"/>
            <a:ext cx="1436760" cy="351720"/>
          </a:xfrm>
          <a:custGeom>
            <a:avLst/>
            <a:gdLst>
              <a:gd name="textAreaLeft" fmla="*/ 0 w 1436760"/>
              <a:gd name="textAreaRight" fmla="*/ 1437480 w 143676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3993" h="979">
                <a:moveTo>
                  <a:pt x="0" y="0"/>
                </a:moveTo>
                <a:lnTo>
                  <a:pt x="3993" y="0"/>
                </a:lnTo>
                <a:lnTo>
                  <a:pt x="3993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2621880" y="3995280"/>
            <a:ext cx="1408320" cy="322920"/>
          </a:xfrm>
          <a:custGeom>
            <a:avLst/>
            <a:gdLst>
              <a:gd name="textAreaLeft" fmla="*/ 0 w 1408320"/>
              <a:gd name="textAreaRight" fmla="*/ 1409040 w 1408320"/>
              <a:gd name="textAreaTop" fmla="*/ 0 h 322920"/>
              <a:gd name="textAreaBottom" fmla="*/ 323640 h 322920"/>
            </a:gdLst>
            <a:ahLst/>
            <a:cxnLst/>
            <a:rect l="textAreaLeft" t="textAreaTop" r="textAreaRight" b="textAreaBottom"/>
            <a:pathLst>
              <a:path w="3914" h="899">
                <a:moveTo>
                  <a:pt x="0" y="0"/>
                </a:moveTo>
                <a:lnTo>
                  <a:pt x="3914" y="0"/>
                </a:lnTo>
                <a:lnTo>
                  <a:pt x="3914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2255400" y="4013280"/>
            <a:ext cx="3513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2697840" y="4024440"/>
            <a:ext cx="12528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Estudiante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6557760" y="3980880"/>
            <a:ext cx="808560" cy="351720"/>
          </a:xfrm>
          <a:custGeom>
            <a:avLst/>
            <a:gdLst>
              <a:gd name="textAreaLeft" fmla="*/ 0 w 808560"/>
              <a:gd name="textAreaRight" fmla="*/ 809280 w 80856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2248" h="979">
                <a:moveTo>
                  <a:pt x="0" y="0"/>
                </a:moveTo>
                <a:lnTo>
                  <a:pt x="2248" y="0"/>
                </a:lnTo>
                <a:lnTo>
                  <a:pt x="224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6571800" y="3995280"/>
            <a:ext cx="780120" cy="322920"/>
          </a:xfrm>
          <a:custGeom>
            <a:avLst/>
            <a:gdLst>
              <a:gd name="textAreaLeft" fmla="*/ 0 w 780120"/>
              <a:gd name="textAreaRight" fmla="*/ 780840 w 780120"/>
              <a:gd name="textAreaTop" fmla="*/ 0 h 322920"/>
              <a:gd name="textAreaBottom" fmla="*/ 323640 h 322920"/>
            </a:gdLst>
            <a:ahLst/>
            <a:cxnLst/>
            <a:rect l="textAreaLeft" t="textAreaTop" r="textAreaRight" b="textAreaBottom"/>
            <a:pathLst>
              <a:path w="2169" h="899">
                <a:moveTo>
                  <a:pt x="0" y="0"/>
                </a:moveTo>
                <a:lnTo>
                  <a:pt x="2169" y="0"/>
                </a:lnTo>
                <a:lnTo>
                  <a:pt x="2169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4045680" y="4013280"/>
            <a:ext cx="2512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se matricula en varios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6647400" y="4024440"/>
            <a:ext cx="6264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Curso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8280360" y="3980880"/>
            <a:ext cx="808560" cy="351720"/>
          </a:xfrm>
          <a:custGeom>
            <a:avLst/>
            <a:gdLst>
              <a:gd name="textAreaLeft" fmla="*/ 0 w 808560"/>
              <a:gd name="textAreaRight" fmla="*/ 809280 w 80856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2248" h="979">
                <a:moveTo>
                  <a:pt x="0" y="0"/>
                </a:moveTo>
                <a:lnTo>
                  <a:pt x="2248" y="0"/>
                </a:lnTo>
                <a:lnTo>
                  <a:pt x="224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8294400" y="3995280"/>
            <a:ext cx="780120" cy="322920"/>
          </a:xfrm>
          <a:custGeom>
            <a:avLst/>
            <a:gdLst>
              <a:gd name="textAreaLeft" fmla="*/ 0 w 780120"/>
              <a:gd name="textAreaRight" fmla="*/ 780840 w 780120"/>
              <a:gd name="textAreaTop" fmla="*/ 0 h 322920"/>
              <a:gd name="textAreaBottom" fmla="*/ 323640 h 322920"/>
            </a:gdLst>
            <a:ahLst/>
            <a:cxnLst/>
            <a:rect l="textAreaLeft" t="textAreaTop" r="textAreaRight" b="textAreaBottom"/>
            <a:pathLst>
              <a:path w="2169" h="899">
                <a:moveTo>
                  <a:pt x="0" y="0"/>
                </a:moveTo>
                <a:lnTo>
                  <a:pt x="2169" y="0"/>
                </a:lnTo>
                <a:lnTo>
                  <a:pt x="2169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7367040" y="4013280"/>
            <a:ext cx="9100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, y cada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8367480" y="4024440"/>
            <a:ext cx="6264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Curso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2255400" y="4294800"/>
            <a:ext cx="1437120" cy="352080"/>
          </a:xfrm>
          <a:custGeom>
            <a:avLst/>
            <a:gdLst>
              <a:gd name="textAreaLeft" fmla="*/ 0 w 1437120"/>
              <a:gd name="textAreaRight" fmla="*/ 1437840 w 1437120"/>
              <a:gd name="textAreaTop" fmla="*/ 0 h 352080"/>
              <a:gd name="textAreaBottom" fmla="*/ 352800 h 352080"/>
            </a:gdLst>
            <a:ahLst/>
            <a:cxnLst/>
            <a:rect l="textAreaLeft" t="textAreaTop" r="textAreaRight" b="textAreaBottom"/>
            <a:pathLst>
              <a:path w="3994" h="980">
                <a:moveTo>
                  <a:pt x="0" y="0"/>
                </a:moveTo>
                <a:lnTo>
                  <a:pt x="3994" y="0"/>
                </a:lnTo>
                <a:lnTo>
                  <a:pt x="399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269800" y="4309200"/>
            <a:ext cx="1408320" cy="323280"/>
          </a:xfrm>
          <a:custGeom>
            <a:avLst/>
            <a:gdLst>
              <a:gd name="textAreaLeft" fmla="*/ 0 w 1408320"/>
              <a:gd name="textAreaRight" fmla="*/ 1409040 w 1408320"/>
              <a:gd name="textAreaTop" fmla="*/ 0 h 323280"/>
              <a:gd name="textAreaBottom" fmla="*/ 324000 h 323280"/>
            </a:gdLst>
            <a:ahLst/>
            <a:cxnLst/>
            <a:rect l="textAreaLeft" t="textAreaTop" r="textAreaRight" b="textAreaBottom"/>
            <a:pathLst>
              <a:path w="3914" h="900">
                <a:moveTo>
                  <a:pt x="0" y="0"/>
                </a:moveTo>
                <a:lnTo>
                  <a:pt x="3914" y="0"/>
                </a:lnTo>
                <a:lnTo>
                  <a:pt x="3914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noFill/>
          <a:ln w="2844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9087120" y="4013280"/>
            <a:ext cx="13446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tiene varios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2346840" y="4338360"/>
            <a:ext cx="12528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IBMPlexMono"/>
                <a:ea typeface="IBMPlexMono"/>
              </a:rPr>
              <a:t>Estudiante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7740000" y="2700000"/>
            <a:ext cx="3381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. Un Departamento un director.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"/>
          <p:cNvSpPr/>
          <p:nvPr/>
        </p:nvSpPr>
        <p:spPr>
          <a:xfrm>
            <a:off x="637560" y="1201680"/>
            <a:ext cx="10906920" cy="4716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47160"/>
              <a:gd name="textAreaBottom" fmla="*/ 47880 h 4716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752400" y="2838960"/>
            <a:ext cx="2055240" cy="532800"/>
          </a:xfrm>
          <a:custGeom>
            <a:avLst/>
            <a:gdLst>
              <a:gd name="textAreaLeft" fmla="*/ 0 w 2055240"/>
              <a:gd name="textAreaRight" fmla="*/ 2055960 w 205524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711" h="1482">
                <a:moveTo>
                  <a:pt x="0" y="0"/>
                </a:moveTo>
                <a:lnTo>
                  <a:pt x="5711" y="0"/>
                </a:lnTo>
                <a:lnTo>
                  <a:pt x="571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639360" y="650880"/>
            <a:ext cx="8740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CARDINALIDAD EN NOTACIÓN DE CHEN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957600" y="2981160"/>
            <a:ext cx="16506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2896560" y="297468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2950200" y="2991240"/>
            <a:ext cx="2959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──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3246840" y="2974680"/>
            <a:ext cx="2458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N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3494880" y="2991240"/>
            <a:ext cx="2959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──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3791520" y="297468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5254200" y="297468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5307840" y="2991240"/>
            <a:ext cx="2959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──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5604480" y="2974680"/>
            <a:ext cx="2883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M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5897160" y="2991240"/>
            <a:ext cx="2959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──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6339240" y="2838960"/>
            <a:ext cx="1303560" cy="532800"/>
          </a:xfrm>
          <a:custGeom>
            <a:avLst/>
            <a:gdLst>
              <a:gd name="textAreaLeft" fmla="*/ 0 w 1303560"/>
              <a:gd name="textAreaRight" fmla="*/ 1304280 w 130356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3623" h="1482">
                <a:moveTo>
                  <a:pt x="0" y="0"/>
                </a:moveTo>
                <a:lnTo>
                  <a:pt x="3623" y="0"/>
                </a:lnTo>
                <a:lnTo>
                  <a:pt x="362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6193800" y="297468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6536520" y="2981160"/>
            <a:ext cx="901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CURSO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3755880" y="2340000"/>
            <a:ext cx="1587960" cy="1587960"/>
          </a:xfrm>
          <a:custGeom>
            <a:avLst/>
            <a:gdLst>
              <a:gd name="textAreaLeft" fmla="*/ 0 w 1587960"/>
              <a:gd name="textAreaRight" fmla="*/ 1588680 w 1587960"/>
              <a:gd name="textAreaTop" fmla="*/ 0 h 1587960"/>
              <a:gd name="textAreaBottom" fmla="*/ 1588680 h 1587960"/>
            </a:gdLst>
            <a:ahLst/>
            <a:cxnLst/>
            <a:rect l="textAreaLeft" t="textAreaTop" r="textAreaRight" b="textAreaBottom"/>
            <a:pathLst>
              <a:path w="4413" h="4413">
                <a:moveTo>
                  <a:pt x="2207" y="0"/>
                </a:moveTo>
                <a:lnTo>
                  <a:pt x="4413" y="2206"/>
                </a:lnTo>
                <a:lnTo>
                  <a:pt x="2207" y="4413"/>
                </a:lnTo>
                <a:lnTo>
                  <a:pt x="0" y="2206"/>
                </a:lnTo>
                <a:lnTo>
                  <a:pt x="22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3782880" y="2367000"/>
            <a:ext cx="1533960" cy="1533960"/>
          </a:xfrm>
          <a:custGeom>
            <a:avLst/>
            <a:gdLst>
              <a:gd name="textAreaLeft" fmla="*/ 0 w 1533960"/>
              <a:gd name="textAreaRight" fmla="*/ 1534680 w 1533960"/>
              <a:gd name="textAreaTop" fmla="*/ 0 h 1533960"/>
              <a:gd name="textAreaBottom" fmla="*/ 1534680 h 1533960"/>
            </a:gdLst>
            <a:ahLst/>
            <a:cxnLst/>
            <a:rect l="textAreaLeft" t="textAreaTop" r="textAreaRight" b="textAreaBottom"/>
            <a:pathLst>
              <a:path w="4263" h="4263">
                <a:moveTo>
                  <a:pt x="2132" y="0"/>
                </a:moveTo>
                <a:lnTo>
                  <a:pt x="4263" y="2131"/>
                </a:lnTo>
                <a:lnTo>
                  <a:pt x="2132" y="4263"/>
                </a:lnTo>
                <a:lnTo>
                  <a:pt x="0" y="2131"/>
                </a:lnTo>
                <a:lnTo>
                  <a:pt x="2132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720000" y="4060800"/>
            <a:ext cx="82652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 Chen, la cardinalidad se anota como una etiqueta (1, N o M) sobre cada línea.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4192920" y="3071520"/>
            <a:ext cx="7693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MATRICULA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734760" y="1620000"/>
            <a:ext cx="103352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Un estudiante se puede matricular en </a:t>
            </a:r>
            <a:r>
              <a:rPr lang="en-US" sz="1700" b="0" u="none" strike="noStrike">
                <a:solidFill>
                  <a:srgbClr val="111111"/>
                </a:solidFill>
                <a:effectLst/>
                <a:highlight>
                  <a:srgbClr val="FFFF00"/>
                </a:highlight>
                <a:uFillTx/>
                <a:latin typeface="SpaceGrotesk"/>
                <a:ea typeface="SpaceGrotesk"/>
              </a:rPr>
              <a:t>varios</a:t>
            </a: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cursos y en un curso se matriculan </a:t>
            </a:r>
            <a:r>
              <a:rPr lang="en-US" sz="1700" b="0" u="none" strike="noStrike">
                <a:solidFill>
                  <a:srgbClr val="111111"/>
                </a:solidFill>
                <a:effectLst/>
                <a:highlight>
                  <a:srgbClr val="FFFF00"/>
                </a:highlight>
                <a:uFillTx/>
                <a:latin typeface="SpaceGrotesk"/>
                <a:ea typeface="SpaceGrotesk"/>
              </a:rPr>
              <a:t>varios</a:t>
            </a: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estudiantes.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"/>
          <p:cNvSpPr/>
          <p:nvPr/>
        </p:nvSpPr>
        <p:spPr>
          <a:xfrm>
            <a:off x="637560" y="1658520"/>
            <a:ext cx="10906920" cy="4716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47160"/>
              <a:gd name="textAreaBottom" fmla="*/ 47880 h 4716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639360" y="650880"/>
            <a:ext cx="93175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CARDINALIDAD EN NOTACIÓN DE PATA DE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723240" y="1924920"/>
            <a:ext cx="2055240" cy="532800"/>
          </a:xfrm>
          <a:custGeom>
            <a:avLst/>
            <a:gdLst>
              <a:gd name="textAreaLeft" fmla="*/ 0 w 2055240"/>
              <a:gd name="textAreaRight" fmla="*/ 2055960 w 205524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711" h="1482">
                <a:moveTo>
                  <a:pt x="0" y="0"/>
                </a:moveTo>
                <a:lnTo>
                  <a:pt x="5711" y="0"/>
                </a:lnTo>
                <a:lnTo>
                  <a:pt x="571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639360" y="1107720"/>
            <a:ext cx="15019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GALLO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3" name=""/>
          <p:cNvGrpSpPr/>
          <p:nvPr/>
        </p:nvGrpSpPr>
        <p:grpSpPr>
          <a:xfrm>
            <a:off x="2778480" y="2058120"/>
            <a:ext cx="190800" cy="190800"/>
            <a:chOff x="2778480" y="2058120"/>
            <a:chExt cx="190800" cy="190800"/>
          </a:xfrm>
        </p:grpSpPr>
        <p:sp>
          <p:nvSpPr>
            <p:cNvPr id="604" name=""/>
            <p:cNvSpPr/>
            <p:nvPr/>
          </p:nvSpPr>
          <p:spPr>
            <a:xfrm flipH="1" flipV="1">
              <a:off x="2778480" y="2058120"/>
              <a:ext cx="190800" cy="9576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14040" rIns="14040" bIns="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5" name=""/>
            <p:cNvSpPr/>
            <p:nvPr/>
          </p:nvSpPr>
          <p:spPr>
            <a:xfrm flipH="1">
              <a:off x="2778480" y="2153520"/>
              <a:ext cx="190440" cy="36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-14040" rIns="14040" bIns="-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6" name=""/>
            <p:cNvSpPr/>
            <p:nvPr/>
          </p:nvSpPr>
          <p:spPr>
            <a:xfrm flipH="1">
              <a:off x="2778480" y="2153520"/>
              <a:ext cx="190800" cy="9540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14040" rIns="14040" bIns="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07" name=""/>
          <p:cNvSpPr/>
          <p:nvPr/>
        </p:nvSpPr>
        <p:spPr>
          <a:xfrm>
            <a:off x="928440" y="2067120"/>
            <a:ext cx="16506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ESTUDIANTE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3149640" y="2057760"/>
            <a:ext cx="54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 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5263200" y="1924920"/>
            <a:ext cx="1303560" cy="532800"/>
          </a:xfrm>
          <a:custGeom>
            <a:avLst/>
            <a:gdLst>
              <a:gd name="textAreaLeft" fmla="*/ 0 w 1303560"/>
              <a:gd name="textAreaRight" fmla="*/ 1304280 w 130356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3623" h="1482">
                <a:moveTo>
                  <a:pt x="0" y="0"/>
                </a:moveTo>
                <a:lnTo>
                  <a:pt x="3623" y="0"/>
                </a:lnTo>
                <a:lnTo>
                  <a:pt x="362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noFill/>
          <a:ln w="37800">
            <a:solidFill>
              <a:srgbClr val="11111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10" name=""/>
          <p:cNvGrpSpPr/>
          <p:nvPr/>
        </p:nvGrpSpPr>
        <p:grpSpPr>
          <a:xfrm>
            <a:off x="4996800" y="2058120"/>
            <a:ext cx="266400" cy="251280"/>
            <a:chOff x="4996800" y="2058120"/>
            <a:chExt cx="266400" cy="251280"/>
          </a:xfrm>
        </p:grpSpPr>
        <p:sp>
          <p:nvSpPr>
            <p:cNvPr id="611" name=""/>
            <p:cNvSpPr/>
            <p:nvPr/>
          </p:nvSpPr>
          <p:spPr>
            <a:xfrm flipV="1">
              <a:off x="5072760" y="2058480"/>
              <a:ext cx="190440" cy="9576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14040" rIns="14040" bIns="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5072760" y="2153880"/>
              <a:ext cx="190080" cy="36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-14040" rIns="14040" bIns="-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5072760" y="2153880"/>
              <a:ext cx="190440" cy="9540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14040" rIns="14040" bIns="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4" name=""/>
            <p:cNvSpPr/>
            <p:nvPr/>
          </p:nvSpPr>
          <p:spPr>
            <a:xfrm>
              <a:off x="4996800" y="2058120"/>
              <a:ext cx="54000" cy="25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50" b="0" u="none" strike="noStrike">
                  <a:solidFill>
                    <a:srgbClr val="111111"/>
                  </a:solidFill>
                  <a:effectLst/>
                  <a:uFillTx/>
                  <a:latin typeface="SpaceGrotesk"/>
                  <a:ea typeface="SpaceGrotesk"/>
                </a:rPr>
                <a:t> </a:t>
              </a:r>
              <a:endParaRPr lang="en-GB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5" name=""/>
          <p:cNvSpPr/>
          <p:nvPr/>
        </p:nvSpPr>
        <p:spPr>
          <a:xfrm>
            <a:off x="5460480" y="2067120"/>
            <a:ext cx="901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CURSO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2880000" y="2153520"/>
            <a:ext cx="2192760" cy="36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-30600" rIns="104400" bIns="-306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531720" y="5477400"/>
            <a:ext cx="11348280" cy="6426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En pata de gallo, la cardinalidad se dibuja con símbolos en los extremos de la línea: una barra para "uno", un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tridente para "muchos".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5220000" y="3067200"/>
            <a:ext cx="2052000" cy="5328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tIns="63720" rIns="108720" bIns="63720" anchor="ctr">
            <a:noAutofit/>
          </a:bodyPr>
          <a:p>
            <a:pPr algn="ctr"/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chivoBlack"/>
              </a:rPr>
              <a:t>PROGRAMA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chivoBlack"/>
            </a:endParaRPr>
          </a:p>
        </p:txBody>
      </p:sp>
      <p:grpSp>
        <p:nvGrpSpPr>
          <p:cNvPr id="619" name=""/>
          <p:cNvGrpSpPr/>
          <p:nvPr/>
        </p:nvGrpSpPr>
        <p:grpSpPr>
          <a:xfrm>
            <a:off x="1677600" y="2447280"/>
            <a:ext cx="190800" cy="190800"/>
            <a:chOff x="1677600" y="2447280"/>
            <a:chExt cx="190800" cy="190800"/>
          </a:xfrm>
        </p:grpSpPr>
        <p:sp>
          <p:nvSpPr>
            <p:cNvPr id="620" name=""/>
            <p:cNvSpPr/>
            <p:nvPr/>
          </p:nvSpPr>
          <p:spPr>
            <a:xfrm flipV="1">
              <a:off x="1772640" y="2447280"/>
              <a:ext cx="95760" cy="19080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14040" rIns="14040" bIns="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1" name=""/>
            <p:cNvSpPr/>
            <p:nvPr/>
          </p:nvSpPr>
          <p:spPr>
            <a:xfrm flipH="1" flipV="1">
              <a:off x="1772640" y="2447280"/>
              <a:ext cx="360" cy="19044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-14040" rIns="14040" bIns="-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2" name=""/>
            <p:cNvSpPr/>
            <p:nvPr/>
          </p:nvSpPr>
          <p:spPr>
            <a:xfrm flipH="1" flipV="1">
              <a:off x="1677600" y="2447280"/>
              <a:ext cx="95400" cy="190800"/>
            </a:xfrm>
            <a:prstGeom prst="line">
              <a:avLst/>
            </a:prstGeom>
            <a:ln w="28440">
              <a:solidFill>
                <a:srgbClr val="11111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14040" rIns="14040" bIns="1404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cxnSp>
        <p:nvCxnSpPr>
          <p:cNvPr id="623" name=""/>
          <p:cNvCxnSpPr>
            <a:stCxn id="619" idx="2"/>
            <a:endCxn id="618" idx="1"/>
          </p:cNvCxnSpPr>
          <p:nvPr/>
        </p:nvCxnSpPr>
        <p:spPr>
          <a:xfrm flipH="1" rot="16200000">
            <a:off x="3148560" y="1262160"/>
            <a:ext cx="695880" cy="3447360"/>
          </a:xfrm>
          <a:prstGeom prst="bentConnector2">
            <a:avLst/>
          </a:prstGeom>
          <a:ln w="291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0" y="0"/>
            <a:ext cx="12191040" cy="6857280"/>
          </a:xfrm>
          <a:custGeom>
            <a:avLst/>
            <a:gdLst>
              <a:gd name="textAreaLeft" fmla="*/ 0 w 12191040"/>
              <a:gd name="textAreaRight" fmla="*/ 12191760 w 1219104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0" y="2520"/>
            <a:ext cx="12182040" cy="6852240"/>
          </a:xfrm>
          <a:custGeom>
            <a:avLst/>
            <a:gdLst>
              <a:gd name="textAreaLeft" fmla="*/ 0 w 12182040"/>
              <a:gd name="textAreaRight" fmla="*/ 12182760 w 12182040"/>
              <a:gd name="textAreaTop" fmla="*/ 0 h 6852240"/>
              <a:gd name="textAreaBottom" fmla="*/ 6852960 h 685224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637560" y="1201680"/>
            <a:ext cx="10906920" cy="4716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47160"/>
              <a:gd name="textAreaBottom" fmla="*/ 47880 h 4716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656640" y="1458720"/>
            <a:ext cx="1902960" cy="504000"/>
          </a:xfrm>
          <a:custGeom>
            <a:avLst/>
            <a:gdLst>
              <a:gd name="textAreaLeft" fmla="*/ 0 w 1902960"/>
              <a:gd name="textAreaRight" fmla="*/ 1903680 w 1902960"/>
              <a:gd name="textAreaTop" fmla="*/ 0 h 504000"/>
              <a:gd name="textAreaBottom" fmla="*/ 504720 h 504000"/>
            </a:gdLst>
            <a:ahLst/>
            <a:cxnLst/>
            <a:rect l="textAreaLeft" t="textAreaTop" r="textAreaRight" b="textAreaBottom"/>
            <a:pathLst>
              <a:path w="5288" h="1402">
                <a:moveTo>
                  <a:pt x="0" y="0"/>
                </a:moveTo>
                <a:lnTo>
                  <a:pt x="5288" y="0"/>
                </a:lnTo>
                <a:lnTo>
                  <a:pt x="5288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2559960" y="1458720"/>
            <a:ext cx="3321360" cy="504000"/>
          </a:xfrm>
          <a:custGeom>
            <a:avLst/>
            <a:gdLst>
              <a:gd name="textAreaLeft" fmla="*/ 0 w 3321360"/>
              <a:gd name="textAreaRight" fmla="*/ 3322080 w 3321360"/>
              <a:gd name="textAreaTop" fmla="*/ 0 h 504000"/>
              <a:gd name="textAreaBottom" fmla="*/ 504720 h 504000"/>
            </a:gdLst>
            <a:ahLst/>
            <a:cxnLst/>
            <a:rect l="textAreaLeft" t="textAreaTop" r="textAreaRight" b="textAreaBottom"/>
            <a:pathLst>
              <a:path w="9228" h="1402">
                <a:moveTo>
                  <a:pt x="0" y="0"/>
                </a:moveTo>
                <a:lnTo>
                  <a:pt x="9228" y="0"/>
                </a:lnTo>
                <a:lnTo>
                  <a:pt x="9228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5881680" y="1458720"/>
            <a:ext cx="5643720" cy="504000"/>
          </a:xfrm>
          <a:custGeom>
            <a:avLst/>
            <a:gdLst>
              <a:gd name="textAreaLeft" fmla="*/ 0 w 5643720"/>
              <a:gd name="textAreaRight" fmla="*/ 5644440 w 5643720"/>
              <a:gd name="textAreaTop" fmla="*/ 0 h 504000"/>
              <a:gd name="textAreaBottom" fmla="*/ 504720 h 504000"/>
            </a:gdLst>
            <a:ahLst/>
            <a:cxnLst/>
            <a:rect l="textAreaLeft" t="textAreaTop" r="textAreaRight" b="textAreaBottom"/>
            <a:pathLst>
              <a:path w="15679" h="1402">
                <a:moveTo>
                  <a:pt x="0" y="0"/>
                </a:moveTo>
                <a:lnTo>
                  <a:pt x="15679" y="0"/>
                </a:lnTo>
                <a:lnTo>
                  <a:pt x="15679" y="1402"/>
                </a:lnTo>
                <a:lnTo>
                  <a:pt x="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656640" y="1963080"/>
            <a:ext cx="1902960" cy="799200"/>
          </a:xfrm>
          <a:custGeom>
            <a:avLst/>
            <a:gdLst>
              <a:gd name="textAreaLeft" fmla="*/ 0 w 1902960"/>
              <a:gd name="textAreaRight" fmla="*/ 1903680 w 190296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5288" h="2222">
                <a:moveTo>
                  <a:pt x="0" y="0"/>
                </a:moveTo>
                <a:lnTo>
                  <a:pt x="5288" y="0"/>
                </a:lnTo>
                <a:lnTo>
                  <a:pt x="5288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559960" y="1963080"/>
            <a:ext cx="3321360" cy="799200"/>
          </a:xfrm>
          <a:custGeom>
            <a:avLst/>
            <a:gdLst>
              <a:gd name="textAreaLeft" fmla="*/ 0 w 3321360"/>
              <a:gd name="textAreaRight" fmla="*/ 3322080 w 332136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9228" h="2222">
                <a:moveTo>
                  <a:pt x="0" y="0"/>
                </a:moveTo>
                <a:lnTo>
                  <a:pt x="9228" y="0"/>
                </a:lnTo>
                <a:lnTo>
                  <a:pt x="9228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5881680" y="1963080"/>
            <a:ext cx="5643720" cy="799200"/>
          </a:xfrm>
          <a:custGeom>
            <a:avLst/>
            <a:gdLst>
              <a:gd name="textAreaLeft" fmla="*/ 0 w 5643720"/>
              <a:gd name="textAreaRight" fmla="*/ 5644440 w 564372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15679" h="2222">
                <a:moveTo>
                  <a:pt x="0" y="0"/>
                </a:moveTo>
                <a:lnTo>
                  <a:pt x="15679" y="0"/>
                </a:lnTo>
                <a:lnTo>
                  <a:pt x="15679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656640" y="2762640"/>
            <a:ext cx="1902960" cy="808560"/>
          </a:xfrm>
          <a:custGeom>
            <a:avLst/>
            <a:gdLst>
              <a:gd name="textAreaLeft" fmla="*/ 0 w 1902960"/>
              <a:gd name="textAreaRight" fmla="*/ 1903680 w 1902960"/>
              <a:gd name="textAreaTop" fmla="*/ 0 h 808560"/>
              <a:gd name="textAreaBottom" fmla="*/ 809280 h 808560"/>
            </a:gdLst>
            <a:ahLst/>
            <a:cxnLst/>
            <a:rect l="textAreaLeft" t="textAreaTop" r="textAreaRight" b="textAreaBottom"/>
            <a:pathLst>
              <a:path w="5288" h="2248">
                <a:moveTo>
                  <a:pt x="0" y="0"/>
                </a:moveTo>
                <a:lnTo>
                  <a:pt x="5288" y="0"/>
                </a:lnTo>
                <a:lnTo>
                  <a:pt x="5288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2559960" y="2762640"/>
            <a:ext cx="3321360" cy="808560"/>
          </a:xfrm>
          <a:custGeom>
            <a:avLst/>
            <a:gdLst>
              <a:gd name="textAreaLeft" fmla="*/ 0 w 3321360"/>
              <a:gd name="textAreaRight" fmla="*/ 3322080 w 3321360"/>
              <a:gd name="textAreaTop" fmla="*/ 0 h 808560"/>
              <a:gd name="textAreaBottom" fmla="*/ 809280 h 808560"/>
            </a:gdLst>
            <a:ahLst/>
            <a:cxnLst/>
            <a:rect l="textAreaLeft" t="textAreaTop" r="textAreaRight" b="textAreaBottom"/>
            <a:pathLst>
              <a:path w="9228" h="2248">
                <a:moveTo>
                  <a:pt x="0" y="0"/>
                </a:moveTo>
                <a:lnTo>
                  <a:pt x="9228" y="0"/>
                </a:lnTo>
                <a:lnTo>
                  <a:pt x="9228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5881680" y="2762640"/>
            <a:ext cx="5643720" cy="808560"/>
          </a:xfrm>
          <a:custGeom>
            <a:avLst/>
            <a:gdLst>
              <a:gd name="textAreaLeft" fmla="*/ 0 w 5643720"/>
              <a:gd name="textAreaRight" fmla="*/ 5644440 w 5643720"/>
              <a:gd name="textAreaTop" fmla="*/ 0 h 808560"/>
              <a:gd name="textAreaBottom" fmla="*/ 809280 h 808560"/>
            </a:gdLst>
            <a:ahLst/>
            <a:cxnLst/>
            <a:rect l="textAreaLeft" t="textAreaTop" r="textAreaRight" b="textAreaBottom"/>
            <a:pathLst>
              <a:path w="15679" h="2248">
                <a:moveTo>
                  <a:pt x="0" y="0"/>
                </a:moveTo>
                <a:lnTo>
                  <a:pt x="15679" y="0"/>
                </a:lnTo>
                <a:lnTo>
                  <a:pt x="15679" y="2248"/>
                </a:lnTo>
                <a:lnTo>
                  <a:pt x="0" y="2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637560" y="1449000"/>
            <a:ext cx="28080" cy="523080"/>
          </a:xfrm>
          <a:custGeom>
            <a:avLst/>
            <a:gdLst>
              <a:gd name="textAreaLeft" fmla="*/ 0 w 28080"/>
              <a:gd name="textAreaRight" fmla="*/ 28800 w 28080"/>
              <a:gd name="textAreaTop" fmla="*/ 0 h 523080"/>
              <a:gd name="textAreaBottom" fmla="*/ 523800 h 52308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637560" y="1449000"/>
            <a:ext cx="1941120" cy="28440"/>
          </a:xfrm>
          <a:custGeom>
            <a:avLst/>
            <a:gdLst>
              <a:gd name="textAreaLeft" fmla="*/ 0 w 1941120"/>
              <a:gd name="textAreaRight" fmla="*/ 1941840 w 194112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5394" h="81">
                <a:moveTo>
                  <a:pt x="0" y="0"/>
                </a:moveTo>
                <a:lnTo>
                  <a:pt x="5394" y="0"/>
                </a:lnTo>
                <a:lnTo>
                  <a:pt x="539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550600" y="1449000"/>
            <a:ext cx="28080" cy="523080"/>
          </a:xfrm>
          <a:custGeom>
            <a:avLst/>
            <a:gdLst>
              <a:gd name="textAreaLeft" fmla="*/ 0 w 28080"/>
              <a:gd name="textAreaRight" fmla="*/ 28800 w 28080"/>
              <a:gd name="textAreaTop" fmla="*/ 0 h 523080"/>
              <a:gd name="textAreaBottom" fmla="*/ 523800 h 52308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579040" y="1449000"/>
            <a:ext cx="3321360" cy="28440"/>
          </a:xfrm>
          <a:custGeom>
            <a:avLst/>
            <a:gdLst>
              <a:gd name="textAreaLeft" fmla="*/ 0 w 3321360"/>
              <a:gd name="textAreaRight" fmla="*/ 3322080 w 332136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9228" h="81">
                <a:moveTo>
                  <a:pt x="0" y="0"/>
                </a:moveTo>
                <a:lnTo>
                  <a:pt x="9228" y="0"/>
                </a:lnTo>
                <a:lnTo>
                  <a:pt x="9228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5872320" y="1449000"/>
            <a:ext cx="28080" cy="523080"/>
          </a:xfrm>
          <a:custGeom>
            <a:avLst/>
            <a:gdLst>
              <a:gd name="textAreaLeft" fmla="*/ 0 w 28080"/>
              <a:gd name="textAreaRight" fmla="*/ 28800 w 28080"/>
              <a:gd name="textAreaTop" fmla="*/ 0 h 523080"/>
              <a:gd name="textAreaBottom" fmla="*/ 523800 h 52308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5900760" y="1449000"/>
            <a:ext cx="5643720" cy="28440"/>
          </a:xfrm>
          <a:custGeom>
            <a:avLst/>
            <a:gdLst>
              <a:gd name="textAreaLeft" fmla="*/ 0 w 5643720"/>
              <a:gd name="textAreaRight" fmla="*/ 5644440 w 564372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15679" h="81">
                <a:moveTo>
                  <a:pt x="0" y="0"/>
                </a:moveTo>
                <a:lnTo>
                  <a:pt x="15679" y="0"/>
                </a:lnTo>
                <a:lnTo>
                  <a:pt x="15679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11516400" y="1449000"/>
            <a:ext cx="28080" cy="523080"/>
          </a:xfrm>
          <a:custGeom>
            <a:avLst/>
            <a:gdLst>
              <a:gd name="textAreaLeft" fmla="*/ 0 w 28080"/>
              <a:gd name="textAreaRight" fmla="*/ 28800 w 28080"/>
              <a:gd name="textAreaTop" fmla="*/ 0 h 523080"/>
              <a:gd name="textAreaBottom" fmla="*/ 523800 h 523080"/>
            </a:gdLst>
            <a:ahLst/>
            <a:cxnLst/>
            <a:rect l="textAreaLeft" t="textAreaTop" r="textAreaRight" b="textAreaBottom"/>
            <a:pathLst>
              <a:path w="80" h="1455">
                <a:moveTo>
                  <a:pt x="0" y="0"/>
                </a:moveTo>
                <a:lnTo>
                  <a:pt x="80" y="0"/>
                </a:lnTo>
                <a:lnTo>
                  <a:pt x="80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637560" y="1944000"/>
            <a:ext cx="1941120" cy="28080"/>
          </a:xfrm>
          <a:custGeom>
            <a:avLst/>
            <a:gdLst>
              <a:gd name="textAreaLeft" fmla="*/ 0 w 1941120"/>
              <a:gd name="textAreaRight" fmla="*/ 1941840 w 1941120"/>
              <a:gd name="textAreaTop" fmla="*/ 0 h 28080"/>
              <a:gd name="textAreaBottom" fmla="*/ 28800 h 28080"/>
            </a:gdLst>
            <a:ahLst/>
            <a:cxnLst/>
            <a:rect l="textAreaLeft" t="textAreaTop" r="textAreaRight" b="textAreaBottom"/>
            <a:pathLst>
              <a:path w="5394" h="80">
                <a:moveTo>
                  <a:pt x="0" y="0"/>
                </a:moveTo>
                <a:lnTo>
                  <a:pt x="5394" y="0"/>
                </a:lnTo>
                <a:lnTo>
                  <a:pt x="539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579040" y="1944000"/>
            <a:ext cx="3321360" cy="28080"/>
          </a:xfrm>
          <a:custGeom>
            <a:avLst/>
            <a:gdLst>
              <a:gd name="textAreaLeft" fmla="*/ 0 w 3321360"/>
              <a:gd name="textAreaRight" fmla="*/ 3322080 w 3321360"/>
              <a:gd name="textAreaTop" fmla="*/ 0 h 28080"/>
              <a:gd name="textAreaBottom" fmla="*/ 28800 h 28080"/>
            </a:gdLst>
            <a:ahLst/>
            <a:cxnLst/>
            <a:rect l="textAreaLeft" t="textAreaTop" r="textAreaRight" b="textAreaBottom"/>
            <a:pathLst>
              <a:path w="9228" h="80">
                <a:moveTo>
                  <a:pt x="0" y="0"/>
                </a:moveTo>
                <a:lnTo>
                  <a:pt x="9228" y="0"/>
                </a:lnTo>
                <a:lnTo>
                  <a:pt x="9228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5900760" y="1944000"/>
            <a:ext cx="5643720" cy="28080"/>
          </a:xfrm>
          <a:custGeom>
            <a:avLst/>
            <a:gdLst>
              <a:gd name="textAreaLeft" fmla="*/ 0 w 5643720"/>
              <a:gd name="textAreaRight" fmla="*/ 5644440 w 5643720"/>
              <a:gd name="textAreaTop" fmla="*/ 0 h 28080"/>
              <a:gd name="textAreaBottom" fmla="*/ 28800 h 28080"/>
            </a:gdLst>
            <a:ahLst/>
            <a:cxnLst/>
            <a:rect l="textAreaLeft" t="textAreaTop" r="textAreaRight" b="textAreaBottom"/>
            <a:pathLst>
              <a:path w="15679" h="80">
                <a:moveTo>
                  <a:pt x="0" y="0"/>
                </a:moveTo>
                <a:lnTo>
                  <a:pt x="15679" y="0"/>
                </a:lnTo>
                <a:lnTo>
                  <a:pt x="1567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637560" y="1972440"/>
            <a:ext cx="28080" cy="808920"/>
          </a:xfrm>
          <a:custGeom>
            <a:avLst/>
            <a:gdLst>
              <a:gd name="textAreaLeft" fmla="*/ 0 w 28080"/>
              <a:gd name="textAreaRight" fmla="*/ 28800 w 28080"/>
              <a:gd name="textAreaTop" fmla="*/ 0 h 808920"/>
              <a:gd name="textAreaBottom" fmla="*/ 809640 h 80892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550600" y="1972440"/>
            <a:ext cx="28080" cy="808920"/>
          </a:xfrm>
          <a:custGeom>
            <a:avLst/>
            <a:gdLst>
              <a:gd name="textAreaLeft" fmla="*/ 0 w 28080"/>
              <a:gd name="textAreaRight" fmla="*/ 28800 w 28080"/>
              <a:gd name="textAreaTop" fmla="*/ 0 h 808920"/>
              <a:gd name="textAreaBottom" fmla="*/ 809640 h 80892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872320" y="1972440"/>
            <a:ext cx="28080" cy="808920"/>
          </a:xfrm>
          <a:custGeom>
            <a:avLst/>
            <a:gdLst>
              <a:gd name="textAreaLeft" fmla="*/ 0 w 28080"/>
              <a:gd name="textAreaRight" fmla="*/ 28800 w 28080"/>
              <a:gd name="textAreaTop" fmla="*/ 0 h 808920"/>
              <a:gd name="textAreaBottom" fmla="*/ 809640 h 80892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11516400" y="1972440"/>
            <a:ext cx="28080" cy="808920"/>
          </a:xfrm>
          <a:custGeom>
            <a:avLst/>
            <a:gdLst>
              <a:gd name="textAreaLeft" fmla="*/ 0 w 28080"/>
              <a:gd name="textAreaRight" fmla="*/ 28800 w 28080"/>
              <a:gd name="textAreaTop" fmla="*/ 0 h 808920"/>
              <a:gd name="textAreaBottom" fmla="*/ 809640 h 808920"/>
            </a:gdLst>
            <a:ahLst/>
            <a:cxnLst/>
            <a:rect l="textAreaLeft" t="textAreaTop" r="textAreaRight" b="textAreaBottom"/>
            <a:pathLst>
              <a:path w="80" h="2249">
                <a:moveTo>
                  <a:pt x="0" y="0"/>
                </a:moveTo>
                <a:lnTo>
                  <a:pt x="80" y="0"/>
                </a:lnTo>
                <a:lnTo>
                  <a:pt x="80" y="2249"/>
                </a:lnTo>
                <a:lnTo>
                  <a:pt x="0" y="2249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37560" y="2781720"/>
            <a:ext cx="28080" cy="799200"/>
          </a:xfrm>
          <a:custGeom>
            <a:avLst/>
            <a:gdLst>
              <a:gd name="textAreaLeft" fmla="*/ 0 w 28080"/>
              <a:gd name="textAreaRight" fmla="*/ 28800 w 280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37560" y="2752920"/>
            <a:ext cx="1941120" cy="28440"/>
          </a:xfrm>
          <a:custGeom>
            <a:avLst/>
            <a:gdLst>
              <a:gd name="textAreaLeft" fmla="*/ 0 w 1941120"/>
              <a:gd name="textAreaRight" fmla="*/ 1941840 w 194112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5394" h="81">
                <a:moveTo>
                  <a:pt x="0" y="0"/>
                </a:moveTo>
                <a:lnTo>
                  <a:pt x="5394" y="0"/>
                </a:lnTo>
                <a:lnTo>
                  <a:pt x="539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2550600" y="2781720"/>
            <a:ext cx="28080" cy="799200"/>
          </a:xfrm>
          <a:custGeom>
            <a:avLst/>
            <a:gdLst>
              <a:gd name="textAreaLeft" fmla="*/ 0 w 28080"/>
              <a:gd name="textAreaRight" fmla="*/ 28800 w 280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579040" y="2752920"/>
            <a:ext cx="3321360" cy="28440"/>
          </a:xfrm>
          <a:custGeom>
            <a:avLst/>
            <a:gdLst>
              <a:gd name="textAreaLeft" fmla="*/ 0 w 3321360"/>
              <a:gd name="textAreaRight" fmla="*/ 3322080 w 332136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9228" h="81">
                <a:moveTo>
                  <a:pt x="0" y="0"/>
                </a:moveTo>
                <a:lnTo>
                  <a:pt x="9228" y="0"/>
                </a:lnTo>
                <a:lnTo>
                  <a:pt x="9228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5872320" y="2781720"/>
            <a:ext cx="28080" cy="799200"/>
          </a:xfrm>
          <a:custGeom>
            <a:avLst/>
            <a:gdLst>
              <a:gd name="textAreaLeft" fmla="*/ 0 w 28080"/>
              <a:gd name="textAreaRight" fmla="*/ 28800 w 280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5900760" y="2752920"/>
            <a:ext cx="5643720" cy="28440"/>
          </a:xfrm>
          <a:custGeom>
            <a:avLst/>
            <a:gdLst>
              <a:gd name="textAreaLeft" fmla="*/ 0 w 5643720"/>
              <a:gd name="textAreaRight" fmla="*/ 5644440 w 564372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15679" h="81">
                <a:moveTo>
                  <a:pt x="0" y="0"/>
                </a:moveTo>
                <a:lnTo>
                  <a:pt x="15679" y="0"/>
                </a:lnTo>
                <a:lnTo>
                  <a:pt x="15679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1516400" y="2781720"/>
            <a:ext cx="28080" cy="799200"/>
          </a:xfrm>
          <a:custGeom>
            <a:avLst/>
            <a:gdLst>
              <a:gd name="textAreaLeft" fmla="*/ 0 w 28080"/>
              <a:gd name="textAreaRight" fmla="*/ 28800 w 28080"/>
              <a:gd name="textAreaTop" fmla="*/ 0 h 799200"/>
              <a:gd name="textAreaBottom" fmla="*/ 799920 h 799200"/>
            </a:gdLst>
            <a:ahLst/>
            <a:cxnLst/>
            <a:rect l="textAreaLeft" t="textAreaTop" r="textAreaRight" b="textAreaBottom"/>
            <a:pathLst>
              <a:path w="80" h="2222">
                <a:moveTo>
                  <a:pt x="0" y="0"/>
                </a:moveTo>
                <a:lnTo>
                  <a:pt x="80" y="0"/>
                </a:lnTo>
                <a:lnTo>
                  <a:pt x="8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37560" y="3552480"/>
            <a:ext cx="1941120" cy="28440"/>
          </a:xfrm>
          <a:custGeom>
            <a:avLst/>
            <a:gdLst>
              <a:gd name="textAreaLeft" fmla="*/ 0 w 1941120"/>
              <a:gd name="textAreaRight" fmla="*/ 1941840 w 194112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5394" h="81">
                <a:moveTo>
                  <a:pt x="0" y="0"/>
                </a:moveTo>
                <a:lnTo>
                  <a:pt x="5394" y="0"/>
                </a:lnTo>
                <a:lnTo>
                  <a:pt x="539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579040" y="3552480"/>
            <a:ext cx="3321360" cy="28440"/>
          </a:xfrm>
          <a:custGeom>
            <a:avLst/>
            <a:gdLst>
              <a:gd name="textAreaLeft" fmla="*/ 0 w 3321360"/>
              <a:gd name="textAreaRight" fmla="*/ 3322080 w 332136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9228" h="81">
                <a:moveTo>
                  <a:pt x="0" y="0"/>
                </a:moveTo>
                <a:lnTo>
                  <a:pt x="9228" y="0"/>
                </a:lnTo>
                <a:lnTo>
                  <a:pt x="9228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5900760" y="3552480"/>
            <a:ext cx="5643720" cy="28440"/>
          </a:xfrm>
          <a:custGeom>
            <a:avLst/>
            <a:gdLst>
              <a:gd name="textAreaLeft" fmla="*/ 0 w 5643720"/>
              <a:gd name="textAreaRight" fmla="*/ 5644440 w 5643720"/>
              <a:gd name="textAreaTop" fmla="*/ 0 h 28440"/>
              <a:gd name="textAreaBottom" fmla="*/ 29160 h 28440"/>
            </a:gdLst>
            <a:ahLst/>
            <a:cxnLst/>
            <a:rect l="textAreaLeft" t="textAreaTop" r="textAreaRight" b="textAreaBottom"/>
            <a:pathLst>
              <a:path w="15679" h="81">
                <a:moveTo>
                  <a:pt x="0" y="0"/>
                </a:moveTo>
                <a:lnTo>
                  <a:pt x="15679" y="0"/>
                </a:lnTo>
                <a:lnTo>
                  <a:pt x="15679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639360" y="650880"/>
            <a:ext cx="93776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CHEN VS. PATA DE GALLO: CARDINALIDAD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2716200" y="1557720"/>
            <a:ext cx="5770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CHEN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6035040" y="1557720"/>
            <a:ext cx="16005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PATA DE GALLO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804960" y="2214360"/>
            <a:ext cx="11912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La relación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2716200" y="2062080"/>
            <a:ext cx="24696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Rombo conectado por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2716200" y="2366640"/>
            <a:ext cx="639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líneas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6035040" y="2214360"/>
            <a:ext cx="32598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Línea directa entre entidades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804960" y="2861640"/>
            <a:ext cx="256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804960" y="3175560"/>
            <a:ext cx="13600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cardinalidad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2716200" y="2861640"/>
            <a:ext cx="29116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Etiqueta (1, N o M) sobre la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2716200" y="3175560"/>
            <a:ext cx="5191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línea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6035040" y="2861640"/>
            <a:ext cx="5227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Símbolos en los extremos (barra = uno, tridente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6035040" y="3175560"/>
            <a:ext cx="11595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= muchos)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0"/>
            <a:ext cx="12191040" cy="6857280"/>
          </a:xfrm>
          <a:custGeom>
            <a:avLst/>
            <a:gdLst>
              <a:gd name="textAreaLeft" fmla="*/ 0 w 12191040"/>
              <a:gd name="textAreaRight" fmla="*/ 12191760 w 1219104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0" y="2520"/>
            <a:ext cx="12182040" cy="6852240"/>
          </a:xfrm>
          <a:custGeom>
            <a:avLst/>
            <a:gdLst>
              <a:gd name="textAreaLeft" fmla="*/ 0 w 12182040"/>
              <a:gd name="textAreaRight" fmla="*/ 12182760 w 12182040"/>
              <a:gd name="textAreaTop" fmla="*/ 0 h 6852240"/>
              <a:gd name="textAreaBottom" fmla="*/ 6852960 h 6852240"/>
            </a:gdLst>
            <a:ahLst/>
            <a:cxnLst/>
            <a:rect l="textAreaLeft" t="textAreaTop" r="textAreaRight" b="textAreaBottom"/>
            <a:pathLst>
              <a:path w="33841" h="19036">
                <a:moveTo>
                  <a:pt x="0" y="0"/>
                </a:moveTo>
                <a:lnTo>
                  <a:pt x="33841" y="0"/>
                </a:lnTo>
                <a:lnTo>
                  <a:pt x="33841" y="19036"/>
                </a:lnTo>
                <a:lnTo>
                  <a:pt x="0" y="19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637560" y="1706040"/>
            <a:ext cx="3302280" cy="361440"/>
          </a:xfrm>
          <a:custGeom>
            <a:avLst/>
            <a:gdLst>
              <a:gd name="textAreaLeft" fmla="*/ 0 w 3302280"/>
              <a:gd name="textAreaRight" fmla="*/ 3303000 w 3302280"/>
              <a:gd name="textAreaTop" fmla="*/ 0 h 361440"/>
              <a:gd name="textAreaBottom" fmla="*/ 362160 h 361440"/>
            </a:gdLst>
            <a:ahLst/>
            <a:cxnLst/>
            <a:rect l="textAreaLeft" t="textAreaTop" r="textAreaRight" b="textAreaBottom"/>
            <a:pathLst>
              <a:path w="9175" h="1006">
                <a:moveTo>
                  <a:pt x="0" y="0"/>
                </a:moveTo>
                <a:lnTo>
                  <a:pt x="9175" y="0"/>
                </a:lnTo>
                <a:lnTo>
                  <a:pt x="917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637560" y="3067200"/>
            <a:ext cx="10906920" cy="4716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47160"/>
              <a:gd name="textAreaBottom" fmla="*/ 47880 h 47160"/>
            </a:gdLst>
            <a:ahLst/>
            <a:cxnLst/>
            <a:rect l="textAreaLeft" t="textAreaTop" r="textAreaRight" b="textAreaBottom"/>
            <a:pathLst>
              <a:path w="30299" h="133">
                <a:moveTo>
                  <a:pt x="0" y="0"/>
                </a:moveTo>
                <a:lnTo>
                  <a:pt x="30299" y="0"/>
                </a:lnTo>
                <a:lnTo>
                  <a:pt x="30299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753840" y="1766520"/>
            <a:ext cx="26272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aceGrotesk"/>
                <a:ea typeface="SpaceGrotesk"/>
              </a:rPr>
              <a:t>MÓDULO 2 · SESIÓN 5 · CIERRE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639360" y="2368440"/>
            <a:ext cx="704304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4050" b="0" u="none" strike="noStrike">
                <a:solidFill>
                  <a:srgbClr val="111111"/>
                </a:solidFill>
                <a:effectLst/>
                <a:uFillTx/>
                <a:latin typeface="ArchivoBlack"/>
                <a:ea typeface="ArchivoBlack"/>
              </a:rPr>
              <a:t>ESO FUE TODO POR HOY</a:t>
            </a:r>
            <a:endParaRPr lang="en-GB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639360" y="3594240"/>
            <a:ext cx="105350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Vimos los componentes del modelo E-R: entidades, atributos y sus tres ejes de clasificación, dominios, el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639360" y="3889080"/>
            <a:ext cx="95698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atributo clave, las dos notaciones — Chen y pata de gallo —, y una primera vista de relaciones y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637560" y="4675680"/>
            <a:ext cx="10906920" cy="684720"/>
          </a:xfrm>
          <a:custGeom>
            <a:avLst/>
            <a:gdLst>
              <a:gd name="textAreaLeft" fmla="*/ 0 w 10906920"/>
              <a:gd name="textAreaRight" fmla="*/ 10907640 w 10906920"/>
              <a:gd name="textAreaTop" fmla="*/ 0 h 684720"/>
              <a:gd name="textAreaBottom" fmla="*/ 685440 h 684720"/>
            </a:gdLst>
            <a:ahLst/>
            <a:cxnLst/>
            <a:rect l="textAreaLeft" t="textAreaTop" r="textAreaRight" b="textAreaBottom"/>
            <a:pathLst>
              <a:path w="30299" h="1904">
                <a:moveTo>
                  <a:pt x="0" y="0"/>
                </a:moveTo>
                <a:lnTo>
                  <a:pt x="30299" y="0"/>
                </a:lnTo>
                <a:lnTo>
                  <a:pt x="30299" y="1904"/>
                </a:lnTo>
                <a:lnTo>
                  <a:pt x="0" y="190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639360" y="4184280"/>
            <a:ext cx="12949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SpaceGrotesk"/>
                <a:ea typeface="SpaceGrotesk"/>
              </a:rPr>
              <a:t>cardinalidad.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765000" y="4749120"/>
            <a:ext cx="100911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chivoBlack"/>
                <a:ea typeface="ArchivoBlack"/>
              </a:rPr>
              <a:t>SIGUIENTE: S6 — TALLER: RELACIONES, CARDINALIDAD, PARTICIPACIÓN Y ENTIDADES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765000" y="5034600"/>
            <a:ext cx="10670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chivoBlack"/>
                <a:ea typeface="ArchivoBlack"/>
              </a:rPr>
              <a:t>DÉBILES.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2026-09-18T17:17:31Z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