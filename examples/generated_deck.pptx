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commentAuthors.xml" ContentType="application/vnd.openxmlformats-officedocument.presentationml.commentAuthors+xml"/>
  <Override PartName="/ppt/media/image2.svg" ContentType="image/svg"/>
  <Override PartName="/ppt/media/image6.svg" ContentType="image/svg"/>
  <Override PartName="/ppt/media/image4.svg" ContentType="image/svg"/>
  <Override PartName="/ppt/media/image8.svg" ContentType="image/svg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comments/comment10.xml" ContentType="application/vnd.openxmlformats-officedocument.presentationml.comments+xml"/>
  <Override PartName="/ppt/notesSlides/notesSlide1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9144000" cy="6858000"/>
  <p:notesSz cx="7559675" cy="10691813"/>
</p:presentation>
</file>

<file path=ppt/commentAuthors.xml><?xml version="1.0" encoding="utf-8"?>
<p:cmAuthorLst xmlns:p="http://schemas.openxmlformats.org/presentationml/2006/main">
  <p:cmAuthor id="0" name="slidebuilder" initials="S" lastIdx="1" clrIdx="0"/>
</p:cmAuthorLst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<Relationship Id="rId20" Type="http://schemas.openxmlformats.org/officeDocument/2006/relationships/commentAuthors" Target="commentAuthors.xml"/>
</Relationships>
</file>

<file path=ppt/comments/comment10.xml><?xml version="1.0" encoding="utf-8"?>
<p:cmLst xmlns:p="http://schemas.openxmlformats.org/presentationml/2006/main">
  <p:cm authorId="0" dt="2026-09-23T17:29:24.000000000" idx="1">
    <p:pos x="5398" y="0"/>
    <p:text>Animations to build by hand:
1. Table appears on click, one row at a time.
2. "On Track" callout zooms in after the last row.</p:text>
  </p:cm>
</p:cmLst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8836345-A391-42AE-93FA-77E9F4964EA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Start with the headline: we are on track for the release date.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 Integration is finished and already running in staging.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 Redesign is about 60% done; the new dashboard ships next sprint.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Testing starts once the redesign is merged -- ask QA to confirm their dates.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3D41D2D-3A3E-49E6-969A-C2157B27B9B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43E3DB8-720B-40B0-8280-9AA80959B1F3}" type="slidenum"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sv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omments" Target="../comments/comment10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"/>
          <p:cNvSpPr/>
          <p:nvPr/>
        </p:nvSpPr>
        <p:spPr>
          <a:xfrm>
            <a:off x="457200" y="365760"/>
            <a:ext cx="8228520" cy="82188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Learning to use AI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" name=""/>
          <p:cNvGraphicFramePr/>
          <p:nvPr/>
        </p:nvGraphicFramePr>
        <p:xfrm>
          <a:off x="457200" y="1463040"/>
          <a:ext cx="3657600" cy="1370880"/>
        </p:xfrm>
        <a:graphic>
          <a:graphicData uri="http://schemas.openxmlformats.org/drawingml/2006/table">
            <a:tbl>
              <a:tblPr/>
              <a:tblGrid>
                <a:gridCol w="1219320"/>
                <a:gridCol w="1219320"/>
                <a:gridCol w="1219320"/>
              </a:tblGrid>
              <a:tr h="34272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34272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Alice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72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Bob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72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Charlie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"/>
          <p:cNvGraphicFramePr/>
          <p:nvPr/>
        </p:nvGraphicFramePr>
        <p:xfrm>
          <a:off x="5029200" y="1463040"/>
          <a:ext cx="3657240" cy="109728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36576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 Science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Data Eng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"/>
          <p:cNvSpPr/>
          <p:nvPr/>
        </p:nvSpPr>
        <p:spPr>
          <a:xfrm>
            <a:off x="4114800" y="2148840"/>
            <a:ext cx="91440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31520" y="3291840"/>
            <a:ext cx="456120" cy="456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731520" y="3840480"/>
            <a:ext cx="456120" cy="456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731520" y="4389120"/>
            <a:ext cx="456120" cy="45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"/>
          <p:cNvSpPr/>
          <p:nvPr/>
        </p:nvSpPr>
        <p:spPr>
          <a:xfrm>
            <a:off x="1280160" y="3520440"/>
            <a:ext cx="1005840" cy="3657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1280160" y="4069080"/>
            <a:ext cx="10058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 flipV="1">
            <a:off x="1280160" y="4251960"/>
            <a:ext cx="1005840" cy="3657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2286000" y="3566160"/>
            <a:ext cx="1644840" cy="1096200"/>
          </a:xfrm>
          <a:prstGeom prst="ellipse">
            <a:avLst/>
          </a:prstGeom>
          <a:solidFill>
            <a:srgbClr val="70AD47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Graduates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3931920" y="4114800"/>
            <a:ext cx="10058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5029200" y="3749040"/>
            <a:ext cx="730440" cy="73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"/>
          <p:cNvSpPr/>
          <p:nvPr/>
        </p:nvSpPr>
        <p:spPr>
          <a:xfrm>
            <a:off x="5852160" y="3931920"/>
            <a:ext cx="18277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n-GB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Engineer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457200" y="5760720"/>
            <a:ext cx="8228520" cy="639000"/>
          </a:xfrm>
          <a:prstGeom prst="rect">
            <a:avLst/>
          </a:prstGeom>
          <a:solidFill>
            <a:srgbClr val="000000"/>
          </a:solidFill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Everything is possible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"/>
          <p:cNvSpPr/>
          <p:nvPr/>
        </p:nvSpPr>
        <p:spPr>
          <a:xfrm>
            <a:off x="457200" y="274320"/>
            <a:ext cx="8228520" cy="82188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Learning to use AI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" name=""/>
          <p:cNvGraphicFramePr/>
          <p:nvPr/>
        </p:nvGraphicFramePr>
        <p:xfrm>
          <a:off x="457200" y="1371600"/>
          <a:ext cx="2925720" cy="1645920"/>
        </p:xfrm>
        <a:graphic>
          <a:graphicData uri="http://schemas.openxmlformats.org/drawingml/2006/table">
            <a:tbl>
              <a:tblPr/>
              <a:tblGrid>
                <a:gridCol w="585360"/>
                <a:gridCol w="1170360"/>
                <a:gridCol w="1170360"/>
              </a:tblGrid>
              <a:tr h="41148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Grace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Alan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"/>
          <p:cNvSpPr/>
          <p:nvPr/>
        </p:nvSpPr>
        <p:spPr>
          <a:xfrm>
            <a:off x="457200" y="3063240"/>
            <a:ext cx="2925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Students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" name=""/>
          <p:cNvGraphicFramePr/>
          <p:nvPr/>
        </p:nvGraphicFramePr>
        <p:xfrm>
          <a:off x="3931920" y="1371600"/>
          <a:ext cx="2011320" cy="1309320"/>
        </p:xfrm>
        <a:graphic>
          <a:graphicData uri="http://schemas.openxmlformats.org/drawingml/2006/table">
            <a:tbl>
              <a:tblPr/>
              <a:tblGrid>
                <a:gridCol w="804600"/>
                <a:gridCol w="1207080"/>
              </a:tblGrid>
              <a:tr h="42660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2660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660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Math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"/>
          <p:cNvSpPr/>
          <p:nvPr/>
        </p:nvSpPr>
        <p:spPr>
          <a:xfrm>
            <a:off x="3931920" y="2697480"/>
            <a:ext cx="20106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Programs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 flipV="1">
            <a:off x="3383280" y="2011680"/>
            <a:ext cx="548640" cy="18288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40080" y="3657600"/>
            <a:ext cx="730440" cy="730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640080" y="4572000"/>
            <a:ext cx="730440" cy="730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640080" y="5486400"/>
            <a:ext cx="730440" cy="73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"/>
          <p:cNvSpPr/>
          <p:nvPr/>
        </p:nvSpPr>
        <p:spPr>
          <a:xfrm>
            <a:off x="1371600" y="4023360"/>
            <a:ext cx="1005840" cy="54864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1371600" y="4937760"/>
            <a:ext cx="10058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 flipV="1">
            <a:off x="1371600" y="5303520"/>
            <a:ext cx="1005840" cy="54864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2377440" y="4389120"/>
            <a:ext cx="1761480" cy="1096200"/>
          </a:xfrm>
          <a:prstGeom prst="ellipse">
            <a:avLst/>
          </a:prstGeom>
          <a:solidFill>
            <a:srgbClr val="70AD47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Graduates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4140000" y="4937760"/>
            <a:ext cx="9806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5120640" y="4389120"/>
            <a:ext cx="913320" cy="91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"/>
          <p:cNvSpPr/>
          <p:nvPr/>
        </p:nvSpPr>
        <p:spPr>
          <a:xfrm>
            <a:off x="4846320" y="5349240"/>
            <a:ext cx="1461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Engineer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6400800" y="5760720"/>
            <a:ext cx="2284920" cy="6390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Everything is possible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"/>
          <p:cNvSpPr/>
          <p:nvPr/>
        </p:nvSpPr>
        <p:spPr>
          <a:xfrm>
            <a:off x="457200" y="365760"/>
            <a:ext cx="8228520" cy="73044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Learning to use AI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6" name=""/>
          <p:cNvGraphicFramePr/>
          <p:nvPr/>
        </p:nvGraphicFramePr>
        <p:xfrm>
          <a:off x="457200" y="1280160"/>
          <a:ext cx="2925360" cy="1553400"/>
        </p:xfrm>
        <a:graphic>
          <a:graphicData uri="http://schemas.openxmlformats.org/drawingml/2006/table">
            <a:tbl>
              <a:tblPr/>
              <a:tblGrid>
                <a:gridCol w="975240"/>
                <a:gridCol w="975240"/>
                <a:gridCol w="975240"/>
              </a:tblGrid>
              <a:tr h="36576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id (INT)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 (TEXT)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 (TEXT)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Alice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Bob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Charlie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"/>
          <p:cNvSpPr/>
          <p:nvPr/>
        </p:nvSpPr>
        <p:spPr>
          <a:xfrm>
            <a:off x="457200" y="2834640"/>
            <a:ext cx="29250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DejaVu Sans"/>
              </a:rPr>
              <a:t>Students Table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8" name=""/>
          <p:cNvGraphicFramePr/>
          <p:nvPr/>
        </p:nvGraphicFramePr>
        <p:xfrm>
          <a:off x="4846320" y="1280160"/>
          <a:ext cx="2011320" cy="13086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</a:tblGrid>
              <a:tr h="39636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 (TEXT)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39636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 Basics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636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Advanced AI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"/>
          <p:cNvSpPr/>
          <p:nvPr/>
        </p:nvSpPr>
        <p:spPr>
          <a:xfrm>
            <a:off x="4846320" y="2560320"/>
            <a:ext cx="20106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DejaVu Sans"/>
              </a:rPr>
              <a:t>Programs Table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3383280" y="1828800"/>
            <a:ext cx="14630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223760" y="1188720"/>
            <a:ext cx="456120" cy="456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7223760" y="1737360"/>
            <a:ext cx="456120" cy="456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7223760" y="2286000"/>
            <a:ext cx="456120" cy="45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"/>
          <p:cNvSpPr/>
          <p:nvPr/>
        </p:nvSpPr>
        <p:spPr>
          <a:xfrm>
            <a:off x="7955280" y="1737360"/>
            <a:ext cx="821880" cy="364680"/>
          </a:xfrm>
          <a:prstGeom prst="rect">
            <a:avLst/>
          </a:prstGeom>
          <a:solidFill>
            <a:srgbClr val="70AD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Graduates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7680960" y="1920240"/>
            <a:ext cx="27432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4114800" y="3840480"/>
            <a:ext cx="1461960" cy="730440"/>
          </a:xfrm>
          <a:prstGeom prst="ellipse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AI Hub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6217920" y="3931920"/>
            <a:ext cx="639000" cy="63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"/>
          <p:cNvSpPr/>
          <p:nvPr/>
        </p:nvSpPr>
        <p:spPr>
          <a:xfrm>
            <a:off x="6126480" y="4617720"/>
            <a:ext cx="8218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DejaVu Sans"/>
              </a:rPr>
              <a:t>Engineer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5577840" y="4206240"/>
            <a:ext cx="64008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457200" y="5486400"/>
            <a:ext cx="8228520" cy="73044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Everything is possible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"/>
          <p:cNvSpPr/>
          <p:nvPr/>
        </p:nvSpPr>
        <p:spPr>
          <a:xfrm>
            <a:off x="457200" y="274320"/>
            <a:ext cx="8228520" cy="73044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Learning to use AI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2" name=""/>
          <p:cNvGraphicFramePr/>
          <p:nvPr/>
        </p:nvGraphicFramePr>
        <p:xfrm>
          <a:off x="457200" y="1280160"/>
          <a:ext cx="2925720" cy="1507680"/>
        </p:xfrm>
        <a:graphic>
          <a:graphicData uri="http://schemas.openxmlformats.org/drawingml/2006/table">
            <a:tbl>
              <a:tblPr/>
              <a:tblGrid>
                <a:gridCol w="585360"/>
                <a:gridCol w="1170360"/>
                <a:gridCol w="1170360"/>
              </a:tblGrid>
              <a:tr h="41148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0" rIns="9000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Grace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1600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Linus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" name=""/>
          <p:cNvSpPr/>
          <p:nvPr/>
        </p:nvSpPr>
        <p:spPr>
          <a:xfrm>
            <a:off x="457200" y="2971800"/>
            <a:ext cx="2925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Students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4" name=""/>
          <p:cNvGraphicFramePr/>
          <p:nvPr/>
        </p:nvGraphicFramePr>
        <p:xfrm>
          <a:off x="3840480" y="1280160"/>
          <a:ext cx="2011320" cy="1309320"/>
        </p:xfrm>
        <a:graphic>
          <a:graphicData uri="http://schemas.openxmlformats.org/drawingml/2006/table">
            <a:tbl>
              <a:tblPr/>
              <a:tblGrid>
                <a:gridCol w="670680"/>
                <a:gridCol w="1341000"/>
              </a:tblGrid>
              <a:tr h="42660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2660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660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Math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"/>
          <p:cNvSpPr/>
          <p:nvPr/>
        </p:nvSpPr>
        <p:spPr>
          <a:xfrm>
            <a:off x="3840480" y="2606040"/>
            <a:ext cx="20106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Programs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 flipV="1">
            <a:off x="3383280" y="1920240"/>
            <a:ext cx="457200" cy="18288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40080" y="3474720"/>
            <a:ext cx="730440" cy="730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640080" y="4297680"/>
            <a:ext cx="730440" cy="730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640080" y="5120640"/>
            <a:ext cx="730440" cy="73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1371600" y="3840480"/>
            <a:ext cx="1005840" cy="64008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1371600" y="4663440"/>
            <a:ext cx="10058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 flipV="1">
            <a:off x="1371600" y="4846320"/>
            <a:ext cx="1005840" cy="64008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2377440" y="4023360"/>
            <a:ext cx="1761840" cy="1279080"/>
          </a:xfrm>
          <a:prstGeom prst="ellipse">
            <a:avLst/>
          </a:prstGeom>
          <a:solidFill>
            <a:srgbClr val="70AD47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Graduates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4140000" y="4663800"/>
            <a:ext cx="9806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5120640" y="4023360"/>
            <a:ext cx="1096200" cy="109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"/>
          <p:cNvSpPr/>
          <p:nvPr/>
        </p:nvSpPr>
        <p:spPr>
          <a:xfrm>
            <a:off x="4937760" y="5166360"/>
            <a:ext cx="1461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Engineer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6400800" y="5852160"/>
            <a:ext cx="2284920" cy="5475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Everything is possible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"/>
          <p:cNvSpPr/>
          <p:nvPr/>
        </p:nvSpPr>
        <p:spPr>
          <a:xfrm>
            <a:off x="457200" y="365760"/>
            <a:ext cx="8228880" cy="73080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Learning to use AI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9" name=""/>
          <p:cNvGraphicFramePr/>
          <p:nvPr/>
        </p:nvGraphicFramePr>
        <p:xfrm>
          <a:off x="457200" y="1280160"/>
          <a:ext cx="3474000" cy="1370880"/>
        </p:xfrm>
        <a:graphic>
          <a:graphicData uri="http://schemas.openxmlformats.org/drawingml/2006/table">
            <a:tbl>
              <a:tblPr/>
              <a:tblGrid>
                <a:gridCol w="1158120"/>
                <a:gridCol w="1158120"/>
                <a:gridCol w="1158120"/>
              </a:tblGrid>
              <a:tr h="34272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34272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Alice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72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Bob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72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Charlie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0" name=""/>
          <p:cNvGraphicFramePr/>
          <p:nvPr/>
        </p:nvGraphicFramePr>
        <p:xfrm>
          <a:off x="5212080" y="1280160"/>
          <a:ext cx="3474360" cy="1097280"/>
        </p:xfrm>
        <a:graphic>
          <a:graphicData uri="http://schemas.openxmlformats.org/drawingml/2006/table">
            <a:tbl>
              <a:tblPr/>
              <a:tblGrid>
                <a:gridCol w="1737360"/>
                <a:gridCol w="1737360"/>
              </a:tblGrid>
              <a:tr h="36576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 Basics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Advanced AI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1" name=""/>
          <p:cNvSpPr/>
          <p:nvPr/>
        </p:nvSpPr>
        <p:spPr>
          <a:xfrm flipV="1">
            <a:off x="3931920" y="1828800"/>
            <a:ext cx="1280160" cy="1371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457200" y="310896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457200" y="365760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457200" y="420624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"/>
          <p:cNvSpPr/>
          <p:nvPr/>
        </p:nvSpPr>
        <p:spPr>
          <a:xfrm>
            <a:off x="1005840" y="3886200"/>
            <a:ext cx="10058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2103120" y="3429000"/>
            <a:ext cx="1096560" cy="91368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70AD47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1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Graduates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3291840" y="3886200"/>
            <a:ext cx="10058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4389120" y="3520440"/>
            <a:ext cx="1096560" cy="730800"/>
          </a:xfrm>
          <a:prstGeom prst="ellipse">
            <a:avLst/>
          </a:prstGeom>
          <a:solidFill>
            <a:srgbClr val="1F4E79"/>
          </a:solidFill>
          <a:ln w="12600">
            <a:solidFill>
              <a:srgbClr val="1F4E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Output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5577840" y="3886200"/>
            <a:ext cx="10058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0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6675120" y="3566160"/>
            <a:ext cx="730800" cy="73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" name=""/>
          <p:cNvSpPr/>
          <p:nvPr/>
        </p:nvSpPr>
        <p:spPr>
          <a:xfrm>
            <a:off x="7498080" y="3794760"/>
            <a:ext cx="10965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Engineer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457200" y="5669280"/>
            <a:ext cx="8228880" cy="730800"/>
          </a:xfrm>
          <a:prstGeom prst="rect">
            <a:avLst/>
          </a:prstGeom>
          <a:solidFill>
            <a:srgbClr val="000000"/>
          </a:solidFill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Everything is possible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"/>
          <p:cNvSpPr/>
          <p:nvPr/>
        </p:nvSpPr>
        <p:spPr>
          <a:xfrm>
            <a:off x="457200" y="274320"/>
            <a:ext cx="8228880" cy="73080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Learning to use AI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4" name=""/>
          <p:cNvGraphicFramePr/>
          <p:nvPr/>
        </p:nvGraphicFramePr>
        <p:xfrm>
          <a:off x="457200" y="1280160"/>
          <a:ext cx="2925720" cy="2011680"/>
        </p:xfrm>
        <a:graphic>
          <a:graphicData uri="http://schemas.openxmlformats.org/drawingml/2006/table">
            <a:tbl>
              <a:tblPr/>
              <a:tblGrid>
                <a:gridCol w="585360"/>
                <a:gridCol w="1170360"/>
                <a:gridCol w="1170360"/>
              </a:tblGrid>
              <a:tr h="50292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Grace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Alan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5" name=""/>
          <p:cNvSpPr/>
          <p:nvPr/>
        </p:nvSpPr>
        <p:spPr>
          <a:xfrm>
            <a:off x="457200" y="3337560"/>
            <a:ext cx="2925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Students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6" name=""/>
          <p:cNvGraphicFramePr/>
          <p:nvPr/>
        </p:nvGraphicFramePr>
        <p:xfrm>
          <a:off x="3840480" y="1280160"/>
          <a:ext cx="2194200" cy="1463400"/>
        </p:xfrm>
        <a:graphic>
          <a:graphicData uri="http://schemas.openxmlformats.org/drawingml/2006/table">
            <a:tbl>
              <a:tblPr/>
              <a:tblGrid>
                <a:gridCol w="731520"/>
                <a:gridCol w="1463040"/>
              </a:tblGrid>
              <a:tr h="48780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8780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780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7" name=""/>
          <p:cNvSpPr/>
          <p:nvPr/>
        </p:nvSpPr>
        <p:spPr>
          <a:xfrm>
            <a:off x="3840480" y="2788920"/>
            <a:ext cx="2193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Programs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 flipV="1">
            <a:off x="3383280" y="2011680"/>
            <a:ext cx="457200" cy="27432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40080" y="3840480"/>
            <a:ext cx="639360" cy="639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0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640080" y="4572000"/>
            <a:ext cx="639360" cy="639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1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640080" y="5303520"/>
            <a:ext cx="639360" cy="63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"/>
          <p:cNvSpPr/>
          <p:nvPr/>
        </p:nvSpPr>
        <p:spPr>
          <a:xfrm>
            <a:off x="2377440" y="4526280"/>
            <a:ext cx="913680" cy="91368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70AD47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2103120" y="5440680"/>
            <a:ext cx="1462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Graduates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/>
          <p:nvPr/>
        </p:nvSpPr>
        <p:spPr>
          <a:xfrm>
            <a:off x="1280160" y="4160520"/>
            <a:ext cx="1097280" cy="594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1280160" y="4892040"/>
            <a:ext cx="1097280" cy="9144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37080" rIns="99360" bIns="3708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 flipV="1">
            <a:off x="1280160" y="5212080"/>
            <a:ext cx="1097280" cy="41148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3657600" y="4526280"/>
            <a:ext cx="1096560" cy="91368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1F4E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3291840" y="4983480"/>
            <a:ext cx="36576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4754880" y="4983480"/>
            <a:ext cx="109728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5852160" y="4526280"/>
            <a:ext cx="913680" cy="91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"/>
          <p:cNvSpPr/>
          <p:nvPr/>
        </p:nvSpPr>
        <p:spPr>
          <a:xfrm>
            <a:off x="5577840" y="5440680"/>
            <a:ext cx="1462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Engineer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6400800" y="6126480"/>
            <a:ext cx="2285280" cy="4564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Everything is possible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"/>
          <p:cNvSpPr/>
          <p:nvPr/>
        </p:nvSpPr>
        <p:spPr>
          <a:xfrm>
            <a:off x="457200" y="274320"/>
            <a:ext cx="8228880" cy="73080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Learning to use AI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4" name=""/>
          <p:cNvGraphicFramePr/>
          <p:nvPr/>
        </p:nvGraphicFramePr>
        <p:xfrm>
          <a:off x="457200" y="1280160"/>
          <a:ext cx="3291480" cy="1645920"/>
        </p:xfrm>
        <a:graphic>
          <a:graphicData uri="http://schemas.openxmlformats.org/drawingml/2006/table">
            <a:tbl>
              <a:tblPr/>
              <a:tblGrid>
                <a:gridCol w="731520"/>
                <a:gridCol w="1463040"/>
                <a:gridCol w="1097280"/>
              </a:tblGrid>
              <a:tr h="41148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Grace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Linus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5" name=""/>
          <p:cNvSpPr/>
          <p:nvPr/>
        </p:nvSpPr>
        <p:spPr>
          <a:xfrm>
            <a:off x="457200" y="2971800"/>
            <a:ext cx="3291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Students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6" name=""/>
          <p:cNvGraphicFramePr/>
          <p:nvPr/>
        </p:nvGraphicFramePr>
        <p:xfrm>
          <a:off x="4206240" y="1280160"/>
          <a:ext cx="2194200" cy="1309320"/>
        </p:xfrm>
        <a:graphic>
          <a:graphicData uri="http://schemas.openxmlformats.org/drawingml/2006/table">
            <a:tbl>
              <a:tblPr/>
              <a:tblGrid>
                <a:gridCol w="877680"/>
                <a:gridCol w="1316880"/>
              </a:tblGrid>
              <a:tr h="42660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2660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660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7" name=""/>
          <p:cNvSpPr/>
          <p:nvPr/>
        </p:nvSpPr>
        <p:spPr>
          <a:xfrm>
            <a:off x="4206240" y="2606040"/>
            <a:ext cx="2193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Programs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/>
          <p:nvPr/>
        </p:nvSpPr>
        <p:spPr>
          <a:xfrm>
            <a:off x="3749040" y="2103120"/>
            <a:ext cx="45720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9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548640" y="3474720"/>
            <a:ext cx="730800" cy="730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0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548640" y="4389120"/>
            <a:ext cx="730800" cy="730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1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548640" y="5303520"/>
            <a:ext cx="730800" cy="73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"/>
          <p:cNvSpPr/>
          <p:nvPr/>
        </p:nvSpPr>
        <p:spPr>
          <a:xfrm>
            <a:off x="1280160" y="3840480"/>
            <a:ext cx="1097280" cy="73152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1280160" y="4754880"/>
            <a:ext cx="109728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 flipV="1">
            <a:off x="1280160" y="4937760"/>
            <a:ext cx="1097280" cy="73152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>
            <a:off x="2377440" y="4297680"/>
            <a:ext cx="1645200" cy="913680"/>
          </a:xfrm>
          <a:prstGeom prst="ellipse">
            <a:avLst/>
          </a:prstGeom>
          <a:solidFill>
            <a:srgbClr val="70AD47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Graduates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4023360" y="4754880"/>
            <a:ext cx="109728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5120640" y="4297680"/>
            <a:ext cx="913680" cy="91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"/>
          <p:cNvSpPr/>
          <p:nvPr/>
        </p:nvSpPr>
        <p:spPr>
          <a:xfrm>
            <a:off x="4846320" y="5257800"/>
            <a:ext cx="1462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Engineer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6217920" y="5852160"/>
            <a:ext cx="2468160" cy="5479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Everything is possible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"/>
          <p:cNvSpPr/>
          <p:nvPr/>
        </p:nvSpPr>
        <p:spPr>
          <a:xfrm>
            <a:off x="457200" y="457200"/>
            <a:ext cx="8228880" cy="91368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Team Status Update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1" name=""/>
          <p:cNvGraphicFramePr/>
          <p:nvPr/>
        </p:nvGraphicFramePr>
        <p:xfrm>
          <a:off x="457200" y="1828800"/>
          <a:ext cx="4571640" cy="4115520"/>
        </p:xfrm>
        <a:graphic>
          <a:graphicData uri="http://schemas.openxmlformats.org/drawingml/2006/table">
            <a:tbl>
              <a:tblPr/>
              <a:tblGrid>
                <a:gridCol w="3048120"/>
                <a:gridCol w="1523880"/>
              </a:tblGrid>
              <a:tr h="102888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Task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Status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102888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API Integration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Done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2888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UI Redesign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 Progress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2888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Testing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Not Started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2" name=""/>
          <p:cNvSpPr/>
          <p:nvPr/>
        </p:nvSpPr>
        <p:spPr>
          <a:xfrm>
            <a:off x="5669280" y="2286000"/>
            <a:ext cx="2742480" cy="2742480"/>
          </a:xfrm>
          <a:prstGeom prst="ellipse">
            <a:avLst/>
          </a:prstGeom>
          <a:solidFill>
            <a:srgbClr val="70AD47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On Track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"/>
          <p:cNvSpPr/>
          <p:nvPr/>
        </p:nvSpPr>
        <p:spPr>
          <a:xfrm>
            <a:off x="457200" y="457200"/>
            <a:ext cx="8228880" cy="73080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Working with multiple files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4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31520" y="2011680"/>
            <a:ext cx="1096560" cy="1279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"/>
          <p:cNvSpPr/>
          <p:nvPr/>
        </p:nvSpPr>
        <p:spPr>
          <a:xfrm>
            <a:off x="548640" y="3383280"/>
            <a:ext cx="14623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User_CV.csv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6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731520" y="4206240"/>
            <a:ext cx="1096560" cy="1279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"/>
          <p:cNvSpPr/>
          <p:nvPr/>
        </p:nvSpPr>
        <p:spPr>
          <a:xfrm>
            <a:off x="548640" y="5577840"/>
            <a:ext cx="1462320" cy="53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Job_profile.csv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1828800" y="2651760"/>
            <a:ext cx="1280160" cy="91440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 flipV="1">
            <a:off x="1828800" y="3749040"/>
            <a:ext cx="1280160" cy="109728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/>
          <p:nvPr/>
        </p:nvSpPr>
        <p:spPr>
          <a:xfrm>
            <a:off x="3108960" y="2834640"/>
            <a:ext cx="2925360" cy="1645200"/>
          </a:xfrm>
          <a:prstGeom prst="rect">
            <a:avLst/>
          </a:prstGeom>
          <a:solidFill>
            <a:srgbClr val="FF8200"/>
          </a:solidFill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AI matching improving your CV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1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4114800" y="2011680"/>
            <a:ext cx="913680" cy="73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" name=""/>
          <p:cNvSpPr/>
          <p:nvPr/>
        </p:nvSpPr>
        <p:spPr>
          <a:xfrm>
            <a:off x="6035040" y="3657600"/>
            <a:ext cx="128016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3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7315200" y="3017520"/>
            <a:ext cx="1096560" cy="1279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"/>
          <p:cNvSpPr/>
          <p:nvPr/>
        </p:nvSpPr>
        <p:spPr>
          <a:xfrm>
            <a:off x="7132320" y="4389120"/>
            <a:ext cx="14623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Updated_CV.txt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"/>
          <p:cNvSpPr/>
          <p:nvPr/>
        </p:nvSpPr>
        <p:spPr>
          <a:xfrm>
            <a:off x="457200" y="365760"/>
            <a:ext cx="8229240" cy="91404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Team Status Update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6" name=""/>
          <p:cNvGraphicFramePr/>
          <p:nvPr/>
        </p:nvGraphicFramePr>
        <p:xfrm>
          <a:off x="457200" y="1737360"/>
          <a:ext cx="5028840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2011680"/>
              </a:tblGrid>
              <a:tr h="45720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Task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Status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API Integration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Done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UI Redesign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 Progress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Testing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Not Started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7" name=""/>
          <p:cNvSpPr/>
          <p:nvPr/>
        </p:nvSpPr>
        <p:spPr>
          <a:xfrm>
            <a:off x="6309360" y="1828800"/>
            <a:ext cx="2011320" cy="2011320"/>
          </a:xfrm>
          <a:prstGeom prst="ellipse">
            <a:avLst/>
          </a:prstGeom>
          <a:solidFill>
            <a:srgbClr val="2E7D32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On Track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3150" b="0" u="none" strike="noStrike">
                <a:solidFill>
                  <a:srgbClr val="111111"/>
                </a:solidFill>
                <a:effectLst/>
                <a:uFillTx/>
                <a:latin typeface="Archivo Black"/>
              </a:rPr>
              <a:t>RELACIÓN UNO A MUCHOS (1:N)</a:t>
            </a:r>
            <a:endParaRPr lang="en-US" sz="3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457200" y="960120"/>
            <a:ext cx="8229600" cy="0"/>
          </a:xfrm>
          <a:prstGeom prst="line">
            <a:avLst/>
          </a:prstGeom>
          <a:ln w="4752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3760" tIns="-68760" rIns="113760" bIns="-6876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457200" y="1051560"/>
            <a:ext cx="8229600" cy="795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2250" b="0" u="none" strike="noStrike">
                <a:solidFill>
                  <a:srgbClr val="111111"/>
                </a:solidFill>
                <a:effectLst/>
                <a:uFillTx/>
                <a:latin typeface="Space Grotesk"/>
              </a:rPr>
              <a:t>Un cliente realiza muchos pedidos; cada pedido pertenece a un solo cliente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"/>
          <p:cNvSpPr/>
          <p:nvPr/>
        </p:nvSpPr>
        <p:spPr>
          <a:xfrm>
            <a:off x="914400" y="1828800"/>
            <a:ext cx="1463040" cy="719280"/>
          </a:xfrm>
          <a:prstGeom prst="ellipse">
            <a:avLst/>
          </a:prstGeom>
          <a:noFill/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tIns="64080" rIns="109080" bIns="64080" anchor="ctr">
            <a:noAutofit/>
          </a:bodyPr>
          <a:p>
            <a:pPr algn="ctr"/>
            <a:r>
              <a:rPr lang="en-US" sz="2000" b="1" u="none" strike="noStrike">
                <a:solidFill>
                  <a:srgbClr val="111111"/>
                </a:solidFill>
                <a:effectLst/>
                <a:uFillTx/>
                <a:latin typeface="Archivo Black"/>
              </a:rPr>
              <a:t>id_cliente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/>
          <p:nvPr/>
        </p:nvSpPr>
        <p:spPr>
          <a:xfrm>
            <a:off x="2560320" y="1828800"/>
            <a:ext cx="1280160" cy="719280"/>
          </a:xfrm>
          <a:prstGeom prst="ellipse">
            <a:avLst/>
          </a:prstGeom>
          <a:noFill/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tIns="64080" rIns="109080" bIns="64080" anchor="ctr">
            <a:noAutofit/>
          </a:bodyPr>
          <a:p>
            <a:pPr algn="ctr"/>
            <a:r>
              <a:rPr lang="en-US" sz="2000" b="0" u="none" strike="noStrike">
                <a:solidFill>
                  <a:srgbClr val="111111"/>
                </a:solidFill>
                <a:effectLst/>
                <a:uFillTx/>
                <a:latin typeface="Archivo Black"/>
              </a:rPr>
              <a:t>nombre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/>
          <p:nvPr/>
        </p:nvSpPr>
        <p:spPr>
          <a:xfrm>
            <a:off x="1645920" y="2468880"/>
            <a:ext cx="457200" cy="822960"/>
          </a:xfrm>
          <a:prstGeom prst="line">
            <a:avLst/>
          </a:prstGeom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tIns="64080" rIns="109080" bIns="6408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 flipH="1">
            <a:off x="2651760" y="2468880"/>
            <a:ext cx="548640" cy="822960"/>
          </a:xfrm>
          <a:prstGeom prst="line">
            <a:avLst/>
          </a:prstGeom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tIns="64080" rIns="109080" bIns="6408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/>
          <p:nvPr/>
        </p:nvSpPr>
        <p:spPr>
          <a:xfrm>
            <a:off x="1371600" y="3291840"/>
            <a:ext cx="1828800" cy="914400"/>
          </a:xfrm>
          <a:prstGeom prst="rect">
            <a:avLst/>
          </a:prstGeom>
          <a:noFill/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tIns="64080" rIns="109080" bIns="64080" anchor="ctr">
            <a:noAutofit/>
          </a:bodyPr>
          <a:p>
            <a:pPr algn="ctr"/>
            <a:r>
              <a:rPr lang="en-US" sz="2000" b="0" u="none" strike="noStrike">
                <a:solidFill>
                  <a:srgbClr val="111111"/>
                </a:solidFill>
                <a:effectLst/>
                <a:uFillTx/>
                <a:latin typeface="Archivo Black"/>
              </a:rPr>
              <a:t>CLIENTE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/>
          <p:nvPr/>
        </p:nvSpPr>
        <p:spPr>
          <a:xfrm>
            <a:off x="3200400" y="3749040"/>
            <a:ext cx="731520" cy="0"/>
          </a:xfrm>
          <a:prstGeom prst="line">
            <a:avLst/>
          </a:prstGeom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tIns="-64080" rIns="109080" bIns="-6408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3200400" y="3429000"/>
            <a:ext cx="365760" cy="505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 anchorCtr="1">
            <a:noAutofit/>
          </a:bodyPr>
          <a:p>
            <a:pPr algn="ctr"/>
            <a:r>
              <a:rPr lang="en-US" sz="2600" b="1" u="none" strike="noStrike">
                <a:solidFill>
                  <a:srgbClr val="111111"/>
                </a:solidFill>
                <a:effectLst/>
                <a:uFillTx/>
                <a:latin typeface="Space Grotesk"/>
              </a:rPr>
              <a:t>1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"/>
          <p:cNvSpPr/>
          <p:nvPr/>
        </p:nvSpPr>
        <p:spPr>
          <a:xfrm>
            <a:off x="3931920" y="3291840"/>
            <a:ext cx="1280160" cy="914400"/>
          </a:xfrm>
          <a:prstGeom prst="diamond">
            <a:avLst/>
          </a:prstGeom>
          <a:noFill/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tIns="64080" rIns="109080" bIns="64080" anchor="ctr">
            <a:noAutofit/>
          </a:bodyPr>
          <a:p>
            <a:pPr algn="ctr"/>
            <a:r>
              <a:rPr lang="en-US" sz="2000" b="0" u="none" strike="noStrike">
                <a:solidFill>
                  <a:srgbClr val="111111"/>
                </a:solidFill>
                <a:effectLst/>
                <a:uFillTx/>
                <a:latin typeface="Archivo Black"/>
              </a:rPr>
              <a:t>realiza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"/>
          <p:cNvSpPr/>
          <p:nvPr/>
        </p:nvSpPr>
        <p:spPr>
          <a:xfrm>
            <a:off x="5212080" y="3749040"/>
            <a:ext cx="731520" cy="0"/>
          </a:xfrm>
          <a:prstGeom prst="line">
            <a:avLst/>
          </a:prstGeom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tIns="-64080" rIns="109080" bIns="-6408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5212080" y="3429000"/>
            <a:ext cx="365760" cy="505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 anchorCtr="1">
            <a:noAutofit/>
          </a:bodyPr>
          <a:p>
            <a:pPr algn="ctr"/>
            <a:r>
              <a:rPr lang="en-US" sz="2600" b="1" u="none" strike="noStrike">
                <a:solidFill>
                  <a:srgbClr val="111111"/>
                </a:solidFill>
                <a:effectLst/>
                <a:uFillTx/>
                <a:latin typeface="Space Grotesk"/>
              </a:rPr>
              <a:t>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/>
          <p:nvPr/>
        </p:nvSpPr>
        <p:spPr>
          <a:xfrm>
            <a:off x="5943600" y="3291840"/>
            <a:ext cx="1828800" cy="914400"/>
          </a:xfrm>
          <a:prstGeom prst="rect">
            <a:avLst/>
          </a:prstGeom>
          <a:noFill/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tIns="64080" rIns="109080" bIns="64080" anchor="ctr">
            <a:noAutofit/>
          </a:bodyPr>
          <a:p>
            <a:pPr algn="ctr"/>
            <a:r>
              <a:rPr lang="en-US" sz="2000" b="0" u="none" strike="noStrike">
                <a:solidFill>
                  <a:srgbClr val="111111"/>
                </a:solidFill>
                <a:effectLst/>
                <a:uFillTx/>
                <a:latin typeface="Archivo Black"/>
              </a:rPr>
              <a:t>PEDIDO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5120640" y="4754880"/>
            <a:ext cx="1371600" cy="719280"/>
          </a:xfrm>
          <a:prstGeom prst="ellipse">
            <a:avLst/>
          </a:prstGeom>
          <a:noFill/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tIns="64080" rIns="109080" bIns="64080" anchor="ctr">
            <a:noAutofit/>
          </a:bodyPr>
          <a:p>
            <a:pPr algn="ctr"/>
            <a:r>
              <a:rPr lang="en-US" sz="2000" b="1" u="none" strike="noStrike">
                <a:solidFill>
                  <a:srgbClr val="111111"/>
                </a:solidFill>
                <a:effectLst/>
                <a:uFillTx/>
                <a:latin typeface="Archivo Black"/>
              </a:rPr>
              <a:t>id_pedido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/>
          <p:nvPr/>
        </p:nvSpPr>
        <p:spPr>
          <a:xfrm>
            <a:off x="6583680" y="4754880"/>
            <a:ext cx="1005840" cy="719280"/>
          </a:xfrm>
          <a:prstGeom prst="ellipse">
            <a:avLst/>
          </a:prstGeom>
          <a:noFill/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tIns="64080" rIns="109080" bIns="64080" anchor="ctr">
            <a:noAutofit/>
          </a:bodyPr>
          <a:p>
            <a:pPr algn="ctr"/>
            <a:r>
              <a:rPr lang="en-US" sz="2000" b="0" u="none" strike="noStrike">
                <a:solidFill>
                  <a:srgbClr val="111111"/>
                </a:solidFill>
                <a:effectLst/>
                <a:uFillTx/>
                <a:latin typeface="Archivo Black"/>
              </a:rPr>
              <a:t>fecha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/>
          <p:nvPr/>
        </p:nvSpPr>
        <p:spPr>
          <a:xfrm>
            <a:off x="7680960" y="4754880"/>
            <a:ext cx="1005840" cy="719280"/>
          </a:xfrm>
          <a:prstGeom prst="ellipse">
            <a:avLst/>
          </a:prstGeom>
          <a:noFill/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tIns="64080" rIns="109080" bIns="64080" anchor="ctr">
            <a:noAutofit/>
          </a:bodyPr>
          <a:p>
            <a:pPr algn="ctr"/>
            <a:r>
              <a:rPr lang="en-US" sz="2000" b="0" u="none" strike="noStrike">
                <a:solidFill>
                  <a:srgbClr val="111111"/>
                </a:solidFill>
                <a:effectLst/>
                <a:uFillTx/>
                <a:latin typeface="Archivo Black"/>
              </a:rPr>
              <a:t>total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"/>
          <p:cNvSpPr/>
          <p:nvPr/>
        </p:nvSpPr>
        <p:spPr>
          <a:xfrm>
            <a:off x="5806440" y="4206240"/>
            <a:ext cx="0" cy="548640"/>
          </a:xfrm>
          <a:prstGeom prst="line">
            <a:avLst/>
          </a:prstGeom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tIns="64080" rIns="109080" bIns="6408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/>
          <p:nvPr/>
        </p:nvSpPr>
        <p:spPr>
          <a:xfrm>
            <a:off x="6858000" y="4206240"/>
            <a:ext cx="228600" cy="548640"/>
          </a:xfrm>
          <a:prstGeom prst="line">
            <a:avLst/>
          </a:prstGeom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tIns="64080" rIns="109080" bIns="6408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/>
          <p:nvPr/>
        </p:nvSpPr>
        <p:spPr>
          <a:xfrm>
            <a:off x="7315200" y="4206240"/>
            <a:ext cx="868680" cy="548640"/>
          </a:xfrm>
          <a:prstGeom prst="line">
            <a:avLst/>
          </a:prstGeom>
          <a:ln w="381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tIns="64080" rIns="109080" bIns="6408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/>
          <p:nvPr/>
        </p:nvSpPr>
        <p:spPr>
          <a:xfrm>
            <a:off x="457200" y="5760720"/>
            <a:ext cx="8229600" cy="731520"/>
          </a:xfrm>
          <a:prstGeom prst="rect">
            <a:avLst/>
          </a:prstGeom>
          <a:solidFill>
            <a:srgbClr val="FFD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/>
            <a:r>
              <a:rPr lang="en-US" sz="1800" b="1" u="none" strike="noStrike">
                <a:solidFill>
                  <a:srgbClr val="111111"/>
                </a:solidFill>
                <a:effectLst/>
                <a:uFillTx/>
                <a:latin typeface="Space Grotesk"/>
              </a:rPr>
              <a:t>Regla práctica: la clave del lado 1 (id_cliente) viaja como clave foránea a la tabla del lado N (PEDIDO).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"/>
          <p:cNvSpPr/>
          <p:nvPr/>
        </p:nvSpPr>
        <p:spPr>
          <a:xfrm>
            <a:off x="457200" y="274320"/>
            <a:ext cx="8229600" cy="65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/>
            <a:r>
              <a:rPr lang="en-US" sz="3600" b="0" u="none" strike="noStrike">
                <a:solidFill>
                  <a:srgbClr val="414244"/>
                </a:solidFill>
                <a:effectLst/>
                <a:uFillTx/>
                <a:latin typeface="CiscoSansTT ExtraLight"/>
              </a:rPr>
              <a:t>RELACIÓN UNO A MUCHOS (1:N)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457200" y="960120"/>
            <a:ext cx="8229600" cy="719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 anchorCtr="1">
            <a:noAutofit/>
          </a:bodyPr>
          <a:p>
            <a:pPr algn="ctr"/>
            <a:r>
              <a:rPr lang="en-US" sz="2000" b="1" u="none" strike="noStrike">
                <a:solidFill>
                  <a:srgbClr val="00BCEB"/>
                </a:solidFill>
                <a:effectLst/>
                <a:uFillTx/>
                <a:latin typeface="CiscoSansTT Light"/>
              </a:rPr>
              <a:t>Un cliente realiza muchos pedidos; cada pedido pertenece a un solo cliente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"/>
          <p:cNvSpPr/>
          <p:nvPr/>
        </p:nvSpPr>
        <p:spPr>
          <a:xfrm>
            <a:off x="914400" y="1554480"/>
            <a:ext cx="1463040" cy="6584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>
            <a:noAutofit/>
          </a:bodyPr>
          <a:p>
            <a:pPr algn="ctr"/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id_cliente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"/>
          <p:cNvSpPr/>
          <p:nvPr/>
        </p:nvSpPr>
        <p:spPr>
          <a:xfrm>
            <a:off x="2560320" y="1554480"/>
            <a:ext cx="146304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nombre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"/>
          <p:cNvSpPr/>
          <p:nvPr/>
        </p:nvSpPr>
        <p:spPr>
          <a:xfrm>
            <a:off x="1645920" y="2103120"/>
            <a:ext cx="365760" cy="64008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"/>
          <p:cNvSpPr/>
          <p:nvPr/>
        </p:nvSpPr>
        <p:spPr>
          <a:xfrm flipH="1">
            <a:off x="2560320" y="2103120"/>
            <a:ext cx="731520" cy="64008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"/>
          <p:cNvSpPr/>
          <p:nvPr/>
        </p:nvSpPr>
        <p:spPr>
          <a:xfrm>
            <a:off x="1371600" y="2743200"/>
            <a:ext cx="1828800" cy="822960"/>
          </a:xfrm>
          <a:prstGeom prst="rect">
            <a:avLst/>
          </a:prstGeom>
          <a:solidFill>
            <a:srgbClr val="0D27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CLIENTE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"/>
          <p:cNvSpPr/>
          <p:nvPr/>
        </p:nvSpPr>
        <p:spPr>
          <a:xfrm>
            <a:off x="3200400" y="3154680"/>
            <a:ext cx="731520" cy="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3200400" y="2834640"/>
            <a:ext cx="731520" cy="353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 anchorCtr="1">
            <a:noAutofit/>
          </a:bodyPr>
          <a:p>
            <a:pPr algn="ctr"/>
            <a:r>
              <a:rPr lang="en-US" sz="1600" b="1" u="none" strike="noStrike">
                <a:solidFill>
                  <a:srgbClr val="414244"/>
                </a:solidFill>
                <a:effectLst/>
                <a:uFillTx/>
                <a:latin typeface="CiscoSansTT Light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"/>
          <p:cNvSpPr/>
          <p:nvPr/>
        </p:nvSpPr>
        <p:spPr>
          <a:xfrm>
            <a:off x="3931920" y="2743200"/>
            <a:ext cx="1280160" cy="822960"/>
          </a:xfrm>
          <a:prstGeom prst="diamond">
            <a:avLst/>
          </a:prstGeom>
          <a:solidFill>
            <a:srgbClr val="00BC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realiza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"/>
          <p:cNvSpPr/>
          <p:nvPr/>
        </p:nvSpPr>
        <p:spPr>
          <a:xfrm>
            <a:off x="5212080" y="3154680"/>
            <a:ext cx="731520" cy="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5212080" y="2834640"/>
            <a:ext cx="731520" cy="353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 anchorCtr="1">
            <a:noAutofit/>
          </a:bodyPr>
          <a:p>
            <a:pPr algn="ctr"/>
            <a:r>
              <a:rPr lang="en-US" sz="1600" b="1" u="none" strike="noStrike">
                <a:solidFill>
                  <a:srgbClr val="414244"/>
                </a:solidFill>
                <a:effectLst/>
                <a:uFillTx/>
                <a:latin typeface="CiscoSansTT Light"/>
              </a:rPr>
              <a:t>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"/>
          <p:cNvSpPr/>
          <p:nvPr/>
        </p:nvSpPr>
        <p:spPr>
          <a:xfrm>
            <a:off x="5943600" y="2743200"/>
            <a:ext cx="1828800" cy="822960"/>
          </a:xfrm>
          <a:prstGeom prst="rect">
            <a:avLst/>
          </a:prstGeom>
          <a:solidFill>
            <a:srgbClr val="0D27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PEDIDO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"/>
          <p:cNvSpPr/>
          <p:nvPr/>
        </p:nvSpPr>
        <p:spPr>
          <a:xfrm flipH="1">
            <a:off x="5669280" y="3566160"/>
            <a:ext cx="731520" cy="73152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"/>
          <p:cNvSpPr/>
          <p:nvPr/>
        </p:nvSpPr>
        <p:spPr>
          <a:xfrm>
            <a:off x="6858000" y="3566160"/>
            <a:ext cx="0" cy="73152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"/>
          <p:cNvSpPr/>
          <p:nvPr/>
        </p:nvSpPr>
        <p:spPr>
          <a:xfrm>
            <a:off x="7315200" y="3566160"/>
            <a:ext cx="731520" cy="73152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"/>
          <p:cNvSpPr/>
          <p:nvPr/>
        </p:nvSpPr>
        <p:spPr>
          <a:xfrm>
            <a:off x="4937760" y="4297680"/>
            <a:ext cx="1463040" cy="6584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>
            <a:noAutofit/>
          </a:bodyPr>
          <a:p>
            <a:pPr algn="ctr"/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id_pedido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"/>
          <p:cNvSpPr/>
          <p:nvPr/>
        </p:nvSpPr>
        <p:spPr>
          <a:xfrm>
            <a:off x="6126480" y="4297680"/>
            <a:ext cx="146304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fecha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"/>
          <p:cNvSpPr/>
          <p:nvPr/>
        </p:nvSpPr>
        <p:spPr>
          <a:xfrm>
            <a:off x="7315200" y="4297680"/>
            <a:ext cx="146304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"/>
          <p:cNvSpPr/>
          <p:nvPr/>
        </p:nvSpPr>
        <p:spPr>
          <a:xfrm>
            <a:off x="457200" y="5394960"/>
            <a:ext cx="8229600" cy="1005840"/>
          </a:xfrm>
          <a:prstGeom prst="rect">
            <a:avLst/>
          </a:prstGeom>
          <a:solidFill>
            <a:srgbClr val="FBAB2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Regla práctica: la clave del lado 1 (id_cliente) viaja como clave foránea a la tabla del lado N (PEDIDO).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/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RELACIÓN UNO A MUCHOS (1:N)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457200" y="960120"/>
            <a:ext cx="8229600" cy="719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 anchorCtr="1">
            <a:noAutofit/>
          </a:bodyPr>
          <a:p>
            <a:pPr algn="ctr"/>
            <a:r>
              <a:rPr lang="en-US" sz="2000" b="1" u="none" strike="noStrike">
                <a:solidFill>
                  <a:srgbClr val="1F4E79"/>
                </a:solidFill>
                <a:effectLst/>
                <a:uFillTx/>
                <a:latin typeface="Arial"/>
              </a:rPr>
              <a:t>Un cliente realiza muchos pedidos; cada pedido pertenece a un solo cliente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"/>
          <p:cNvSpPr/>
          <p:nvPr/>
        </p:nvSpPr>
        <p:spPr>
          <a:xfrm>
            <a:off x="914400" y="1554480"/>
            <a:ext cx="1463040" cy="6584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>
            <a:noAutofit/>
          </a:bodyPr>
          <a:p>
            <a:pPr algn="ctr"/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id_cliente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"/>
          <p:cNvSpPr/>
          <p:nvPr/>
        </p:nvSpPr>
        <p:spPr>
          <a:xfrm>
            <a:off x="2560320" y="1554480"/>
            <a:ext cx="146304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nombre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/>
          <p:nvPr/>
        </p:nvSpPr>
        <p:spPr>
          <a:xfrm>
            <a:off x="1645920" y="2103120"/>
            <a:ext cx="365760" cy="64008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"/>
          <p:cNvSpPr/>
          <p:nvPr/>
        </p:nvSpPr>
        <p:spPr>
          <a:xfrm flipH="1">
            <a:off x="2560320" y="2103120"/>
            <a:ext cx="731520" cy="64008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"/>
          <p:cNvSpPr/>
          <p:nvPr/>
        </p:nvSpPr>
        <p:spPr>
          <a:xfrm>
            <a:off x="1371600" y="2743200"/>
            <a:ext cx="1828800" cy="822960"/>
          </a:xfrm>
          <a:prstGeom prst="rect">
            <a:avLst/>
          </a:prstGeom>
          <a:solidFill>
            <a:srgbClr val="0D27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CLIENTE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3200400" y="3154680"/>
            <a:ext cx="731520" cy="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3200400" y="2834640"/>
            <a:ext cx="731520" cy="353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 anchorCtr="1">
            <a:noAutofit/>
          </a:bodyPr>
          <a:p>
            <a:pPr algn="ctr"/>
            <a:r>
              <a:rPr lang="en-US" sz="1600" b="1" i="1" u="none" strike="noStrike">
                <a:solidFill>
                  <a:srgbClr val="666666"/>
                </a:solidFill>
                <a:effectLst/>
                <a:uFillTx/>
                <a:latin typeface="Arial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"/>
          <p:cNvSpPr/>
          <p:nvPr/>
        </p:nvSpPr>
        <p:spPr>
          <a:xfrm>
            <a:off x="3931920" y="2743200"/>
            <a:ext cx="1280160" cy="822960"/>
          </a:xfrm>
          <a:prstGeom prst="diamond">
            <a:avLst/>
          </a:prstGeom>
          <a:solidFill>
            <a:srgbClr val="00BC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realiza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"/>
          <p:cNvSpPr/>
          <p:nvPr/>
        </p:nvSpPr>
        <p:spPr>
          <a:xfrm>
            <a:off x="5212080" y="3154680"/>
            <a:ext cx="731520" cy="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5212080" y="2834640"/>
            <a:ext cx="731520" cy="353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 anchorCtr="1">
            <a:noAutofit/>
          </a:bodyPr>
          <a:p>
            <a:pPr algn="ctr"/>
            <a:r>
              <a:rPr lang="en-US" sz="1600" b="1" i="1" u="none" strike="noStrike">
                <a:solidFill>
                  <a:srgbClr val="666666"/>
                </a:solidFill>
                <a:effectLst/>
                <a:uFillTx/>
                <a:latin typeface="Arial"/>
              </a:rPr>
              <a:t>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"/>
          <p:cNvSpPr/>
          <p:nvPr/>
        </p:nvSpPr>
        <p:spPr>
          <a:xfrm>
            <a:off x="5943600" y="2743200"/>
            <a:ext cx="1828800" cy="822960"/>
          </a:xfrm>
          <a:prstGeom prst="rect">
            <a:avLst/>
          </a:prstGeom>
          <a:solidFill>
            <a:srgbClr val="0D27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PEDIDO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"/>
          <p:cNvSpPr/>
          <p:nvPr/>
        </p:nvSpPr>
        <p:spPr>
          <a:xfrm flipH="1">
            <a:off x="5669280" y="3566160"/>
            <a:ext cx="731520" cy="73152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"/>
          <p:cNvSpPr/>
          <p:nvPr/>
        </p:nvSpPr>
        <p:spPr>
          <a:xfrm>
            <a:off x="6858000" y="3566160"/>
            <a:ext cx="0" cy="73152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"/>
          <p:cNvSpPr/>
          <p:nvPr/>
        </p:nvSpPr>
        <p:spPr>
          <a:xfrm>
            <a:off x="7315200" y="3566160"/>
            <a:ext cx="731520" cy="73152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"/>
          <p:cNvSpPr/>
          <p:nvPr/>
        </p:nvSpPr>
        <p:spPr>
          <a:xfrm>
            <a:off x="4937760" y="4297680"/>
            <a:ext cx="1463040" cy="6584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>
            <a:noAutofit/>
          </a:bodyPr>
          <a:p>
            <a:pPr algn="ctr"/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id_pedido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"/>
          <p:cNvSpPr/>
          <p:nvPr/>
        </p:nvSpPr>
        <p:spPr>
          <a:xfrm>
            <a:off x="6126480" y="4297680"/>
            <a:ext cx="146304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fecha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"/>
          <p:cNvSpPr/>
          <p:nvPr/>
        </p:nvSpPr>
        <p:spPr>
          <a:xfrm>
            <a:off x="7315200" y="4297680"/>
            <a:ext cx="146304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"/>
          <p:cNvSpPr/>
          <p:nvPr/>
        </p:nvSpPr>
        <p:spPr>
          <a:xfrm>
            <a:off x="457200" y="5394960"/>
            <a:ext cx="8229600" cy="1005840"/>
          </a:xfrm>
          <a:prstGeom prst="rect">
            <a:avLst/>
          </a:prstGeom>
          <a:solidFill>
            <a:srgbClr val="FBAB2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Regla práctica: la clave del lado 1 (id_cliente) viaja como clave foránea a la tabla del lado N (PEDIDO).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"/>
          <p:cNvSpPr/>
          <p:nvPr/>
        </p:nvSpPr>
        <p:spPr>
          <a:xfrm>
            <a:off x="457200" y="274320"/>
            <a:ext cx="8229600" cy="65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r>
              <a:rPr lang="en-US" sz="3600" b="0" u="none" strike="noStrike">
                <a:solidFill>
                  <a:srgbClr val="414244"/>
                </a:solidFill>
                <a:effectLst/>
                <a:uFillTx/>
                <a:latin typeface="CiscoSansTT ExtraLight"/>
              </a:rPr>
              <a:t>RELACIÓN UNO A MUCHOS (1:N)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457200" y="914400"/>
            <a:ext cx="8229600" cy="719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2000" b="1" u="none" strike="noStrike">
                <a:solidFill>
                  <a:srgbClr val="00BCEB"/>
                </a:solidFill>
                <a:effectLst/>
                <a:uFillTx/>
                <a:latin typeface="CiscoSansTT Light"/>
              </a:rPr>
              <a:t>Un cliente realiza muchos pedidos; cada pedido pertenece a un solo cliente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"/>
          <p:cNvSpPr/>
          <p:nvPr/>
        </p:nvSpPr>
        <p:spPr>
          <a:xfrm>
            <a:off x="914400" y="2834640"/>
            <a:ext cx="1645920" cy="731520"/>
          </a:xfrm>
          <a:prstGeom prst="rect">
            <a:avLst/>
          </a:prstGeom>
          <a:solidFill>
            <a:srgbClr val="FFFFFF"/>
          </a:solidFill>
          <a:ln w="19080">
            <a:solidFill>
              <a:srgbClr val="0D27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>
            <a:noAutofit/>
          </a:bodyPr>
          <a:p>
            <a:pPr algn="ctr"/>
            <a:r>
              <a:rPr lang="en-US" sz="1400" b="1" u="none" strike="noStrike">
                <a:solidFill>
                  <a:srgbClr val="0D274D"/>
                </a:solidFill>
                <a:effectLst/>
                <a:uFillTx/>
                <a:latin typeface="CiscoSansTT Light"/>
              </a:rPr>
              <a:t>CLIENTE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"/>
          <p:cNvSpPr/>
          <p:nvPr/>
        </p:nvSpPr>
        <p:spPr>
          <a:xfrm>
            <a:off x="3840480" y="2743200"/>
            <a:ext cx="1463040" cy="914400"/>
          </a:xfrm>
          <a:prstGeom prst="flowChartDecision">
            <a:avLst/>
          </a:prstGeom>
          <a:solidFill>
            <a:srgbClr val="FFFFFF"/>
          </a:solidFill>
          <a:ln w="19080">
            <a:solidFill>
              <a:srgbClr val="0D27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>
            <a:noAutofit/>
          </a:bodyPr>
          <a:p>
            <a:pPr algn="ctr"/>
            <a:r>
              <a:rPr lang="en-US" sz="1400" b="1" u="none" strike="noStrike">
                <a:solidFill>
                  <a:srgbClr val="0D274D"/>
                </a:solidFill>
                <a:effectLst/>
                <a:uFillTx/>
                <a:latin typeface="CiscoSansTT Light"/>
              </a:rPr>
              <a:t>realiza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"/>
          <p:cNvSpPr/>
          <p:nvPr/>
        </p:nvSpPr>
        <p:spPr>
          <a:xfrm>
            <a:off x="6583680" y="2834640"/>
            <a:ext cx="1645920" cy="731520"/>
          </a:xfrm>
          <a:prstGeom prst="rect">
            <a:avLst/>
          </a:prstGeom>
          <a:solidFill>
            <a:srgbClr val="FFFFFF"/>
          </a:solidFill>
          <a:ln w="19080">
            <a:solidFill>
              <a:srgbClr val="0D27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>
            <a:noAutofit/>
          </a:bodyPr>
          <a:p>
            <a:pPr algn="ctr"/>
            <a:r>
              <a:rPr lang="en-US" sz="1400" b="1" u="none" strike="noStrike">
                <a:solidFill>
                  <a:srgbClr val="0D274D"/>
                </a:solidFill>
                <a:effectLst/>
                <a:uFillTx/>
                <a:latin typeface="CiscoSansTT Light"/>
              </a:rPr>
              <a:t>PEDIDO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"/>
          <p:cNvSpPr/>
          <p:nvPr/>
        </p:nvSpPr>
        <p:spPr>
          <a:xfrm>
            <a:off x="2560320" y="3200400"/>
            <a:ext cx="1280160" cy="0"/>
          </a:xfrm>
          <a:prstGeom prst="line">
            <a:avLst/>
          </a:prstGeom>
          <a:ln w="19080">
            <a:solidFill>
              <a:srgbClr val="4142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-54360" rIns="99360" bIns="-5436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"/>
          <p:cNvSpPr/>
          <p:nvPr/>
        </p:nvSpPr>
        <p:spPr>
          <a:xfrm>
            <a:off x="5303520" y="3200400"/>
            <a:ext cx="1280160" cy="0"/>
          </a:xfrm>
          <a:prstGeom prst="line">
            <a:avLst/>
          </a:prstGeom>
          <a:ln w="19080">
            <a:solidFill>
              <a:srgbClr val="4142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-54360" rIns="99360" bIns="-5436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2834640" y="2834640"/>
            <a:ext cx="365760" cy="353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b" anchorCtr="1">
            <a:noAutofit/>
          </a:bodyPr>
          <a:p>
            <a:pPr algn="ctr"/>
            <a:r>
              <a:rPr lang="en-US" sz="1600" b="1" u="none" strike="noStrike">
                <a:solidFill>
                  <a:srgbClr val="0D274D"/>
                </a:solidFill>
                <a:effectLst/>
                <a:uFillTx/>
                <a:latin typeface="Arial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5669280" y="2834640"/>
            <a:ext cx="365760" cy="353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b" anchorCtr="1">
            <a:noAutofit/>
          </a:bodyPr>
          <a:p>
            <a:pPr algn="ctr"/>
            <a:r>
              <a:rPr lang="en-US" sz="1600" b="1" u="none" strike="noStrike">
                <a:solidFill>
                  <a:srgbClr val="0D274D"/>
                </a:solidFill>
                <a:effectLst/>
                <a:uFillTx/>
                <a:latin typeface="Arial"/>
              </a:rPr>
              <a:t>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"/>
          <p:cNvSpPr/>
          <p:nvPr/>
        </p:nvSpPr>
        <p:spPr>
          <a:xfrm>
            <a:off x="640080" y="1554480"/>
            <a:ext cx="137160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>
            <a:noAutofit/>
          </a:bodyPr>
          <a:p>
            <a:pPr algn="ctr"/>
            <a:r>
              <a:rPr lang="en-US" sz="1200" b="1" u="none" strike="noStrike">
                <a:solidFill>
                  <a:srgbClr val="0D274D"/>
                </a:solidFill>
                <a:effectLst/>
                <a:uFillTx/>
                <a:latin typeface="Arial"/>
              </a:rPr>
              <a:t>id_cliente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2103120" y="1554480"/>
            <a:ext cx="109728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>
            <a:noAutofit/>
          </a:bodyPr>
          <a:p>
            <a:pPr algn="ctr"/>
            <a:r>
              <a:rPr lang="en-US" sz="1200" b="0" u="none" strike="noStrike">
                <a:solidFill>
                  <a:srgbClr val="414244"/>
                </a:solidFill>
                <a:effectLst/>
                <a:uFillTx/>
                <a:latin typeface="Arial"/>
              </a:rPr>
              <a:t>nombre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"/>
          <p:cNvSpPr/>
          <p:nvPr/>
        </p:nvSpPr>
        <p:spPr>
          <a:xfrm flipH="1" flipV="1">
            <a:off x="1325880" y="2103120"/>
            <a:ext cx="411480" cy="731520"/>
          </a:xfrm>
          <a:prstGeom prst="line">
            <a:avLst/>
          </a:prstGeom>
          <a:ln w="15120">
            <a:solidFill>
              <a:srgbClr val="4142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7560" tIns="52560" rIns="97560" bIns="5256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"/>
          <p:cNvSpPr/>
          <p:nvPr/>
        </p:nvSpPr>
        <p:spPr>
          <a:xfrm flipV="1">
            <a:off x="1737360" y="2103120"/>
            <a:ext cx="914400" cy="731520"/>
          </a:xfrm>
          <a:prstGeom prst="line">
            <a:avLst/>
          </a:prstGeom>
          <a:ln w="15120">
            <a:solidFill>
              <a:srgbClr val="4142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7560" tIns="52560" rIns="97560" bIns="5256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"/>
          <p:cNvSpPr/>
          <p:nvPr/>
        </p:nvSpPr>
        <p:spPr>
          <a:xfrm>
            <a:off x="5852160" y="4114800"/>
            <a:ext cx="128016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>
            <a:noAutofit/>
          </a:bodyPr>
          <a:p>
            <a:pPr algn="ctr"/>
            <a:r>
              <a:rPr lang="en-US" sz="1200" b="1" u="none" strike="noStrike">
                <a:solidFill>
                  <a:srgbClr val="0D274D"/>
                </a:solidFill>
                <a:effectLst/>
                <a:uFillTx/>
                <a:latin typeface="Arial"/>
              </a:rPr>
              <a:t>id_pedido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"/>
          <p:cNvSpPr/>
          <p:nvPr/>
        </p:nvSpPr>
        <p:spPr>
          <a:xfrm>
            <a:off x="7223760" y="4114800"/>
            <a:ext cx="91440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>
            <a:noAutofit/>
          </a:bodyPr>
          <a:p>
            <a:pPr algn="ctr"/>
            <a:r>
              <a:rPr lang="en-US" sz="1200" b="0" u="none" strike="noStrike">
                <a:solidFill>
                  <a:srgbClr val="414244"/>
                </a:solidFill>
                <a:effectLst/>
                <a:uFillTx/>
                <a:latin typeface="Arial"/>
              </a:rPr>
              <a:t>fecha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"/>
          <p:cNvSpPr/>
          <p:nvPr/>
        </p:nvSpPr>
        <p:spPr>
          <a:xfrm>
            <a:off x="8229600" y="4114800"/>
            <a:ext cx="82296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>
            <a:noAutofit/>
          </a:bodyPr>
          <a:p>
            <a:pPr algn="ctr"/>
            <a:r>
              <a:rPr lang="en-US" sz="1200" b="0" u="none" strike="noStrike">
                <a:solidFill>
                  <a:srgbClr val="414244"/>
                </a:solidFill>
                <a:effectLst/>
                <a:uFillTx/>
                <a:latin typeface="Arial"/>
              </a:rPr>
              <a:t>total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"/>
          <p:cNvSpPr/>
          <p:nvPr/>
        </p:nvSpPr>
        <p:spPr>
          <a:xfrm flipH="1">
            <a:off x="6492240" y="3566160"/>
            <a:ext cx="914400" cy="548640"/>
          </a:xfrm>
          <a:prstGeom prst="line">
            <a:avLst/>
          </a:prstGeom>
          <a:ln w="15120">
            <a:solidFill>
              <a:srgbClr val="4142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7560" tIns="52560" rIns="97560" bIns="5256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"/>
          <p:cNvSpPr/>
          <p:nvPr/>
        </p:nvSpPr>
        <p:spPr>
          <a:xfrm>
            <a:off x="7406640" y="3566160"/>
            <a:ext cx="274320" cy="548640"/>
          </a:xfrm>
          <a:prstGeom prst="line">
            <a:avLst/>
          </a:prstGeom>
          <a:ln w="15120">
            <a:solidFill>
              <a:srgbClr val="4142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7560" tIns="52560" rIns="97560" bIns="5256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"/>
          <p:cNvSpPr/>
          <p:nvPr/>
        </p:nvSpPr>
        <p:spPr>
          <a:xfrm>
            <a:off x="7406640" y="3566160"/>
            <a:ext cx="1234440" cy="548640"/>
          </a:xfrm>
          <a:prstGeom prst="line">
            <a:avLst/>
          </a:prstGeom>
          <a:ln w="15120">
            <a:solidFill>
              <a:srgbClr val="4142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7560" tIns="52560" rIns="97560" bIns="5256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"/>
          <p:cNvSpPr/>
          <p:nvPr/>
        </p:nvSpPr>
        <p:spPr>
          <a:xfrm>
            <a:off x="457200" y="5486400"/>
            <a:ext cx="8229600" cy="914400"/>
          </a:xfrm>
          <a:prstGeom prst="rect">
            <a:avLst/>
          </a:prstGeom>
          <a:solidFill>
            <a:srgbClr val="00BC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/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Regla práctica: la clave del lado 1 (id_cliente) viaja como clave foránea a la tabla del lado N (PEDIDO).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/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RELACIÓN UNO A MUCHOS (1:N)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457200" y="914400"/>
            <a:ext cx="8229600" cy="719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r>
              <a:rPr lang="en-US" sz="2000" b="1" u="none" strike="noStrike">
                <a:solidFill>
                  <a:srgbClr val="1F4E79"/>
                </a:solidFill>
                <a:effectLst/>
                <a:uFillTx/>
                <a:latin typeface="Arial"/>
              </a:rPr>
              <a:t>Un cliente realiza muchos pedidos; cada pedido pertenece a un solo cliente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"/>
          <p:cNvSpPr/>
          <p:nvPr/>
        </p:nvSpPr>
        <p:spPr>
          <a:xfrm>
            <a:off x="914400" y="2834640"/>
            <a:ext cx="1645920" cy="731520"/>
          </a:xfrm>
          <a:prstGeom prst="rect">
            <a:avLst/>
          </a:prstGeom>
          <a:solidFill>
            <a:srgbClr val="FFFFFF"/>
          </a:solidFill>
          <a:ln w="19080">
            <a:solidFill>
              <a:srgbClr val="1F4E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>
            <a:noAutofit/>
          </a:bodyPr>
          <a:p>
            <a:pPr algn="ctr"/>
            <a:r>
              <a:rPr lang="en-US" sz="1400" b="1" u="none" strike="noStrike">
                <a:solidFill>
                  <a:srgbClr val="1F4E79"/>
                </a:solidFill>
                <a:effectLst/>
                <a:uFillTx/>
                <a:latin typeface="Arial"/>
              </a:rPr>
              <a:t>CLIENTE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"/>
          <p:cNvSpPr/>
          <p:nvPr/>
        </p:nvSpPr>
        <p:spPr>
          <a:xfrm>
            <a:off x="3840480" y="2743200"/>
            <a:ext cx="1463040" cy="914400"/>
          </a:xfrm>
          <a:prstGeom prst="flowChartDecision">
            <a:avLst/>
          </a:prstGeom>
          <a:solidFill>
            <a:srgbClr val="FFFFFF"/>
          </a:solidFill>
          <a:ln w="19080">
            <a:solidFill>
              <a:srgbClr val="1F4E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>
            <a:noAutofit/>
          </a:bodyPr>
          <a:p>
            <a:pPr algn="ctr"/>
            <a:r>
              <a:rPr lang="en-US" sz="1400" b="1" u="none" strike="noStrike">
                <a:solidFill>
                  <a:srgbClr val="1F4E79"/>
                </a:solidFill>
                <a:effectLst/>
                <a:uFillTx/>
                <a:latin typeface="Arial"/>
              </a:rPr>
              <a:t>realiza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"/>
          <p:cNvSpPr/>
          <p:nvPr/>
        </p:nvSpPr>
        <p:spPr>
          <a:xfrm>
            <a:off x="6583680" y="2834640"/>
            <a:ext cx="1645920" cy="731520"/>
          </a:xfrm>
          <a:prstGeom prst="rect">
            <a:avLst/>
          </a:prstGeom>
          <a:solidFill>
            <a:srgbClr val="FFFFFF"/>
          </a:solidFill>
          <a:ln w="19080">
            <a:solidFill>
              <a:srgbClr val="1F4E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>
            <a:noAutofit/>
          </a:bodyPr>
          <a:p>
            <a:pPr algn="ctr"/>
            <a:r>
              <a:rPr lang="en-US" sz="1400" b="1" u="none" strike="noStrike">
                <a:solidFill>
                  <a:srgbClr val="1F4E79"/>
                </a:solidFill>
                <a:effectLst/>
                <a:uFillTx/>
                <a:latin typeface="Arial"/>
              </a:rPr>
              <a:t>PEDIDO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"/>
          <p:cNvSpPr/>
          <p:nvPr/>
        </p:nvSpPr>
        <p:spPr>
          <a:xfrm>
            <a:off x="2560320" y="3200400"/>
            <a:ext cx="1280160" cy="0"/>
          </a:xfrm>
          <a:prstGeom prst="line">
            <a:avLst/>
          </a:prstGeom>
          <a:ln w="19080">
            <a:solidFill>
              <a:srgbClr val="4142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-54360" rIns="99360" bIns="-5436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"/>
          <p:cNvSpPr/>
          <p:nvPr/>
        </p:nvSpPr>
        <p:spPr>
          <a:xfrm>
            <a:off x="5303520" y="3200400"/>
            <a:ext cx="1280160" cy="0"/>
          </a:xfrm>
          <a:prstGeom prst="line">
            <a:avLst/>
          </a:prstGeom>
          <a:ln w="19080">
            <a:solidFill>
              <a:srgbClr val="4142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-54360" rIns="99360" bIns="-5436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2834640" y="2834640"/>
            <a:ext cx="365760" cy="353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b" anchorCtr="1">
            <a:noAutofit/>
          </a:bodyPr>
          <a:p>
            <a:pPr algn="ctr"/>
            <a:r>
              <a:rPr lang="en-US" sz="1600" b="1" u="none" strike="noStrike">
                <a:solidFill>
                  <a:srgbClr val="0D274D"/>
                </a:solidFill>
                <a:effectLst/>
                <a:uFillTx/>
                <a:latin typeface="Arial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5669280" y="2834640"/>
            <a:ext cx="365760" cy="353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b" anchorCtr="1">
            <a:noAutofit/>
          </a:bodyPr>
          <a:p>
            <a:pPr algn="ctr"/>
            <a:r>
              <a:rPr lang="en-US" sz="1600" b="1" u="none" strike="noStrike">
                <a:solidFill>
                  <a:srgbClr val="0D274D"/>
                </a:solidFill>
                <a:effectLst/>
                <a:uFillTx/>
                <a:latin typeface="Arial"/>
              </a:rPr>
              <a:t>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"/>
          <p:cNvSpPr/>
          <p:nvPr/>
        </p:nvSpPr>
        <p:spPr>
          <a:xfrm>
            <a:off x="640080" y="1554480"/>
            <a:ext cx="137160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>
            <a:noAutofit/>
          </a:bodyPr>
          <a:p>
            <a:pPr algn="ctr"/>
            <a:r>
              <a:rPr lang="en-US" sz="1200" b="1" u="none" strike="noStrike">
                <a:solidFill>
                  <a:srgbClr val="0D274D"/>
                </a:solidFill>
                <a:effectLst/>
                <a:uFillTx/>
                <a:latin typeface="Arial"/>
              </a:rPr>
              <a:t>id_cliente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"/>
          <p:cNvSpPr/>
          <p:nvPr/>
        </p:nvSpPr>
        <p:spPr>
          <a:xfrm>
            <a:off x="2103120" y="1554480"/>
            <a:ext cx="109728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>
            <a:noAutofit/>
          </a:bodyPr>
          <a:p>
            <a:pPr algn="ctr"/>
            <a:r>
              <a:rPr lang="en-US" sz="1200" b="0" u="none" strike="noStrike">
                <a:solidFill>
                  <a:srgbClr val="414244"/>
                </a:solidFill>
                <a:effectLst/>
                <a:uFillTx/>
                <a:latin typeface="Arial"/>
              </a:rPr>
              <a:t>nombre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"/>
          <p:cNvSpPr/>
          <p:nvPr/>
        </p:nvSpPr>
        <p:spPr>
          <a:xfrm flipH="1" flipV="1">
            <a:off x="1325880" y="2103120"/>
            <a:ext cx="411480" cy="731520"/>
          </a:xfrm>
          <a:prstGeom prst="line">
            <a:avLst/>
          </a:prstGeom>
          <a:ln w="15120">
            <a:solidFill>
              <a:srgbClr val="4142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7560" tIns="52560" rIns="97560" bIns="5256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"/>
          <p:cNvSpPr/>
          <p:nvPr/>
        </p:nvSpPr>
        <p:spPr>
          <a:xfrm flipV="1">
            <a:off x="1737360" y="2103120"/>
            <a:ext cx="914400" cy="731520"/>
          </a:xfrm>
          <a:prstGeom prst="line">
            <a:avLst/>
          </a:prstGeom>
          <a:ln w="15120">
            <a:solidFill>
              <a:srgbClr val="4142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7560" tIns="52560" rIns="97560" bIns="5256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"/>
          <p:cNvSpPr/>
          <p:nvPr/>
        </p:nvSpPr>
        <p:spPr>
          <a:xfrm>
            <a:off x="5852160" y="4114800"/>
            <a:ext cx="128016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>
            <a:noAutofit/>
          </a:bodyPr>
          <a:p>
            <a:pPr algn="ctr"/>
            <a:r>
              <a:rPr lang="en-US" sz="1200" b="1" u="none" strike="noStrike">
                <a:solidFill>
                  <a:srgbClr val="0D274D"/>
                </a:solidFill>
                <a:effectLst/>
                <a:uFillTx/>
                <a:latin typeface="Arial"/>
              </a:rPr>
              <a:t>id_pedido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"/>
          <p:cNvSpPr/>
          <p:nvPr/>
        </p:nvSpPr>
        <p:spPr>
          <a:xfrm>
            <a:off x="7223760" y="4114800"/>
            <a:ext cx="91440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>
            <a:noAutofit/>
          </a:bodyPr>
          <a:p>
            <a:pPr algn="ctr"/>
            <a:r>
              <a:rPr lang="en-US" sz="1200" b="0" u="none" strike="noStrike">
                <a:solidFill>
                  <a:srgbClr val="414244"/>
                </a:solidFill>
                <a:effectLst/>
                <a:uFillTx/>
                <a:latin typeface="Arial"/>
              </a:rPr>
              <a:t>fecha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"/>
          <p:cNvSpPr/>
          <p:nvPr/>
        </p:nvSpPr>
        <p:spPr>
          <a:xfrm>
            <a:off x="8229600" y="4114800"/>
            <a:ext cx="822960" cy="5486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00BC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tIns="54360" rIns="99360" bIns="54360" anchor="ctr">
            <a:noAutofit/>
          </a:bodyPr>
          <a:p>
            <a:pPr algn="ctr"/>
            <a:r>
              <a:rPr lang="en-US" sz="1200" b="0" u="none" strike="noStrike">
                <a:solidFill>
                  <a:srgbClr val="414244"/>
                </a:solidFill>
                <a:effectLst/>
                <a:uFillTx/>
                <a:latin typeface="Arial"/>
              </a:rPr>
              <a:t>total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"/>
          <p:cNvSpPr/>
          <p:nvPr/>
        </p:nvSpPr>
        <p:spPr>
          <a:xfrm flipH="1">
            <a:off x="6492240" y="3566160"/>
            <a:ext cx="914400" cy="548640"/>
          </a:xfrm>
          <a:prstGeom prst="line">
            <a:avLst/>
          </a:prstGeom>
          <a:ln w="15120">
            <a:solidFill>
              <a:srgbClr val="4142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7560" tIns="52560" rIns="97560" bIns="5256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"/>
          <p:cNvSpPr/>
          <p:nvPr/>
        </p:nvSpPr>
        <p:spPr>
          <a:xfrm>
            <a:off x="7406640" y="3566160"/>
            <a:ext cx="274320" cy="548640"/>
          </a:xfrm>
          <a:prstGeom prst="line">
            <a:avLst/>
          </a:prstGeom>
          <a:ln w="15120">
            <a:solidFill>
              <a:srgbClr val="4142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7560" tIns="52560" rIns="97560" bIns="5256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"/>
          <p:cNvSpPr/>
          <p:nvPr/>
        </p:nvSpPr>
        <p:spPr>
          <a:xfrm>
            <a:off x="7406640" y="3566160"/>
            <a:ext cx="1234440" cy="548640"/>
          </a:xfrm>
          <a:prstGeom prst="line">
            <a:avLst/>
          </a:prstGeom>
          <a:ln w="15120">
            <a:solidFill>
              <a:srgbClr val="4142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7560" tIns="52560" rIns="97560" bIns="5256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"/>
          <p:cNvSpPr/>
          <p:nvPr/>
        </p:nvSpPr>
        <p:spPr>
          <a:xfrm>
            <a:off x="457200" y="5486400"/>
            <a:ext cx="8229600" cy="914400"/>
          </a:xfrm>
          <a:prstGeom prst="rect">
            <a:avLst/>
          </a:prstGeom>
          <a:solidFill>
            <a:srgbClr val="00BC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/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Regla práctica: la clave del lado 1 (id_cliente) viaja como clave foránea a la tabla del lado N (PEDIDO).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744</TotalTime>
  <Application>LibreOffice/26.2.2.2$MacOSX_AARCH64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2026-09-10T22:45:44Z</dcterms:created>
  <dc:creator/>
  <dc:description/>
  <dc:language>en-GB</dc:language>
  <cp:lastModifiedBy/>
  <dcterms:modified xsi:type="dcterms:W3CDTF">2026-09-24T10:58:10Z</dcterms:modified>
  <cp:revision>16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