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media/image4.svg" ContentType="image/svg"/>
  <Override PartName="/ppt/media/image2.svg" ContentType="image/svg"/>
  <Override PartName="/ppt/media/image6.svg" ContentType="image/svg"/>
  <Override PartName="/ppt/media/image8.svg" ContentType="image/svg"/>
  <Override PartName="/ppt/notesMasters/notesMaster1.xml" ContentType="application/vnd.openxmlformats-officedocument.presentationml.notesMaster+xml"/>
  <Override PartName="/ppt/comments/comment10.xml" ContentType="application/vnd.openxmlformats-officedocument.presentationml.comment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presentation.xml" ContentType="application/vnd.openxmlformats-officedocument.presentationml.presentation.main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6858000"/>
  <p:notesSz cx="7559675" cy="10691813"/>
</p:presentation>
</file>

<file path=ppt/commentAuthors.xml><?xml version="1.0" encoding="utf-8"?>
<p:cmAuthorLst xmlns:p="http://schemas.openxmlformats.org/presentationml/2006/main">
  <p:cmAuthor id="0" name="slidebuilder" initials="S" lastIdx="1" clrIdx="0"/>
</p:cmAuthorLst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<Relationship Id="rId15" Type="http://schemas.openxmlformats.org/officeDocument/2006/relationships/commentAuthors" Target="commentAuthors.xml"/>
</Relationships>
</file>

<file path=ppt/comments/comment10.xml><?xml version="1.0" encoding="utf-8"?>
<p:cmLst xmlns:p="http://schemas.openxmlformats.org/presentationml/2006/main">
  <p:cm authorId="0" dt="2026-09-23T17:29:24.000000000" idx="1">
    <p:pos x="5420" y="113"/>
    <p:text>Animations to build by hand:
1. Table appears on click, one row at a time.
2. "On Track" callout zooms in after the last row.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ECCEFDF-E54E-46CB-8221-03897E22F289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with the headline: we are on track for the release date.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Integration is finished and already running in staging.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 Redesign is about 60% done; the new dashboard ships next sprint.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 starts once the redesign is merged -- ask QA to confirm their dates.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D60A8F-0A4D-44F0-8ED2-A21D600AFBC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0A4A95D-68EE-44B4-B358-A7081A3664C5}" type="slidenum"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tabLst>
                <a:tab pos="0" algn="l"/>
              </a:tabLst>
              <a:def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10.xml"/><Relationship Id="rId3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457200" y="365760"/>
            <a:ext cx="8228880" cy="8222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"/>
          <p:cNvGraphicFramePr/>
          <p:nvPr/>
        </p:nvGraphicFramePr>
        <p:xfrm>
          <a:off x="457200" y="1463040"/>
          <a:ext cx="3657600" cy="1370880"/>
        </p:xfrm>
        <a:graphic>
          <a:graphicData uri="http://schemas.openxmlformats.org/drawingml/2006/table">
            <a:tbl>
              <a:tblPr/>
              <a:tblGrid>
                <a:gridCol w="1219320"/>
                <a:gridCol w="1219320"/>
                <a:gridCol w="1219320"/>
              </a:tblGrid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"/>
          <p:cNvGraphicFramePr/>
          <p:nvPr/>
        </p:nvGraphicFramePr>
        <p:xfrm>
          <a:off x="5029200" y="1463040"/>
          <a:ext cx="3657240" cy="109728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Science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Data Eng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/>
          <p:cNvSpPr/>
          <p:nvPr/>
        </p:nvSpPr>
        <p:spPr>
          <a:xfrm>
            <a:off x="4114800" y="2148840"/>
            <a:ext cx="91440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31520" y="329184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31520" y="384048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31520" y="43891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"/>
          <p:cNvSpPr/>
          <p:nvPr/>
        </p:nvSpPr>
        <p:spPr>
          <a:xfrm>
            <a:off x="1280160" y="3520440"/>
            <a:ext cx="1005840" cy="3657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1280160" y="406908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 flipV="1">
            <a:off x="1280160" y="4251960"/>
            <a:ext cx="1005840" cy="3657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2286000" y="3566160"/>
            <a:ext cx="1645200" cy="109656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3931920" y="41148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029200" y="374904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"/>
          <p:cNvSpPr/>
          <p:nvPr/>
        </p:nvSpPr>
        <p:spPr>
          <a:xfrm>
            <a:off x="5852160" y="393192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n-GB" sz="1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GB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457200" y="5760720"/>
            <a:ext cx="8228880" cy="639360"/>
          </a:xfrm>
          <a:prstGeom prst="rect">
            <a:avLst/>
          </a:prstGeom>
          <a:solidFill>
            <a:srgbClr val="0000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"/>
          <p:cNvSpPr/>
          <p:nvPr/>
        </p:nvSpPr>
        <p:spPr>
          <a:xfrm>
            <a:off x="457200" y="274320"/>
            <a:ext cx="8228880" cy="8222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"/>
          <p:cNvGraphicFramePr/>
          <p:nvPr/>
        </p:nvGraphicFramePr>
        <p:xfrm>
          <a:off x="457200" y="1371600"/>
          <a:ext cx="2925720" cy="164592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Alan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"/>
          <p:cNvSpPr/>
          <p:nvPr/>
        </p:nvSpPr>
        <p:spPr>
          <a:xfrm>
            <a:off x="457200" y="3063240"/>
            <a:ext cx="2925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" name=""/>
          <p:cNvGraphicFramePr/>
          <p:nvPr/>
        </p:nvGraphicFramePr>
        <p:xfrm>
          <a:off x="3931920" y="1371600"/>
          <a:ext cx="2011320" cy="1309320"/>
        </p:xfrm>
        <a:graphic>
          <a:graphicData uri="http://schemas.openxmlformats.org/drawingml/2006/table">
            <a:tbl>
              <a:tblPr/>
              <a:tblGrid>
                <a:gridCol w="804600"/>
                <a:gridCol w="1207080"/>
              </a:tblGrid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Math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"/>
          <p:cNvSpPr/>
          <p:nvPr/>
        </p:nvSpPr>
        <p:spPr>
          <a:xfrm>
            <a:off x="3931920" y="269748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 flipV="1">
            <a:off x="3383280" y="2011680"/>
            <a:ext cx="548640" cy="1828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65760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57200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48640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"/>
          <p:cNvSpPr/>
          <p:nvPr/>
        </p:nvSpPr>
        <p:spPr>
          <a:xfrm>
            <a:off x="1371600" y="4023360"/>
            <a:ext cx="1005840" cy="5486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1371600" y="493776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 flipV="1">
            <a:off x="1371600" y="5303520"/>
            <a:ext cx="1005840" cy="5486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2377440" y="4389120"/>
            <a:ext cx="1761840" cy="109656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140000" y="4937760"/>
            <a:ext cx="9806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389120"/>
            <a:ext cx="913680" cy="91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"/>
          <p:cNvSpPr/>
          <p:nvPr/>
        </p:nvSpPr>
        <p:spPr>
          <a:xfrm>
            <a:off x="4846320" y="534924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6400800" y="5760720"/>
            <a:ext cx="2285280" cy="639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457200" y="36576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6" name=""/>
          <p:cNvGraphicFramePr/>
          <p:nvPr/>
        </p:nvGraphicFramePr>
        <p:xfrm>
          <a:off x="457200" y="1280160"/>
          <a:ext cx="2925360" cy="1553400"/>
        </p:xfrm>
        <a:graphic>
          <a:graphicData uri="http://schemas.openxmlformats.org/drawingml/2006/table">
            <a:tbl>
              <a:tblPr/>
              <a:tblGrid>
                <a:gridCol w="975240"/>
                <a:gridCol w="975240"/>
                <a:gridCol w="975240"/>
              </a:tblGrid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 (INT)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 (TEXT)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 (TEXT)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"/>
          <p:cNvSpPr/>
          <p:nvPr/>
        </p:nvSpPr>
        <p:spPr>
          <a:xfrm>
            <a:off x="457200" y="2834640"/>
            <a:ext cx="29253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Students Table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8" name=""/>
          <p:cNvGraphicFramePr/>
          <p:nvPr/>
        </p:nvGraphicFramePr>
        <p:xfrm>
          <a:off x="4846320" y="1280160"/>
          <a:ext cx="2011320" cy="13086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</a:tblGrid>
              <a:tr h="3963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 (TEXT)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963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Basics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63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Advanced AI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"/>
          <p:cNvSpPr/>
          <p:nvPr/>
        </p:nvSpPr>
        <p:spPr>
          <a:xfrm>
            <a:off x="4846320" y="2560320"/>
            <a:ext cx="20109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Programs Table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3383280" y="1828800"/>
            <a:ext cx="14630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23760" y="11887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223760" y="17373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223760" y="228600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"/>
          <p:cNvSpPr/>
          <p:nvPr/>
        </p:nvSpPr>
        <p:spPr>
          <a:xfrm>
            <a:off x="7955280" y="1737360"/>
            <a:ext cx="822240" cy="365040"/>
          </a:xfrm>
          <a:prstGeom prst="rect">
            <a:avLst/>
          </a:prstGeom>
          <a:solidFill>
            <a:srgbClr val="70AD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GB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7680960" y="1920240"/>
            <a:ext cx="27432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4114800" y="3840480"/>
            <a:ext cx="1462320" cy="730800"/>
          </a:xfrm>
          <a:prstGeom prst="ellipse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AI Hub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217920" y="3931920"/>
            <a:ext cx="639360" cy="63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"/>
          <p:cNvSpPr/>
          <p:nvPr/>
        </p:nvSpPr>
        <p:spPr>
          <a:xfrm>
            <a:off x="6126480" y="4617720"/>
            <a:ext cx="8222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1F4E79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GB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5577840" y="4206240"/>
            <a:ext cx="6400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57200" y="5486400"/>
            <a:ext cx="8228880" cy="7308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GB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457200" y="274320"/>
            <a:ext cx="8228880" cy="7308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"/>
          <p:cNvGraphicFramePr/>
          <p:nvPr/>
        </p:nvGraphicFramePr>
        <p:xfrm>
          <a:off x="457200" y="1280160"/>
          <a:ext cx="2925720" cy="150768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0" rIns="9000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60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Linus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"/>
          <p:cNvSpPr/>
          <p:nvPr/>
        </p:nvSpPr>
        <p:spPr>
          <a:xfrm>
            <a:off x="457200" y="2971800"/>
            <a:ext cx="29253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Students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4" name=""/>
          <p:cNvGraphicFramePr/>
          <p:nvPr/>
        </p:nvGraphicFramePr>
        <p:xfrm>
          <a:off x="3840480" y="1280160"/>
          <a:ext cx="2011320" cy="1309320"/>
        </p:xfrm>
        <a:graphic>
          <a:graphicData uri="http://schemas.openxmlformats.org/drawingml/2006/table">
            <a:tbl>
              <a:tblPr/>
              <a:tblGrid>
                <a:gridCol w="670680"/>
                <a:gridCol w="1341000"/>
              </a:tblGrid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Math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"/>
          <p:cNvSpPr/>
          <p:nvPr/>
        </p:nvSpPr>
        <p:spPr>
          <a:xfrm>
            <a:off x="3840480" y="260604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Programs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 flipV="1">
            <a:off x="3383280" y="1920240"/>
            <a:ext cx="457200" cy="1828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47472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29768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120640"/>
            <a:ext cx="730800" cy="73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1371600" y="3840480"/>
            <a:ext cx="1005840" cy="6400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371600" y="466344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 flipV="1">
            <a:off x="1371600" y="4846320"/>
            <a:ext cx="1005840" cy="6400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2377440" y="4023360"/>
            <a:ext cx="1762200" cy="127944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140000" y="4663800"/>
            <a:ext cx="9806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023360"/>
            <a:ext cx="1096560" cy="1096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"/>
          <p:cNvSpPr/>
          <p:nvPr/>
        </p:nvSpPr>
        <p:spPr>
          <a:xfrm>
            <a:off x="4937760" y="5166360"/>
            <a:ext cx="1462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  <a:ea typeface="DejaVu Sans"/>
              </a:rPr>
              <a:t>Engineer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400800" y="5852160"/>
            <a:ext cx="2285280" cy="54792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457200" y="365760"/>
            <a:ext cx="8229240" cy="73116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9" name=""/>
          <p:cNvGraphicFramePr/>
          <p:nvPr/>
        </p:nvGraphicFramePr>
        <p:xfrm>
          <a:off x="457200" y="1280160"/>
          <a:ext cx="3474000" cy="1370880"/>
        </p:xfrm>
        <a:graphic>
          <a:graphicData uri="http://schemas.openxmlformats.org/drawingml/2006/table">
            <a:tbl>
              <a:tblPr/>
              <a:tblGrid>
                <a:gridCol w="1158120"/>
                <a:gridCol w="1158120"/>
                <a:gridCol w="1158120"/>
              </a:tblGrid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Alice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Bob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7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Charlie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0" name=""/>
          <p:cNvGraphicFramePr/>
          <p:nvPr/>
        </p:nvGraphicFramePr>
        <p:xfrm>
          <a:off x="5212080" y="1280160"/>
          <a:ext cx="3474360" cy="109728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</a:tblGrid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 Basics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Advanced AI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"/>
          <p:cNvSpPr/>
          <p:nvPr/>
        </p:nvSpPr>
        <p:spPr>
          <a:xfrm flipV="1">
            <a:off x="3931920" y="1828800"/>
            <a:ext cx="1280160" cy="1371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57200" y="310896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57200" y="365760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457200" y="4206240"/>
            <a:ext cx="456840" cy="45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1005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2103120" y="3429000"/>
            <a:ext cx="1096920" cy="9140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1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GB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291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4389120" y="3520440"/>
            <a:ext cx="1096920" cy="731160"/>
          </a:xfrm>
          <a:prstGeom prst="ellipse">
            <a:avLst/>
          </a:prstGeom>
          <a:solidFill>
            <a:srgbClr val="1F4E79"/>
          </a:solidFill>
          <a:ln w="12600">
            <a:solidFill>
              <a:srgbClr val="1F4E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Output</a:t>
            </a:r>
            <a:endParaRPr lang="en-GB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5577840" y="3886200"/>
            <a:ext cx="100584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675120" y="3566160"/>
            <a:ext cx="731160" cy="73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"/>
          <p:cNvSpPr/>
          <p:nvPr/>
        </p:nvSpPr>
        <p:spPr>
          <a:xfrm>
            <a:off x="7498080" y="3794760"/>
            <a:ext cx="10969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Engineer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57200" y="5669280"/>
            <a:ext cx="8229240" cy="731160"/>
          </a:xfrm>
          <a:prstGeom prst="rect">
            <a:avLst/>
          </a:prstGeom>
          <a:solidFill>
            <a:srgbClr val="0000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>
            <a:off x="457200" y="274320"/>
            <a:ext cx="8229240" cy="73116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"/>
          <p:cNvGraphicFramePr/>
          <p:nvPr/>
        </p:nvGraphicFramePr>
        <p:xfrm>
          <a:off x="457200" y="1280160"/>
          <a:ext cx="2925720" cy="2011680"/>
        </p:xfrm>
        <a:graphic>
          <a:graphicData uri="http://schemas.openxmlformats.org/drawingml/2006/table">
            <a:tbl>
              <a:tblPr/>
              <a:tblGrid>
                <a:gridCol w="585360"/>
                <a:gridCol w="1170360"/>
                <a:gridCol w="1170360"/>
              </a:tblGrid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Alan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5" name=""/>
          <p:cNvSpPr/>
          <p:nvPr/>
        </p:nvSpPr>
        <p:spPr>
          <a:xfrm>
            <a:off x="457200" y="333756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Students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6" name=""/>
          <p:cNvGraphicFramePr/>
          <p:nvPr/>
        </p:nvGraphicFramePr>
        <p:xfrm>
          <a:off x="3840480" y="1280160"/>
          <a:ext cx="2194200" cy="1463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</a:tblGrid>
              <a:tr h="4878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878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8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7" name=""/>
          <p:cNvSpPr/>
          <p:nvPr/>
        </p:nvSpPr>
        <p:spPr>
          <a:xfrm>
            <a:off x="3840480" y="278892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Programs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 flipV="1">
            <a:off x="3383280" y="2011680"/>
            <a:ext cx="457200" cy="2743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" y="3840480"/>
            <a:ext cx="639720" cy="63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0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40080" y="4572000"/>
            <a:ext cx="639720" cy="639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640080" y="5303520"/>
            <a:ext cx="639720" cy="63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"/>
          <p:cNvSpPr/>
          <p:nvPr/>
        </p:nvSpPr>
        <p:spPr>
          <a:xfrm>
            <a:off x="2377440" y="4526280"/>
            <a:ext cx="914040" cy="9140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t">
            <a:noAutofit/>
          </a:bodyPr>
          <a:p>
            <a:endParaRPr lang="en-GB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2103120" y="544068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Graduates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1280160" y="4160520"/>
            <a:ext cx="1097280" cy="594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1280160" y="4892040"/>
            <a:ext cx="1097280" cy="9144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37080" rIns="99360" bIns="3708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 flipV="1">
            <a:off x="1280160" y="5212080"/>
            <a:ext cx="1097280" cy="4114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3657600" y="4526280"/>
            <a:ext cx="1096920" cy="914040"/>
          </a:xfrm>
          <a:prstGeom prst="ellipse">
            <a:avLst/>
          </a:prstGeom>
          <a:solidFill>
            <a:srgbClr val="FFFFFF"/>
          </a:solidFill>
          <a:ln w="19080">
            <a:solidFill>
              <a:srgbClr val="1F4E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t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3291840" y="4983480"/>
            <a:ext cx="36576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4754880" y="49834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0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852160" y="452628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" name=""/>
          <p:cNvSpPr/>
          <p:nvPr/>
        </p:nvSpPr>
        <p:spPr>
          <a:xfrm>
            <a:off x="5577840" y="544068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Engineer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6400800" y="6126480"/>
            <a:ext cx="2285640" cy="45684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GB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457200" y="274320"/>
            <a:ext cx="8229240" cy="73116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Learning to use AI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4" name=""/>
          <p:cNvGraphicFramePr/>
          <p:nvPr/>
        </p:nvGraphicFramePr>
        <p:xfrm>
          <a:off x="457200" y="1280160"/>
          <a:ext cx="3291480" cy="164592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1097280"/>
              </a:tblGrid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Ada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Grace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Linus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"/>
          <p:cNvSpPr/>
          <p:nvPr/>
        </p:nvSpPr>
        <p:spPr>
          <a:xfrm>
            <a:off x="457200" y="2971800"/>
            <a:ext cx="32914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Students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"/>
          <p:cNvGraphicFramePr/>
          <p:nvPr/>
        </p:nvGraphicFramePr>
        <p:xfrm>
          <a:off x="4206240" y="1280160"/>
          <a:ext cx="2194200" cy="1309320"/>
        </p:xfrm>
        <a:graphic>
          <a:graphicData uri="http://schemas.openxmlformats.org/drawingml/2006/table">
            <a:tbl>
              <a:tblPr/>
              <a:tblGrid>
                <a:gridCol w="877680"/>
                <a:gridCol w="1316880"/>
              </a:tblGrid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program_id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P1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66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P2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7" name=""/>
          <p:cNvSpPr/>
          <p:nvPr/>
        </p:nvSpPr>
        <p:spPr>
          <a:xfrm>
            <a:off x="4206240" y="2606040"/>
            <a:ext cx="219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Programs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3749040" y="2103120"/>
            <a:ext cx="45720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548640" y="3474720"/>
            <a:ext cx="731160" cy="73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48640" y="4389120"/>
            <a:ext cx="731160" cy="73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548640" y="5303520"/>
            <a:ext cx="731160" cy="73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"/>
          <p:cNvSpPr/>
          <p:nvPr/>
        </p:nvSpPr>
        <p:spPr>
          <a:xfrm>
            <a:off x="1280160" y="3840480"/>
            <a:ext cx="1097280" cy="7315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1280160" y="47548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 flipV="1">
            <a:off x="1280160" y="4937760"/>
            <a:ext cx="1097280" cy="73152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2377440" y="4297680"/>
            <a:ext cx="1645560" cy="91404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Graduates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4023360" y="4754880"/>
            <a:ext cx="109728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5120640" y="429768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"/>
          <p:cNvSpPr/>
          <p:nvPr/>
        </p:nvSpPr>
        <p:spPr>
          <a:xfrm>
            <a:off x="4846320" y="5257800"/>
            <a:ext cx="1462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000" b="0" i="1" u="none" strike="noStrike">
                <a:solidFill>
                  <a:srgbClr val="666666"/>
                </a:solidFill>
                <a:effectLst/>
                <a:uFillTx/>
                <a:latin typeface="Arial"/>
              </a:rPr>
              <a:t>Engineer</a:t>
            </a:r>
            <a:endParaRPr lang="en-GB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217920" y="5852160"/>
            <a:ext cx="2468520" cy="5482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Everything is possible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>
            <a:off x="457200" y="457200"/>
            <a:ext cx="8229240" cy="91404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Team Status Update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"/>
          <p:cNvGraphicFramePr/>
          <p:nvPr/>
        </p:nvGraphicFramePr>
        <p:xfrm>
          <a:off x="457200" y="1828800"/>
          <a:ext cx="4571640" cy="4115520"/>
        </p:xfrm>
        <a:graphic>
          <a:graphicData uri="http://schemas.openxmlformats.org/drawingml/2006/table">
            <a:tbl>
              <a:tblPr/>
              <a:tblGrid>
                <a:gridCol w="3048120"/>
                <a:gridCol w="1523880"/>
              </a:tblGrid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Task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Status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API Integration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Done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UI Redesign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Progress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2888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Testing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 Started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2" name=""/>
          <p:cNvSpPr/>
          <p:nvPr/>
        </p:nvSpPr>
        <p:spPr>
          <a:xfrm>
            <a:off x="5669280" y="2286000"/>
            <a:ext cx="2742840" cy="2742840"/>
          </a:xfrm>
          <a:prstGeom prst="ellipse">
            <a:avLst/>
          </a:prstGeom>
          <a:solidFill>
            <a:srgbClr val="70AD47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On Track</a:t>
            </a:r>
            <a:endParaRPr lang="en-GB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/>
          <p:nvPr/>
        </p:nvSpPr>
        <p:spPr>
          <a:xfrm>
            <a:off x="457200" y="457200"/>
            <a:ext cx="8229240" cy="73116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Working with multiple files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31520" y="2011680"/>
            <a:ext cx="1096920" cy="127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"/>
          <p:cNvSpPr/>
          <p:nvPr/>
        </p:nvSpPr>
        <p:spPr>
          <a:xfrm>
            <a:off x="548640" y="338328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User_CV.csv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31520" y="4206240"/>
            <a:ext cx="1096920" cy="127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"/>
          <p:cNvSpPr/>
          <p:nvPr/>
        </p:nvSpPr>
        <p:spPr>
          <a:xfrm>
            <a:off x="548640" y="5577840"/>
            <a:ext cx="1462680" cy="53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Job_profile.csv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1828800" y="2651760"/>
            <a:ext cx="1280160" cy="91440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 flipV="1">
            <a:off x="1828800" y="3749040"/>
            <a:ext cx="1280160" cy="109728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54360" rIns="99360" bIns="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3108960" y="2834640"/>
            <a:ext cx="2925720" cy="1645560"/>
          </a:xfrm>
          <a:prstGeom prst="rect">
            <a:avLst/>
          </a:prstGeom>
          <a:solidFill>
            <a:srgbClr val="FF8200"/>
          </a:solidFill>
          <a:ln w="126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>
              <a:lnSpc>
                <a:spcPct val="100000"/>
              </a:lnSpc>
            </a:pPr>
            <a:r>
              <a:rPr lang="en-GB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AI matching improving your CV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" name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4114800" y="2011680"/>
            <a:ext cx="914040" cy="73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"/>
          <p:cNvSpPr/>
          <p:nvPr/>
        </p:nvSpPr>
        <p:spPr>
          <a:xfrm>
            <a:off x="6035040" y="3657600"/>
            <a:ext cx="1280160" cy="360"/>
          </a:xfrm>
          <a:prstGeom prst="line">
            <a:avLst/>
          </a:prstGeom>
          <a:ln w="1908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wrap="square" lIns="99360" tIns="-54360" rIns="99360" bIns="-54360" anchor="ctr" anchorCtr="1">
            <a:noAutofit/>
          </a:bodyPr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7315200" y="3017520"/>
            <a:ext cx="1096920" cy="127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"/>
          <p:cNvSpPr/>
          <p:nvPr/>
        </p:nvSpPr>
        <p:spPr>
          <a:xfrm>
            <a:off x="7132320" y="4389120"/>
            <a:ext cx="146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t" anchorCtr="1">
            <a:noAutofit/>
          </a:bodyPr>
          <a:p>
            <a:pPr algn="ctr">
              <a:lnSpc>
                <a:spcPct val="100000"/>
              </a:lnSpc>
            </a:pPr>
            <a:r>
              <a:rPr lang="en-GB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Updated_CV.txt</a:t>
            </a:r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solidFill>
            <a:srgbClr val="1F4E7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square" lIns="90000" tIns="45000" rIns="90000" bIns="45000" anchor="ctr">
            <a:noAutofit/>
          </a:bodyPr>
          <a:p>
            <a:pPr algn="ctr"/>
            <a:r>
              <a:rPr lang="en-GB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Team Status Update</a:t>
            </a:r>
            <a:endParaRPr lang="en-GB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6" name=""/>
          <p:cNvGraphicFramePr/>
          <p:nvPr/>
        </p:nvGraphicFramePr>
        <p:xfrm>
          <a:off x="457200" y="1737360"/>
          <a:ext cx="5029200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2011680"/>
              </a:tblGrid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Task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GB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Status</a:t>
                      </a:r>
                      <a:endParaRPr lang="en-GB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API Integration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Done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UI Redesign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 Progress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Testing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90000" tIns="45000" rIns="90000" bIns="45000" anchor="t">
                      <a:noAutofit/>
                    </a:bodyPr>
                    <a:p>
                      <a:pPr indent="0" algn="l">
                        <a:buNone/>
                      </a:pPr>
                      <a:r>
                        <a:rPr lang="en-GB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 Started</a:t>
                      </a:r>
                      <a:endParaRPr lang="en-GB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7" name=""/>
          <p:cNvSpPr/>
          <p:nvPr/>
        </p:nvSpPr>
        <p:spPr>
          <a:xfrm>
            <a:off x="6309360" y="1828800"/>
            <a:ext cx="2011680" cy="2011680"/>
          </a:xfrm>
          <a:prstGeom prst="ellipse">
            <a:avLst/>
          </a:prstGeom>
          <a:solidFill>
            <a:srgbClr val="2E7D32"/>
          </a:solidFill>
          <a:ln w="126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square" lIns="96120" tIns="51120" rIns="96120" bIns="51120" anchor="ctr">
            <a:noAutofit/>
          </a:bodyPr>
          <a:p>
            <a:pPr algn="ctr"/>
            <a:r>
              <a:rPr lang="en-GB" sz="1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On Track</a:t>
            </a:r>
            <a:endParaRPr lang="en-GB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717</TotalTime>
  <Application>LibreOffice/26.2.6.3$Linux_X86_64 LibreOffice_project/620$Build-3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2026-09-10T22:45:44Z</dcterms:created>
  <dc:creator/>
  <dc:description/>
  <dc:language>en-GB</dc:language>
  <cp:lastModifiedBy/>
  <dcterms:modified xsi:type="dcterms:W3CDTF">2026-09-23T17:29:24Z</dcterms:modified>
  <cp:revision>10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